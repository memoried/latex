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3"/>
  </p:notesMasterIdLst>
  <p:sldIdLst>
    <p:sldId id="256" r:id="rId2"/>
  </p:sldIdLst>
  <p:sldSz cx="11807825" cy="57959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8296"/>
    <a:srgbClr val="93BAD8"/>
    <a:srgbClr val="CAE0B0"/>
    <a:srgbClr val="FFFFFF"/>
    <a:srgbClr val="C1A9C6"/>
    <a:srgbClr val="6C8DBD"/>
    <a:srgbClr val="F8D09E"/>
    <a:srgbClr val="BBD4EC"/>
    <a:srgbClr val="C7AECF"/>
    <a:srgbClr val="5151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4" autoAdjust="0"/>
    <p:restoredTop sz="93862" autoAdjust="0"/>
  </p:normalViewPr>
  <p:slideViewPr>
    <p:cSldViewPr snapToGrid="0">
      <p:cViewPr varScale="1">
        <p:scale>
          <a:sx n="135" d="100"/>
          <a:sy n="135" d="100"/>
        </p:scale>
        <p:origin x="77" y="1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B18FC-D10D-4773-AA85-C7CEEE2E732B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" y="1143000"/>
            <a:ext cx="6286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D20B7F-42B0-4493-9FCA-9DFC8A7D40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5820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1pPr>
    <a:lvl2pPr marL="425513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2pPr>
    <a:lvl3pPr marL="851027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3pPr>
    <a:lvl4pPr marL="1276540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4pPr>
    <a:lvl5pPr marL="1702054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5pPr>
    <a:lvl6pPr marL="2127567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6pPr>
    <a:lvl7pPr marL="2553081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7pPr>
    <a:lvl8pPr marL="2978594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8pPr>
    <a:lvl9pPr marL="3404108" algn="l" defTabSz="851027" rtl="0" eaLnBrk="1" latinLnBrk="0" hangingPunct="1">
      <a:defRPr sz="111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85750" y="1143000"/>
            <a:ext cx="62865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D20B7F-42B0-4493-9FCA-9DFC8A7D408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0599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75978" y="948553"/>
            <a:ext cx="8855869" cy="2017854"/>
          </a:xfrm>
        </p:spPr>
        <p:txBody>
          <a:bodyPr anchor="b"/>
          <a:lstStyle>
            <a:lvl1pPr algn="ctr">
              <a:defRPr sz="507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5978" y="3044223"/>
            <a:ext cx="8855869" cy="1399349"/>
          </a:xfrm>
        </p:spPr>
        <p:txBody>
          <a:bodyPr/>
          <a:lstStyle>
            <a:lvl1pPr marL="0" indent="0" algn="ctr">
              <a:buNone/>
              <a:defRPr sz="2028"/>
            </a:lvl1pPr>
            <a:lvl2pPr marL="386380" indent="0" algn="ctr">
              <a:buNone/>
              <a:defRPr sz="1690"/>
            </a:lvl2pPr>
            <a:lvl3pPr marL="772759" indent="0" algn="ctr">
              <a:buNone/>
              <a:defRPr sz="1521"/>
            </a:lvl3pPr>
            <a:lvl4pPr marL="1159139" indent="0" algn="ctr">
              <a:buNone/>
              <a:defRPr sz="1352"/>
            </a:lvl4pPr>
            <a:lvl5pPr marL="1545519" indent="0" algn="ctr">
              <a:buNone/>
              <a:defRPr sz="1352"/>
            </a:lvl5pPr>
            <a:lvl6pPr marL="1931899" indent="0" algn="ctr">
              <a:buNone/>
              <a:defRPr sz="1352"/>
            </a:lvl6pPr>
            <a:lvl7pPr marL="2318278" indent="0" algn="ctr">
              <a:buNone/>
              <a:defRPr sz="1352"/>
            </a:lvl7pPr>
            <a:lvl8pPr marL="2704658" indent="0" algn="ctr">
              <a:buNone/>
              <a:defRPr sz="1352"/>
            </a:lvl8pPr>
            <a:lvl9pPr marL="3091038" indent="0" algn="ctr">
              <a:buNone/>
              <a:defRPr sz="135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43288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3815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5638" y="1444967"/>
            <a:ext cx="10184249" cy="2410959"/>
          </a:xfrm>
        </p:spPr>
        <p:txBody>
          <a:bodyPr anchor="b"/>
          <a:lstStyle>
            <a:lvl1pPr>
              <a:defRPr sz="5071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5638" y="3878735"/>
            <a:ext cx="10184249" cy="1267866"/>
          </a:xfrm>
        </p:spPr>
        <p:txBody>
          <a:bodyPr/>
          <a:lstStyle>
            <a:lvl1pPr marL="0" indent="0">
              <a:buNone/>
              <a:defRPr sz="2028">
                <a:solidFill>
                  <a:schemeClr val="tx1">
                    <a:tint val="75000"/>
                  </a:schemeClr>
                </a:solidFill>
              </a:defRPr>
            </a:lvl1pPr>
            <a:lvl2pPr marL="386380" indent="0">
              <a:buNone/>
              <a:defRPr sz="1690">
                <a:solidFill>
                  <a:schemeClr val="tx1">
                    <a:tint val="75000"/>
                  </a:schemeClr>
                </a:solidFill>
              </a:defRPr>
            </a:lvl2pPr>
            <a:lvl3pPr marL="772759" indent="0">
              <a:buNone/>
              <a:defRPr sz="1521">
                <a:solidFill>
                  <a:schemeClr val="tx1">
                    <a:tint val="75000"/>
                  </a:schemeClr>
                </a:solidFill>
              </a:defRPr>
            </a:lvl3pPr>
            <a:lvl4pPr marL="1159139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4pPr>
            <a:lvl5pPr marL="1545519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5pPr>
            <a:lvl6pPr marL="1931899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6pPr>
            <a:lvl7pPr marL="2318278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7pPr>
            <a:lvl8pPr marL="2704658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8pPr>
            <a:lvl9pPr marL="3091038" indent="0">
              <a:buNone/>
              <a:defRPr sz="135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9327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1788" y="1542907"/>
            <a:ext cx="5018326" cy="36774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77711" y="1542907"/>
            <a:ext cx="5018326" cy="36774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8356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3326" y="308582"/>
            <a:ext cx="10184249" cy="112028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3326" y="1420816"/>
            <a:ext cx="4995263" cy="696320"/>
          </a:xfrm>
        </p:spPr>
        <p:txBody>
          <a:bodyPr anchor="b"/>
          <a:lstStyle>
            <a:lvl1pPr marL="0" indent="0">
              <a:buNone/>
              <a:defRPr sz="2028" b="1"/>
            </a:lvl1pPr>
            <a:lvl2pPr marL="386380" indent="0">
              <a:buNone/>
              <a:defRPr sz="1690" b="1"/>
            </a:lvl2pPr>
            <a:lvl3pPr marL="772759" indent="0">
              <a:buNone/>
              <a:defRPr sz="1521" b="1"/>
            </a:lvl3pPr>
            <a:lvl4pPr marL="1159139" indent="0">
              <a:buNone/>
              <a:defRPr sz="1352" b="1"/>
            </a:lvl4pPr>
            <a:lvl5pPr marL="1545519" indent="0">
              <a:buNone/>
              <a:defRPr sz="1352" b="1"/>
            </a:lvl5pPr>
            <a:lvl6pPr marL="1931899" indent="0">
              <a:buNone/>
              <a:defRPr sz="1352" b="1"/>
            </a:lvl6pPr>
            <a:lvl7pPr marL="2318278" indent="0">
              <a:buNone/>
              <a:defRPr sz="1352" b="1"/>
            </a:lvl7pPr>
            <a:lvl8pPr marL="2704658" indent="0">
              <a:buNone/>
              <a:defRPr sz="1352" b="1"/>
            </a:lvl8pPr>
            <a:lvl9pPr marL="3091038" indent="0">
              <a:buNone/>
              <a:defRPr sz="135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3326" y="2117136"/>
            <a:ext cx="4995263" cy="311398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77711" y="1420816"/>
            <a:ext cx="5019864" cy="696320"/>
          </a:xfrm>
        </p:spPr>
        <p:txBody>
          <a:bodyPr anchor="b"/>
          <a:lstStyle>
            <a:lvl1pPr marL="0" indent="0">
              <a:buNone/>
              <a:defRPr sz="2028" b="1"/>
            </a:lvl1pPr>
            <a:lvl2pPr marL="386380" indent="0">
              <a:buNone/>
              <a:defRPr sz="1690" b="1"/>
            </a:lvl2pPr>
            <a:lvl3pPr marL="772759" indent="0">
              <a:buNone/>
              <a:defRPr sz="1521" b="1"/>
            </a:lvl3pPr>
            <a:lvl4pPr marL="1159139" indent="0">
              <a:buNone/>
              <a:defRPr sz="1352" b="1"/>
            </a:lvl4pPr>
            <a:lvl5pPr marL="1545519" indent="0">
              <a:buNone/>
              <a:defRPr sz="1352" b="1"/>
            </a:lvl5pPr>
            <a:lvl6pPr marL="1931899" indent="0">
              <a:buNone/>
              <a:defRPr sz="1352" b="1"/>
            </a:lvl6pPr>
            <a:lvl7pPr marL="2318278" indent="0">
              <a:buNone/>
              <a:defRPr sz="1352" b="1"/>
            </a:lvl7pPr>
            <a:lvl8pPr marL="2704658" indent="0">
              <a:buNone/>
              <a:defRPr sz="1352" b="1"/>
            </a:lvl8pPr>
            <a:lvl9pPr marL="3091038" indent="0">
              <a:buNone/>
              <a:defRPr sz="135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77711" y="2117136"/>
            <a:ext cx="5019864" cy="311398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1714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97558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3497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3326" y="386398"/>
            <a:ext cx="3808331" cy="1352391"/>
          </a:xfrm>
        </p:spPr>
        <p:txBody>
          <a:bodyPr anchor="b"/>
          <a:lstStyle>
            <a:lvl1pPr>
              <a:defRPr sz="27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19864" y="834512"/>
            <a:ext cx="5977711" cy="4118890"/>
          </a:xfrm>
        </p:spPr>
        <p:txBody>
          <a:bodyPr/>
          <a:lstStyle>
            <a:lvl1pPr>
              <a:defRPr sz="2704"/>
            </a:lvl1pPr>
            <a:lvl2pPr>
              <a:defRPr sz="2366"/>
            </a:lvl2pPr>
            <a:lvl3pPr>
              <a:defRPr sz="2028"/>
            </a:lvl3pPr>
            <a:lvl4pPr>
              <a:defRPr sz="1690"/>
            </a:lvl4pPr>
            <a:lvl5pPr>
              <a:defRPr sz="1690"/>
            </a:lvl5pPr>
            <a:lvl6pPr>
              <a:defRPr sz="1690"/>
            </a:lvl6pPr>
            <a:lvl7pPr>
              <a:defRPr sz="1690"/>
            </a:lvl7pPr>
            <a:lvl8pPr>
              <a:defRPr sz="1690"/>
            </a:lvl8pPr>
            <a:lvl9pPr>
              <a:defRPr sz="169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3326" y="1738789"/>
            <a:ext cx="3808331" cy="3221322"/>
          </a:xfrm>
        </p:spPr>
        <p:txBody>
          <a:bodyPr/>
          <a:lstStyle>
            <a:lvl1pPr marL="0" indent="0">
              <a:buNone/>
              <a:defRPr sz="1352"/>
            </a:lvl1pPr>
            <a:lvl2pPr marL="386380" indent="0">
              <a:buNone/>
              <a:defRPr sz="1183"/>
            </a:lvl2pPr>
            <a:lvl3pPr marL="772759" indent="0">
              <a:buNone/>
              <a:defRPr sz="1014"/>
            </a:lvl3pPr>
            <a:lvl4pPr marL="1159139" indent="0">
              <a:buNone/>
              <a:defRPr sz="845"/>
            </a:lvl4pPr>
            <a:lvl5pPr marL="1545519" indent="0">
              <a:buNone/>
              <a:defRPr sz="845"/>
            </a:lvl5pPr>
            <a:lvl6pPr marL="1931899" indent="0">
              <a:buNone/>
              <a:defRPr sz="845"/>
            </a:lvl6pPr>
            <a:lvl7pPr marL="2318278" indent="0">
              <a:buNone/>
              <a:defRPr sz="845"/>
            </a:lvl7pPr>
            <a:lvl8pPr marL="2704658" indent="0">
              <a:buNone/>
              <a:defRPr sz="845"/>
            </a:lvl8pPr>
            <a:lvl9pPr marL="3091038" indent="0">
              <a:buNone/>
              <a:defRPr sz="84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3689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3326" y="386398"/>
            <a:ext cx="3808331" cy="1352391"/>
          </a:xfrm>
        </p:spPr>
        <p:txBody>
          <a:bodyPr anchor="b"/>
          <a:lstStyle>
            <a:lvl1pPr>
              <a:defRPr sz="270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19864" y="834512"/>
            <a:ext cx="5977711" cy="4118890"/>
          </a:xfrm>
        </p:spPr>
        <p:txBody>
          <a:bodyPr anchor="t"/>
          <a:lstStyle>
            <a:lvl1pPr marL="0" indent="0">
              <a:buNone/>
              <a:defRPr sz="2704"/>
            </a:lvl1pPr>
            <a:lvl2pPr marL="386380" indent="0">
              <a:buNone/>
              <a:defRPr sz="2366"/>
            </a:lvl2pPr>
            <a:lvl3pPr marL="772759" indent="0">
              <a:buNone/>
              <a:defRPr sz="2028"/>
            </a:lvl3pPr>
            <a:lvl4pPr marL="1159139" indent="0">
              <a:buNone/>
              <a:defRPr sz="1690"/>
            </a:lvl4pPr>
            <a:lvl5pPr marL="1545519" indent="0">
              <a:buNone/>
              <a:defRPr sz="1690"/>
            </a:lvl5pPr>
            <a:lvl6pPr marL="1931899" indent="0">
              <a:buNone/>
              <a:defRPr sz="1690"/>
            </a:lvl6pPr>
            <a:lvl7pPr marL="2318278" indent="0">
              <a:buNone/>
              <a:defRPr sz="1690"/>
            </a:lvl7pPr>
            <a:lvl8pPr marL="2704658" indent="0">
              <a:buNone/>
              <a:defRPr sz="1690"/>
            </a:lvl8pPr>
            <a:lvl9pPr marL="3091038" indent="0">
              <a:buNone/>
              <a:defRPr sz="169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3326" y="1738789"/>
            <a:ext cx="3808331" cy="3221322"/>
          </a:xfrm>
        </p:spPr>
        <p:txBody>
          <a:bodyPr/>
          <a:lstStyle>
            <a:lvl1pPr marL="0" indent="0">
              <a:buNone/>
              <a:defRPr sz="1352"/>
            </a:lvl1pPr>
            <a:lvl2pPr marL="386380" indent="0">
              <a:buNone/>
              <a:defRPr sz="1183"/>
            </a:lvl2pPr>
            <a:lvl3pPr marL="772759" indent="0">
              <a:buNone/>
              <a:defRPr sz="1014"/>
            </a:lvl3pPr>
            <a:lvl4pPr marL="1159139" indent="0">
              <a:buNone/>
              <a:defRPr sz="845"/>
            </a:lvl4pPr>
            <a:lvl5pPr marL="1545519" indent="0">
              <a:buNone/>
              <a:defRPr sz="845"/>
            </a:lvl5pPr>
            <a:lvl6pPr marL="1931899" indent="0">
              <a:buNone/>
              <a:defRPr sz="845"/>
            </a:lvl6pPr>
            <a:lvl7pPr marL="2318278" indent="0">
              <a:buNone/>
              <a:defRPr sz="845"/>
            </a:lvl7pPr>
            <a:lvl8pPr marL="2704658" indent="0">
              <a:buNone/>
              <a:defRPr sz="845"/>
            </a:lvl8pPr>
            <a:lvl9pPr marL="3091038" indent="0">
              <a:buNone/>
              <a:defRPr sz="84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962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24071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49975" y="308581"/>
            <a:ext cx="2546062" cy="491181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1788" y="308581"/>
            <a:ext cx="7490589" cy="491181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2902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1788" y="308582"/>
            <a:ext cx="10184249" cy="1120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1788" y="1542907"/>
            <a:ext cx="10184249" cy="3677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11788" y="5372000"/>
            <a:ext cx="2656761" cy="3085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63147F-8724-418E-AD29-6EDD2EA32218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11342" y="5372000"/>
            <a:ext cx="3985141" cy="3085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339276" y="5372000"/>
            <a:ext cx="2656761" cy="3085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2C895C-4C8B-438A-982A-32735D41F24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465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772759" rtl="0" eaLnBrk="1" latinLnBrk="0" hangingPunct="1">
        <a:lnSpc>
          <a:spcPct val="90000"/>
        </a:lnSpc>
        <a:spcBef>
          <a:spcPct val="0"/>
        </a:spcBef>
        <a:buNone/>
        <a:defRPr sz="37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3190" indent="-193190" algn="l" defTabSz="772759" rtl="0" eaLnBrk="1" latinLnBrk="0" hangingPunct="1">
        <a:lnSpc>
          <a:spcPct val="90000"/>
        </a:lnSpc>
        <a:spcBef>
          <a:spcPts val="845"/>
        </a:spcBef>
        <a:buFont typeface="Arial" panose="020B0604020202020204" pitchFamily="34" charset="0"/>
        <a:buChar char="•"/>
        <a:defRPr sz="2366" kern="1200">
          <a:solidFill>
            <a:schemeClr val="tx1"/>
          </a:solidFill>
          <a:latin typeface="+mn-lt"/>
          <a:ea typeface="+mn-ea"/>
          <a:cs typeface="+mn-cs"/>
        </a:defRPr>
      </a:lvl1pPr>
      <a:lvl2pPr marL="579570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2028" kern="1200">
          <a:solidFill>
            <a:schemeClr val="tx1"/>
          </a:solidFill>
          <a:latin typeface="+mn-lt"/>
          <a:ea typeface="+mn-ea"/>
          <a:cs typeface="+mn-cs"/>
        </a:defRPr>
      </a:lvl2pPr>
      <a:lvl3pPr marL="965949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690" kern="1200">
          <a:solidFill>
            <a:schemeClr val="tx1"/>
          </a:solidFill>
          <a:latin typeface="+mn-lt"/>
          <a:ea typeface="+mn-ea"/>
          <a:cs typeface="+mn-cs"/>
        </a:defRPr>
      </a:lvl3pPr>
      <a:lvl4pPr marL="1352329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4pPr>
      <a:lvl5pPr marL="1738709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5pPr>
      <a:lvl6pPr marL="2125088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6pPr>
      <a:lvl7pPr marL="2511468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7pPr>
      <a:lvl8pPr marL="2897848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8pPr>
      <a:lvl9pPr marL="3284228" indent="-193190" algn="l" defTabSz="772759" rtl="0" eaLnBrk="1" latinLnBrk="0" hangingPunct="1">
        <a:lnSpc>
          <a:spcPct val="90000"/>
        </a:lnSpc>
        <a:spcBef>
          <a:spcPts val="423"/>
        </a:spcBef>
        <a:buFont typeface="Arial" panose="020B0604020202020204" pitchFamily="34" charset="0"/>
        <a:buChar char="•"/>
        <a:defRPr sz="152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1pPr>
      <a:lvl2pPr marL="386380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2pPr>
      <a:lvl3pPr marL="772759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3pPr>
      <a:lvl4pPr marL="1159139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4pPr>
      <a:lvl5pPr marL="1545519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5pPr>
      <a:lvl6pPr marL="1931899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6pPr>
      <a:lvl7pPr marL="2318278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7pPr>
      <a:lvl8pPr marL="2704658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8pPr>
      <a:lvl9pPr marL="3091038" algn="l" defTabSz="772759" rtl="0" eaLnBrk="1" latinLnBrk="0" hangingPunct="1">
        <a:defRPr sz="15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4.png"/><Relationship Id="rId3" Type="http://schemas.openxmlformats.org/officeDocument/2006/relationships/image" Target="../media/image1.png"/><Relationship Id="rId21" Type="http://schemas.openxmlformats.org/officeDocument/2006/relationships/image" Target="../media/image17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10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svg"/><Relationship Id="rId15" Type="http://schemas.openxmlformats.org/officeDocument/2006/relationships/image" Target="../media/image100.png"/><Relationship Id="rId10" Type="http://schemas.openxmlformats.org/officeDocument/2006/relationships/image" Target="../media/image8.png"/><Relationship Id="rId19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5AFC083B-7C5D-413B-8627-AA01C1390DD7}"/>
                  </a:ext>
                </a:extLst>
              </p:cNvPr>
              <p:cNvSpPr txBox="1"/>
              <p:nvPr/>
            </p:nvSpPr>
            <p:spPr>
              <a:xfrm>
                <a:off x="839943" y="2398767"/>
                <a:ext cx="1544525" cy="765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𝑊</m:t>
                        </m:r>
                      </m:e>
                      <m:sub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𝑝</m:t>
                        </m:r>
                      </m:sub>
                    </m:sSub>
                    <m:r>
                      <a:rPr lang="zh-CN" altLang="en-US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权重</m:t>
                    </m:r>
                  </m:oMath>
                </a14:m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矩阵</a:t>
                </a:r>
                <a:endPara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𝑏</m:t>
                        </m:r>
                      </m:e>
                      <m:sub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偏置项</a:t>
                </a:r>
                <a:endPara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𝐸</m:t>
                        </m:r>
                      </m:e>
                      <m:sub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𝑝𝑜𝑠</m:t>
                        </m:r>
                      </m:sub>
                    </m:sSub>
                    <m:r>
                      <a:rPr lang="zh-CN" altLang="en-US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位置</m:t>
                    </m:r>
                  </m:oMath>
                </a14:m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编码矩阵</a:t>
                </a:r>
              </a:p>
            </p:txBody>
          </p:sp>
        </mc:Choice>
        <mc:Fallback xmlns="">
          <p:sp>
            <p:nvSpPr>
              <p:cNvPr id="124" name="文本框 123">
                <a:extLst>
                  <a:ext uri="{FF2B5EF4-FFF2-40B4-BE49-F238E27FC236}">
                    <a16:creationId xmlns:a16="http://schemas.microsoft.com/office/drawing/2014/main" id="{5AFC083B-7C5D-413B-8627-AA01C1390D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43" y="2398767"/>
                <a:ext cx="1544525" cy="765787"/>
              </a:xfrm>
              <a:prstGeom prst="rect">
                <a:avLst/>
              </a:prstGeom>
              <a:blipFill>
                <a:blip r:embed="rId3"/>
                <a:stretch>
                  <a:fillRect t="-2381"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B4583B-0BAA-413A-8432-70B0416396D7}"/>
              </a:ext>
            </a:extLst>
          </p:cNvPr>
          <p:cNvSpPr/>
          <p:nvPr/>
        </p:nvSpPr>
        <p:spPr>
          <a:xfrm>
            <a:off x="3298828" y="629554"/>
            <a:ext cx="2711065" cy="4691953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pic>
        <p:nvPicPr>
          <p:cNvPr id="13" name="图形 12">
            <a:extLst>
              <a:ext uri="{FF2B5EF4-FFF2-40B4-BE49-F238E27FC236}">
                <a16:creationId xmlns:a16="http://schemas.microsoft.com/office/drawing/2014/main" id="{AA1C301D-9FBF-46BC-BEAC-8C0B44A0D4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63033" y="3606075"/>
            <a:ext cx="2447686" cy="1361115"/>
          </a:xfrm>
          <a:prstGeom prst="rect">
            <a:avLst/>
          </a:prstGeom>
        </p:spPr>
      </p:pic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0678065A-D1B3-47ED-BF36-B3B1220C54C4}"/>
              </a:ext>
            </a:extLst>
          </p:cNvPr>
          <p:cNvSpPr/>
          <p:nvPr/>
        </p:nvSpPr>
        <p:spPr>
          <a:xfrm>
            <a:off x="3652038" y="943568"/>
            <a:ext cx="1896183" cy="2202642"/>
          </a:xfrm>
          <a:prstGeom prst="roundRect">
            <a:avLst/>
          </a:prstGeom>
          <a:solidFill>
            <a:srgbClr val="EEEEEE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593AA81A-7F90-4652-AFF6-053D19DD4F64}"/>
              </a:ext>
            </a:extLst>
          </p:cNvPr>
          <p:cNvSpPr/>
          <p:nvPr/>
        </p:nvSpPr>
        <p:spPr>
          <a:xfrm>
            <a:off x="3695414" y="994268"/>
            <a:ext cx="1896183" cy="2202642"/>
          </a:xfrm>
          <a:prstGeom prst="roundRect">
            <a:avLst/>
          </a:prstGeom>
          <a:solidFill>
            <a:srgbClr val="EEEEEE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2323128-3B0F-4649-A7E3-BD3CE4ECB6A4}"/>
              </a:ext>
            </a:extLst>
          </p:cNvPr>
          <p:cNvSpPr/>
          <p:nvPr/>
        </p:nvSpPr>
        <p:spPr>
          <a:xfrm>
            <a:off x="3738790" y="1044968"/>
            <a:ext cx="1896183" cy="2202642"/>
          </a:xfrm>
          <a:prstGeom prst="roundRect">
            <a:avLst/>
          </a:prstGeom>
          <a:solidFill>
            <a:srgbClr val="EEEEEE"/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53607AF3-9241-4AB9-8445-8CB6C6252958}"/>
              </a:ext>
            </a:extLst>
          </p:cNvPr>
          <p:cNvCxnSpPr>
            <a:cxnSpLocks/>
            <a:stCxn id="13" idx="0"/>
            <a:endCxn id="19" idx="2"/>
          </p:cNvCxnSpPr>
          <p:nvPr/>
        </p:nvCxnSpPr>
        <p:spPr>
          <a:xfrm flipV="1">
            <a:off x="4686877" y="3247614"/>
            <a:ext cx="0" cy="3584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36A9703-BB5D-4423-B94D-207E413CCCA3}"/>
              </a:ext>
            </a:extLst>
          </p:cNvPr>
          <p:cNvSpPr/>
          <p:nvPr/>
        </p:nvSpPr>
        <p:spPr>
          <a:xfrm>
            <a:off x="4064254" y="2187242"/>
            <a:ext cx="1245253" cy="574381"/>
          </a:xfrm>
          <a:prstGeom prst="roundRect">
            <a:avLst/>
          </a:prstGeom>
          <a:solidFill>
            <a:srgbClr val="B1DDF0"/>
          </a:solidFill>
          <a:ln>
            <a:solidFill>
              <a:srgbClr val="72AFC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小波</a:t>
            </a:r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-</a:t>
            </a:r>
            <a:r>
              <a: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分块</a:t>
            </a: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23B9659-497F-444A-B791-BB964557295A}"/>
              </a:ext>
            </a:extLst>
          </p:cNvPr>
          <p:cNvCxnSpPr>
            <a:cxnSpLocks/>
          </p:cNvCxnSpPr>
          <p:nvPr/>
        </p:nvCxnSpPr>
        <p:spPr>
          <a:xfrm flipV="1">
            <a:off x="4686877" y="374941"/>
            <a:ext cx="0" cy="5520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D5965F97-78EE-4781-B6BC-DD383C8FB394}"/>
              </a:ext>
            </a:extLst>
          </p:cNvPr>
          <p:cNvSpPr/>
          <p:nvPr/>
        </p:nvSpPr>
        <p:spPr>
          <a:xfrm>
            <a:off x="4039647" y="1386450"/>
            <a:ext cx="1245253" cy="574381"/>
          </a:xfrm>
          <a:prstGeom prst="roundRect">
            <a:avLst/>
          </a:prstGeom>
          <a:solidFill>
            <a:srgbClr val="FAD7AC"/>
          </a:solidFill>
          <a:ln>
            <a:solidFill>
              <a:srgbClr val="E1C4A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Anomaly</a:t>
            </a:r>
            <a:b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Attention</a:t>
            </a:r>
            <a:endParaRPr lang="zh-CN" altLang="en-US" sz="1346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23A65FDE-C76E-48A8-8602-E17BA2F18B4A}"/>
              </a:ext>
            </a:extLst>
          </p:cNvPr>
          <p:cNvCxnSpPr>
            <a:cxnSpLocks/>
          </p:cNvCxnSpPr>
          <p:nvPr/>
        </p:nvCxnSpPr>
        <p:spPr>
          <a:xfrm flipV="1">
            <a:off x="5167316" y="1302125"/>
            <a:ext cx="975392" cy="8108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B741F6ED-3ED1-41DE-8254-3DD68674D628}"/>
              </a:ext>
            </a:extLst>
          </p:cNvPr>
          <p:cNvCxnSpPr>
            <a:cxnSpLocks/>
          </p:cNvCxnSpPr>
          <p:nvPr/>
        </p:nvCxnSpPr>
        <p:spPr>
          <a:xfrm>
            <a:off x="5125058" y="1935927"/>
            <a:ext cx="1111450" cy="135657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7" name="直接箭头连接符 246">
            <a:extLst>
              <a:ext uri="{FF2B5EF4-FFF2-40B4-BE49-F238E27FC236}">
                <a16:creationId xmlns:a16="http://schemas.microsoft.com/office/drawing/2014/main" id="{DDDF4E6B-2F03-4651-AD3A-61EFF648722C}"/>
              </a:ext>
            </a:extLst>
          </p:cNvPr>
          <p:cNvCxnSpPr>
            <a:cxnSpLocks/>
          </p:cNvCxnSpPr>
          <p:nvPr/>
        </p:nvCxnSpPr>
        <p:spPr>
          <a:xfrm flipH="1" flipV="1">
            <a:off x="3215895" y="629554"/>
            <a:ext cx="848358" cy="1586674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直接箭头连接符 247">
            <a:extLst>
              <a:ext uri="{FF2B5EF4-FFF2-40B4-BE49-F238E27FC236}">
                <a16:creationId xmlns:a16="http://schemas.microsoft.com/office/drawing/2014/main" id="{802DDF08-8D9F-4FAF-A8FA-24DB5CB180C8}"/>
              </a:ext>
            </a:extLst>
          </p:cNvPr>
          <p:cNvCxnSpPr>
            <a:cxnSpLocks/>
          </p:cNvCxnSpPr>
          <p:nvPr/>
        </p:nvCxnSpPr>
        <p:spPr>
          <a:xfrm flipH="1">
            <a:off x="3199432" y="2696986"/>
            <a:ext cx="868151" cy="1261319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文本框 255">
                <a:extLst>
                  <a:ext uri="{FF2B5EF4-FFF2-40B4-BE49-F238E27FC236}">
                    <a16:creationId xmlns:a16="http://schemas.microsoft.com/office/drawing/2014/main" id="{ECAA61EC-4FF9-40D4-B9F9-F057486D8094}"/>
                  </a:ext>
                </a:extLst>
              </p:cNvPr>
              <p:cNvSpPr txBox="1"/>
              <p:nvPr/>
            </p:nvSpPr>
            <p:spPr>
              <a:xfrm>
                <a:off x="3991291" y="4937742"/>
                <a:ext cx="1222835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346" i="1">
                          <a:latin typeface="Cambria Math" panose="02040503050406030204" pitchFamily="18" charset="0"/>
                        </a:rPr>
                        <m:t>时间序列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altLang="zh-CN" sz="1346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56" name="文本框 255">
                <a:extLst>
                  <a:ext uri="{FF2B5EF4-FFF2-40B4-BE49-F238E27FC236}">
                    <a16:creationId xmlns:a16="http://schemas.microsoft.com/office/drawing/2014/main" id="{ECAA61EC-4FF9-40D4-B9F9-F057486D8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1291" y="4937742"/>
                <a:ext cx="1222835" cy="299441"/>
              </a:xfrm>
              <a:prstGeom prst="rect">
                <a:avLst/>
              </a:prstGeom>
              <a:blipFill>
                <a:blip r:embed="rId6"/>
                <a:stretch>
                  <a:fillRect b="-122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7" name="文本框 256">
            <a:extLst>
              <a:ext uri="{FF2B5EF4-FFF2-40B4-BE49-F238E27FC236}">
                <a16:creationId xmlns:a16="http://schemas.microsoft.com/office/drawing/2014/main" id="{A45EBF7F-79D9-43DD-B755-BE11E006180B}"/>
              </a:ext>
            </a:extLst>
          </p:cNvPr>
          <p:cNvSpPr txBox="1"/>
          <p:nvPr/>
        </p:nvSpPr>
        <p:spPr>
          <a:xfrm>
            <a:off x="4166813" y="5353052"/>
            <a:ext cx="790601" cy="29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346" dirty="0">
                <a:latin typeface="宋体" panose="02010600030101010101" pitchFamily="2" charset="-122"/>
                <a:ea typeface="宋体" panose="02010600030101010101" pitchFamily="2" charset="-122"/>
              </a:rPr>
              <a:t>(a)WPAT</a:t>
            </a:r>
            <a:endParaRPr lang="zh-CN" altLang="en-US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39DC109-C05C-41BA-8095-87F01261CE58}"/>
              </a:ext>
            </a:extLst>
          </p:cNvPr>
          <p:cNvSpPr/>
          <p:nvPr/>
        </p:nvSpPr>
        <p:spPr>
          <a:xfrm>
            <a:off x="6073237" y="1076393"/>
            <a:ext cx="5696108" cy="2693984"/>
          </a:xfrm>
          <a:prstGeom prst="roundRect">
            <a:avLst>
              <a:gd name="adj" fmla="val 13105"/>
            </a:avLst>
          </a:prstGeom>
          <a:noFill/>
          <a:ln>
            <a:solidFill>
              <a:srgbClr val="7F7F7F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A195017-3FC9-4898-8B14-F8559D0FAFA4}"/>
              </a:ext>
            </a:extLst>
          </p:cNvPr>
          <p:cNvSpPr txBox="1"/>
          <p:nvPr/>
        </p:nvSpPr>
        <p:spPr>
          <a:xfrm>
            <a:off x="5993458" y="3187849"/>
            <a:ext cx="271228" cy="29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346" dirty="0">
                <a:latin typeface="宋体" panose="02010600030101010101" pitchFamily="2" charset="-122"/>
                <a:ea typeface="宋体" panose="02010600030101010101" pitchFamily="2" charset="-122"/>
              </a:rPr>
              <a:t>x</a:t>
            </a:r>
            <a:endParaRPr lang="zh-CN" altLang="en-US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1FF2D918-7419-4764-977A-2FC5CAEAE1B7}"/>
              </a:ext>
            </a:extLst>
          </p:cNvPr>
          <p:cNvCxnSpPr>
            <a:cxnSpLocks/>
            <a:stCxn id="44" idx="3"/>
            <a:endCxn id="47" idx="1"/>
          </p:cNvCxnSpPr>
          <p:nvPr/>
        </p:nvCxnSpPr>
        <p:spPr>
          <a:xfrm>
            <a:off x="6264686" y="3337570"/>
            <a:ext cx="33452" cy="3148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4A9E894A-7101-4A7B-A752-B7C5507090FB}"/>
              </a:ext>
            </a:extLst>
          </p:cNvPr>
          <p:cNvSpPr/>
          <p:nvPr/>
        </p:nvSpPr>
        <p:spPr>
          <a:xfrm>
            <a:off x="6443856" y="1157811"/>
            <a:ext cx="4922492" cy="2204145"/>
          </a:xfrm>
          <a:prstGeom prst="roundRect">
            <a:avLst>
              <a:gd name="adj" fmla="val 10265"/>
            </a:avLst>
          </a:prstGeom>
          <a:solidFill>
            <a:srgbClr val="E6E6E6"/>
          </a:solidFill>
          <a:ln>
            <a:solidFill>
              <a:srgbClr val="787A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232AD07-8CB8-4EFD-833B-91572DFC2AD0}"/>
              </a:ext>
            </a:extLst>
          </p:cNvPr>
          <p:cNvSpPr/>
          <p:nvPr/>
        </p:nvSpPr>
        <p:spPr>
          <a:xfrm>
            <a:off x="6354170" y="1273057"/>
            <a:ext cx="4922492" cy="2204145"/>
          </a:xfrm>
          <a:prstGeom prst="roundRect">
            <a:avLst>
              <a:gd name="adj" fmla="val 8472"/>
            </a:avLst>
          </a:prstGeom>
          <a:solidFill>
            <a:srgbClr val="E6E6E6"/>
          </a:solidFill>
          <a:ln>
            <a:solidFill>
              <a:srgbClr val="787A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00C22531-D63B-44AA-BF94-1C2807C8EF56}"/>
              </a:ext>
            </a:extLst>
          </p:cNvPr>
          <p:cNvSpPr/>
          <p:nvPr/>
        </p:nvSpPr>
        <p:spPr>
          <a:xfrm>
            <a:off x="6237753" y="1419185"/>
            <a:ext cx="4922492" cy="2204145"/>
          </a:xfrm>
          <a:prstGeom prst="roundRect">
            <a:avLst>
              <a:gd name="adj" fmla="val 7704"/>
            </a:avLst>
          </a:prstGeom>
          <a:solidFill>
            <a:srgbClr val="E6E6E6"/>
          </a:solidFill>
          <a:ln>
            <a:solidFill>
              <a:srgbClr val="787A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 dirty="0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6A5A17E-59B5-4AF9-AF18-377E3E56D191}"/>
              </a:ext>
            </a:extLst>
          </p:cNvPr>
          <p:cNvSpPr/>
          <p:nvPr/>
        </p:nvSpPr>
        <p:spPr>
          <a:xfrm>
            <a:off x="6298138" y="3219329"/>
            <a:ext cx="735584" cy="29944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Linear</a:t>
            </a:r>
            <a:endParaRPr lang="zh-CN" altLang="en-US" sz="1346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6F500114-770B-44FA-AFD9-C5647288D911}"/>
              </a:ext>
            </a:extLst>
          </p:cNvPr>
          <p:cNvSpPr/>
          <p:nvPr/>
        </p:nvSpPr>
        <p:spPr>
          <a:xfrm>
            <a:off x="7269046" y="2313303"/>
            <a:ext cx="245915" cy="285421"/>
          </a:xfrm>
          <a:prstGeom prst="rect">
            <a:avLst/>
          </a:prstGeom>
          <a:solidFill>
            <a:srgbClr val="CDEB8B"/>
          </a:solidFill>
          <a:ln>
            <a:solidFill>
              <a:srgbClr val="696A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Q</a:t>
            </a:r>
            <a:endParaRPr lang="zh-CN" altLang="en-US" sz="1346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61DCD0B-A9FE-4234-831B-B674DA1B2287}"/>
              </a:ext>
            </a:extLst>
          </p:cNvPr>
          <p:cNvSpPr/>
          <p:nvPr/>
        </p:nvSpPr>
        <p:spPr>
          <a:xfrm>
            <a:off x="7269046" y="2794657"/>
            <a:ext cx="245915" cy="285421"/>
          </a:xfrm>
          <a:prstGeom prst="rect">
            <a:avLst/>
          </a:prstGeom>
          <a:solidFill>
            <a:srgbClr val="CDEB8B"/>
          </a:solidFill>
          <a:ln>
            <a:solidFill>
              <a:srgbClr val="696A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K</a:t>
            </a:r>
            <a:endParaRPr lang="zh-CN" altLang="en-US" sz="1346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353B08B5-77A6-4C33-A952-DA90E1AEE964}"/>
              </a:ext>
            </a:extLst>
          </p:cNvPr>
          <p:cNvSpPr/>
          <p:nvPr/>
        </p:nvSpPr>
        <p:spPr>
          <a:xfrm>
            <a:off x="7670056" y="3232991"/>
            <a:ext cx="245915" cy="285421"/>
          </a:xfrm>
          <a:prstGeom prst="rect">
            <a:avLst/>
          </a:prstGeom>
          <a:solidFill>
            <a:srgbClr val="CDEB8B"/>
          </a:solidFill>
          <a:ln>
            <a:solidFill>
              <a:srgbClr val="696A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V</a:t>
            </a:r>
            <a:endParaRPr lang="zh-CN" altLang="en-US" sz="1346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B108B99F-4036-4A19-B721-77AF3FCE8ED3}"/>
              </a:ext>
            </a:extLst>
          </p:cNvPr>
          <p:cNvSpPr/>
          <p:nvPr/>
        </p:nvSpPr>
        <p:spPr>
          <a:xfrm>
            <a:off x="7258893" y="1726631"/>
            <a:ext cx="245915" cy="285421"/>
          </a:xfrm>
          <a:prstGeom prst="rect">
            <a:avLst/>
          </a:prstGeom>
          <a:solidFill>
            <a:srgbClr val="FFCCCC"/>
          </a:solidFill>
          <a:ln>
            <a:solidFill>
              <a:srgbClr val="696A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l-GR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σ</a:t>
            </a:r>
            <a:endParaRPr lang="zh-CN" altLang="en-US" sz="1346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ECAFC462-45B8-4EEE-849B-90AB0BEB1303}"/>
              </a:ext>
            </a:extLst>
          </p:cNvPr>
          <p:cNvCxnSpPr>
            <a:cxnSpLocks/>
            <a:stCxn id="47" idx="3"/>
            <a:endCxn id="54" idx="1"/>
          </p:cNvCxnSpPr>
          <p:nvPr/>
        </p:nvCxnSpPr>
        <p:spPr>
          <a:xfrm>
            <a:off x="7033722" y="3369050"/>
            <a:ext cx="636334" cy="665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6C113867-CFF6-4634-9740-5659EB57F279}"/>
              </a:ext>
            </a:extLst>
          </p:cNvPr>
          <p:cNvCxnSpPr>
            <a:cxnSpLocks/>
            <a:stCxn id="47" idx="0"/>
            <a:endCxn id="55" idx="1"/>
          </p:cNvCxnSpPr>
          <p:nvPr/>
        </p:nvCxnSpPr>
        <p:spPr>
          <a:xfrm rot="5400000" flipH="1" flipV="1">
            <a:off x="6287418" y="2247855"/>
            <a:ext cx="1349987" cy="592963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6919FD25-64B8-4027-9A9F-D84A8EC89EE4}"/>
              </a:ext>
            </a:extLst>
          </p:cNvPr>
          <p:cNvCxnSpPr>
            <a:cxnSpLocks/>
            <a:stCxn id="47" idx="0"/>
            <a:endCxn id="52" idx="1"/>
          </p:cNvCxnSpPr>
          <p:nvPr/>
        </p:nvCxnSpPr>
        <p:spPr>
          <a:xfrm rot="5400000" flipH="1" flipV="1">
            <a:off x="6585831" y="2536114"/>
            <a:ext cx="763315" cy="603116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930086E1-4484-4A28-8B8B-32848ED3632C}"/>
              </a:ext>
            </a:extLst>
          </p:cNvPr>
          <p:cNvCxnSpPr>
            <a:cxnSpLocks/>
            <a:stCxn id="47" idx="0"/>
            <a:endCxn id="53" idx="1"/>
          </p:cNvCxnSpPr>
          <p:nvPr/>
        </p:nvCxnSpPr>
        <p:spPr>
          <a:xfrm rot="5400000" flipH="1" flipV="1">
            <a:off x="6826508" y="2776791"/>
            <a:ext cx="281961" cy="603116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EB7060DB-F7E8-44D1-B835-AB93B7A3807B}"/>
              </a:ext>
            </a:extLst>
          </p:cNvPr>
          <p:cNvCxnSpPr>
            <a:cxnSpLocks/>
          </p:cNvCxnSpPr>
          <p:nvPr/>
        </p:nvCxnSpPr>
        <p:spPr>
          <a:xfrm flipV="1">
            <a:off x="7506651" y="2931420"/>
            <a:ext cx="367113" cy="1092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6499BFD9-4EAB-498A-8DC8-F8752E785C02}"/>
              </a:ext>
            </a:extLst>
          </p:cNvPr>
          <p:cNvCxnSpPr>
            <a:cxnSpLocks/>
          </p:cNvCxnSpPr>
          <p:nvPr/>
        </p:nvCxnSpPr>
        <p:spPr>
          <a:xfrm flipV="1">
            <a:off x="7506651" y="2441457"/>
            <a:ext cx="367113" cy="1092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77" name="组合 76">
            <a:extLst>
              <a:ext uri="{FF2B5EF4-FFF2-40B4-BE49-F238E27FC236}">
                <a16:creationId xmlns:a16="http://schemas.microsoft.com/office/drawing/2014/main" id="{6F2136EB-E502-4854-886E-8C12FDF857F6}"/>
              </a:ext>
            </a:extLst>
          </p:cNvPr>
          <p:cNvGrpSpPr/>
          <p:nvPr/>
        </p:nvGrpSpPr>
        <p:grpSpPr>
          <a:xfrm>
            <a:off x="7785151" y="2336298"/>
            <a:ext cx="4041961" cy="1124148"/>
            <a:chOff x="10445800" y="3108130"/>
            <a:chExt cx="4141971" cy="992515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1FD23761-3EB5-4922-AEE9-3AEC3A381F3B}"/>
                </a:ext>
              </a:extLst>
            </p:cNvPr>
            <p:cNvSpPr/>
            <p:nvPr/>
          </p:nvSpPr>
          <p:spPr>
            <a:xfrm>
              <a:off x="10536602" y="3108130"/>
              <a:ext cx="252000" cy="623741"/>
            </a:xfrm>
            <a:prstGeom prst="rect">
              <a:avLst/>
            </a:prstGeom>
            <a:solidFill>
              <a:srgbClr val="DAE8FC"/>
            </a:solidFill>
            <a:ln>
              <a:solidFill>
                <a:srgbClr val="696A6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3335AA1F-69F0-441A-B4D1-B900036A0227}"/>
                </a:ext>
              </a:extLst>
            </p:cNvPr>
            <p:cNvSpPr txBox="1"/>
            <p:nvPr/>
          </p:nvSpPr>
          <p:spPr>
            <a:xfrm>
              <a:off x="10445800" y="3143001"/>
              <a:ext cx="401468" cy="540078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MatMul</a:t>
              </a:r>
              <a:endPara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70" name="文本框 169">
              <a:extLst>
                <a:ext uri="{FF2B5EF4-FFF2-40B4-BE49-F238E27FC236}">
                  <a16:creationId xmlns:a16="http://schemas.microsoft.com/office/drawing/2014/main" id="{A1CD4595-70F4-476C-90BE-CA72EB96A790}"/>
                </a:ext>
              </a:extLst>
            </p:cNvPr>
            <p:cNvSpPr txBox="1"/>
            <p:nvPr/>
          </p:nvSpPr>
          <p:spPr>
            <a:xfrm>
              <a:off x="14186303" y="3560567"/>
              <a:ext cx="401468" cy="540078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Linear</a:t>
              </a:r>
              <a:endPara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cxnSp>
        <p:nvCxnSpPr>
          <p:cNvPr id="75" name="直接箭头连接符 74">
            <a:extLst>
              <a:ext uri="{FF2B5EF4-FFF2-40B4-BE49-F238E27FC236}">
                <a16:creationId xmlns:a16="http://schemas.microsoft.com/office/drawing/2014/main" id="{E3513E37-6A75-48A7-B1BF-1A0775885895}"/>
              </a:ext>
            </a:extLst>
          </p:cNvPr>
          <p:cNvCxnSpPr>
            <a:cxnSpLocks/>
          </p:cNvCxnSpPr>
          <p:nvPr/>
        </p:nvCxnSpPr>
        <p:spPr>
          <a:xfrm>
            <a:off x="8122926" y="2689528"/>
            <a:ext cx="32441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9E50048C-E207-492D-87B1-1D572B33A360}"/>
              </a:ext>
            </a:extLst>
          </p:cNvPr>
          <p:cNvGrpSpPr/>
          <p:nvPr/>
        </p:nvGrpSpPr>
        <p:grpSpPr>
          <a:xfrm>
            <a:off x="8359976" y="2336300"/>
            <a:ext cx="391774" cy="706465"/>
            <a:chOff x="10445800" y="3108130"/>
            <a:chExt cx="401468" cy="623741"/>
          </a:xfrm>
          <a:solidFill>
            <a:srgbClr val="E1D5E7"/>
          </a:solidFill>
        </p:grpSpPr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93E60CBF-41BA-4CFC-ABE0-82BA4992BA2B}"/>
                </a:ext>
              </a:extLst>
            </p:cNvPr>
            <p:cNvSpPr/>
            <p:nvPr/>
          </p:nvSpPr>
          <p:spPr>
            <a:xfrm>
              <a:off x="10536602" y="3108130"/>
              <a:ext cx="252000" cy="623741"/>
            </a:xfrm>
            <a:prstGeom prst="rect">
              <a:avLst/>
            </a:prstGeom>
            <a:grpFill/>
            <a:ln>
              <a:solidFill>
                <a:srgbClr val="696A6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D992505B-EB2B-4D0C-8987-791A337B96DC}"/>
                </a:ext>
              </a:extLst>
            </p:cNvPr>
            <p:cNvSpPr txBox="1"/>
            <p:nvPr/>
          </p:nvSpPr>
          <p:spPr>
            <a:xfrm>
              <a:off x="10445800" y="3143001"/>
              <a:ext cx="401468" cy="463652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Scale</a:t>
              </a:r>
              <a:endPara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A16F286F-3AC1-4522-9AF4-31A7D119A4C6}"/>
              </a:ext>
            </a:extLst>
          </p:cNvPr>
          <p:cNvGrpSpPr/>
          <p:nvPr/>
        </p:nvGrpSpPr>
        <p:grpSpPr>
          <a:xfrm>
            <a:off x="8944441" y="2331609"/>
            <a:ext cx="391774" cy="737764"/>
            <a:chOff x="10445800" y="3108130"/>
            <a:chExt cx="401468" cy="651374"/>
          </a:xfrm>
          <a:solidFill>
            <a:srgbClr val="FFCCCC"/>
          </a:solidFill>
        </p:grpSpPr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D26CF560-C1F0-4674-8708-F1B3131BB3E4}"/>
                </a:ext>
              </a:extLst>
            </p:cNvPr>
            <p:cNvSpPr/>
            <p:nvPr/>
          </p:nvSpPr>
          <p:spPr>
            <a:xfrm>
              <a:off x="10536602" y="3108130"/>
              <a:ext cx="252000" cy="623741"/>
            </a:xfrm>
            <a:prstGeom prst="rect">
              <a:avLst/>
            </a:prstGeom>
            <a:grpFill/>
            <a:ln>
              <a:solidFill>
                <a:srgbClr val="696A6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文本框 83">
              <a:extLst>
                <a:ext uri="{FF2B5EF4-FFF2-40B4-BE49-F238E27FC236}">
                  <a16:creationId xmlns:a16="http://schemas.microsoft.com/office/drawing/2014/main" id="{6387428D-6ADD-42AF-93A2-6621D8AB0C27}"/>
                </a:ext>
              </a:extLst>
            </p:cNvPr>
            <p:cNvSpPr txBox="1"/>
            <p:nvPr/>
          </p:nvSpPr>
          <p:spPr>
            <a:xfrm>
              <a:off x="10445800" y="3143001"/>
              <a:ext cx="401468" cy="616503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SoftMax</a:t>
              </a:r>
              <a:endPara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cxnSp>
        <p:nvCxnSpPr>
          <p:cNvPr id="85" name="直接箭头连接符 84">
            <a:extLst>
              <a:ext uri="{FF2B5EF4-FFF2-40B4-BE49-F238E27FC236}">
                <a16:creationId xmlns:a16="http://schemas.microsoft.com/office/drawing/2014/main" id="{4CC4A59F-1304-42A7-81CB-71E61E76767B}"/>
              </a:ext>
            </a:extLst>
          </p:cNvPr>
          <p:cNvCxnSpPr>
            <a:cxnSpLocks/>
          </p:cNvCxnSpPr>
          <p:nvPr/>
        </p:nvCxnSpPr>
        <p:spPr>
          <a:xfrm>
            <a:off x="8698972" y="2693375"/>
            <a:ext cx="324414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0" name="组合 89">
            <a:extLst>
              <a:ext uri="{FF2B5EF4-FFF2-40B4-BE49-F238E27FC236}">
                <a16:creationId xmlns:a16="http://schemas.microsoft.com/office/drawing/2014/main" id="{33387893-BC40-4F55-93D3-6D4704EAE327}"/>
              </a:ext>
            </a:extLst>
          </p:cNvPr>
          <p:cNvGrpSpPr/>
          <p:nvPr/>
        </p:nvGrpSpPr>
        <p:grpSpPr>
          <a:xfrm>
            <a:off x="7785124" y="1461546"/>
            <a:ext cx="391774" cy="830426"/>
            <a:chOff x="10445800" y="3108130"/>
            <a:chExt cx="401468" cy="635099"/>
          </a:xfrm>
        </p:grpSpPr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78C5BC86-2C82-4958-BB4C-229A7134D39C}"/>
                </a:ext>
              </a:extLst>
            </p:cNvPr>
            <p:cNvSpPr/>
            <p:nvPr/>
          </p:nvSpPr>
          <p:spPr>
            <a:xfrm>
              <a:off x="10536602" y="3108130"/>
              <a:ext cx="252000" cy="623741"/>
            </a:xfrm>
            <a:prstGeom prst="rect">
              <a:avLst/>
            </a:prstGeom>
            <a:solidFill>
              <a:srgbClr val="DAE8FC"/>
            </a:solidFill>
            <a:ln>
              <a:solidFill>
                <a:srgbClr val="696A6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>
              <a:extLst>
                <a:ext uri="{FF2B5EF4-FFF2-40B4-BE49-F238E27FC236}">
                  <a16:creationId xmlns:a16="http://schemas.microsoft.com/office/drawing/2014/main" id="{B992A227-2841-40FC-B715-EDFEB4C7E30B}"/>
                </a:ext>
              </a:extLst>
            </p:cNvPr>
            <p:cNvSpPr txBox="1"/>
            <p:nvPr/>
          </p:nvSpPr>
          <p:spPr>
            <a:xfrm>
              <a:off x="10445800" y="3143001"/>
              <a:ext cx="401468" cy="600228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Gaussian</a:t>
              </a:r>
              <a:endPara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cxnSp>
        <p:nvCxnSpPr>
          <p:cNvPr id="94" name="直接箭头连接符 93">
            <a:extLst>
              <a:ext uri="{FF2B5EF4-FFF2-40B4-BE49-F238E27FC236}">
                <a16:creationId xmlns:a16="http://schemas.microsoft.com/office/drawing/2014/main" id="{3BF42F79-1C8B-493C-B374-7DED857759B0}"/>
              </a:ext>
            </a:extLst>
          </p:cNvPr>
          <p:cNvCxnSpPr>
            <a:cxnSpLocks/>
          </p:cNvCxnSpPr>
          <p:nvPr/>
        </p:nvCxnSpPr>
        <p:spPr>
          <a:xfrm flipV="1">
            <a:off x="7496266" y="1869264"/>
            <a:ext cx="367113" cy="1092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箭头连接符 94">
            <a:extLst>
              <a:ext uri="{FF2B5EF4-FFF2-40B4-BE49-F238E27FC236}">
                <a16:creationId xmlns:a16="http://schemas.microsoft.com/office/drawing/2014/main" id="{D59A027B-83A1-4705-BC57-B97958C12052}"/>
              </a:ext>
            </a:extLst>
          </p:cNvPr>
          <p:cNvCxnSpPr>
            <a:cxnSpLocks/>
          </p:cNvCxnSpPr>
          <p:nvPr/>
        </p:nvCxnSpPr>
        <p:spPr>
          <a:xfrm flipV="1">
            <a:off x="8122930" y="1860936"/>
            <a:ext cx="571601" cy="688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D549B15C-C6EA-486C-8503-F8AF5F5DCA2B}"/>
              </a:ext>
            </a:extLst>
          </p:cNvPr>
          <p:cNvGrpSpPr/>
          <p:nvPr/>
        </p:nvGrpSpPr>
        <p:grpSpPr>
          <a:xfrm>
            <a:off x="8616561" y="1498672"/>
            <a:ext cx="391774" cy="737764"/>
            <a:chOff x="10445800" y="3108130"/>
            <a:chExt cx="401468" cy="651374"/>
          </a:xfrm>
          <a:solidFill>
            <a:srgbClr val="E1D5E7"/>
          </a:solidFill>
        </p:grpSpPr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4C9583DB-603E-49BD-A9BD-8F170A89BE54}"/>
                </a:ext>
              </a:extLst>
            </p:cNvPr>
            <p:cNvSpPr/>
            <p:nvPr/>
          </p:nvSpPr>
          <p:spPr>
            <a:xfrm>
              <a:off x="10536602" y="3108130"/>
              <a:ext cx="252000" cy="623741"/>
            </a:xfrm>
            <a:prstGeom prst="rect">
              <a:avLst/>
            </a:prstGeom>
            <a:grpFill/>
            <a:ln>
              <a:solidFill>
                <a:srgbClr val="696A6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74170AB7-AC8B-46B4-A728-51834107C42E}"/>
                </a:ext>
              </a:extLst>
            </p:cNvPr>
            <p:cNvSpPr txBox="1"/>
            <p:nvPr/>
          </p:nvSpPr>
          <p:spPr>
            <a:xfrm>
              <a:off x="10445800" y="3143001"/>
              <a:ext cx="401468" cy="616503"/>
            </a:xfrm>
            <a:prstGeom prst="rect">
              <a:avLst/>
            </a:prstGeom>
            <a:noFill/>
          </p:spPr>
          <p:txBody>
            <a:bodyPr vert="eaVert" wrap="none" rtlCol="0">
              <a:spAutoFit/>
            </a:bodyPr>
            <a:lstStyle/>
            <a:p>
              <a:r>
                <a: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rPr>
                <a:t>Rescale</a:t>
              </a:r>
              <a:endPara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  <p:cxnSp>
        <p:nvCxnSpPr>
          <p:cNvPr id="100" name="直接箭头连接符 99">
            <a:extLst>
              <a:ext uri="{FF2B5EF4-FFF2-40B4-BE49-F238E27FC236}">
                <a16:creationId xmlns:a16="http://schemas.microsoft.com/office/drawing/2014/main" id="{C4EC3CBA-DE21-4136-A5CA-70D6633C75A6}"/>
              </a:ext>
            </a:extLst>
          </p:cNvPr>
          <p:cNvCxnSpPr>
            <a:cxnSpLocks/>
          </p:cNvCxnSpPr>
          <p:nvPr/>
        </p:nvCxnSpPr>
        <p:spPr>
          <a:xfrm flipV="1">
            <a:off x="8961792" y="1851898"/>
            <a:ext cx="502266" cy="270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7F8274A2-8FE3-4E5D-A3D9-511F86F9D27A}"/>
              </a:ext>
            </a:extLst>
          </p:cNvPr>
          <p:cNvCxnSpPr>
            <a:cxnSpLocks/>
          </p:cNvCxnSpPr>
          <p:nvPr/>
        </p:nvCxnSpPr>
        <p:spPr>
          <a:xfrm>
            <a:off x="9278992" y="2693375"/>
            <a:ext cx="287530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208F714B-4883-4A2F-B933-378BBCFB381C}"/>
              </a:ext>
            </a:extLst>
          </p:cNvPr>
          <p:cNvSpPr txBox="1"/>
          <p:nvPr/>
        </p:nvSpPr>
        <p:spPr>
          <a:xfrm>
            <a:off x="9427232" y="1590451"/>
            <a:ext cx="687219" cy="506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346" dirty="0">
                <a:solidFill>
                  <a:srgbClr val="9D0D55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先验关联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75E99DBC-2EF2-4A82-9734-2A53E6273479}"/>
              </a:ext>
            </a:extLst>
          </p:cNvPr>
          <p:cNvSpPr txBox="1"/>
          <p:nvPr/>
        </p:nvSpPr>
        <p:spPr>
          <a:xfrm>
            <a:off x="9498986" y="2423388"/>
            <a:ext cx="668320" cy="506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346" dirty="0">
                <a:solidFill>
                  <a:srgbClr val="5151B4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序列关联</a:t>
            </a: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99B07157-56CB-46CF-A62D-850C213994C6}"/>
              </a:ext>
            </a:extLst>
          </p:cNvPr>
          <p:cNvSpPr txBox="1"/>
          <p:nvPr/>
        </p:nvSpPr>
        <p:spPr>
          <a:xfrm>
            <a:off x="10497264" y="1590451"/>
            <a:ext cx="762377" cy="506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最小化阶段</a:t>
            </a: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88766355-28B3-416B-B852-9C94D9F94EF5}"/>
              </a:ext>
            </a:extLst>
          </p:cNvPr>
          <p:cNvSpPr txBox="1"/>
          <p:nvPr/>
        </p:nvSpPr>
        <p:spPr>
          <a:xfrm>
            <a:off x="10497265" y="2424812"/>
            <a:ext cx="801170" cy="506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最大化阶段</a:t>
            </a:r>
          </a:p>
        </p:txBody>
      </p: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49FCF013-04CF-4B5C-BCD4-94D14CE7EEDF}"/>
              </a:ext>
            </a:extLst>
          </p:cNvPr>
          <p:cNvCxnSpPr>
            <a:cxnSpLocks/>
          </p:cNvCxnSpPr>
          <p:nvPr/>
        </p:nvCxnSpPr>
        <p:spPr>
          <a:xfrm flipV="1">
            <a:off x="9925312" y="1975117"/>
            <a:ext cx="502266" cy="2703"/>
          </a:xfrm>
          <a:prstGeom prst="straightConnector1">
            <a:avLst/>
          </a:prstGeom>
          <a:ln w="12700">
            <a:solidFill>
              <a:srgbClr val="AD3E76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DBE8C1A0-E6C2-44B3-B365-8E883C4AC92F}"/>
              </a:ext>
            </a:extLst>
          </p:cNvPr>
          <p:cNvCxnSpPr>
            <a:cxnSpLocks/>
          </p:cNvCxnSpPr>
          <p:nvPr/>
        </p:nvCxnSpPr>
        <p:spPr>
          <a:xfrm flipH="1">
            <a:off x="9901097" y="1823822"/>
            <a:ext cx="502266" cy="10328"/>
          </a:xfrm>
          <a:prstGeom prst="straightConnector1">
            <a:avLst/>
          </a:prstGeom>
          <a:ln w="12700">
            <a:solidFill>
              <a:srgbClr val="AD3E76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828F2CA-9C5E-498B-A721-7BCCF859EC5F}"/>
              </a:ext>
            </a:extLst>
          </p:cNvPr>
          <p:cNvSpPr txBox="1"/>
          <p:nvPr/>
        </p:nvSpPr>
        <p:spPr>
          <a:xfrm>
            <a:off x="9770461" y="1475204"/>
            <a:ext cx="879106" cy="29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梯度更新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EF625CD5-E91C-4E7B-AA26-133D8A3B6011}"/>
              </a:ext>
            </a:extLst>
          </p:cNvPr>
          <p:cNvCxnSpPr>
            <a:cxnSpLocks/>
          </p:cNvCxnSpPr>
          <p:nvPr/>
        </p:nvCxnSpPr>
        <p:spPr>
          <a:xfrm flipV="1">
            <a:off x="9986832" y="2591950"/>
            <a:ext cx="502266" cy="2703"/>
          </a:xfrm>
          <a:prstGeom prst="straightConnector1">
            <a:avLst/>
          </a:prstGeom>
          <a:ln w="12700">
            <a:solidFill>
              <a:srgbClr val="5151B4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6C06DB6F-34FC-4F7F-AF08-333E6F5FEC3C}"/>
              </a:ext>
            </a:extLst>
          </p:cNvPr>
          <p:cNvCxnSpPr>
            <a:cxnSpLocks/>
          </p:cNvCxnSpPr>
          <p:nvPr/>
        </p:nvCxnSpPr>
        <p:spPr>
          <a:xfrm flipH="1">
            <a:off x="9963510" y="2807496"/>
            <a:ext cx="502266" cy="10328"/>
          </a:xfrm>
          <a:prstGeom prst="straightConnector1">
            <a:avLst/>
          </a:prstGeom>
          <a:ln w="12700">
            <a:solidFill>
              <a:srgbClr val="5151B4"/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8" name="文本框 117">
            <a:extLst>
              <a:ext uri="{FF2B5EF4-FFF2-40B4-BE49-F238E27FC236}">
                <a16:creationId xmlns:a16="http://schemas.microsoft.com/office/drawing/2014/main" id="{7273B439-CD38-4E95-AEF4-82CA06A81945}"/>
              </a:ext>
            </a:extLst>
          </p:cNvPr>
          <p:cNvSpPr txBox="1"/>
          <p:nvPr/>
        </p:nvSpPr>
        <p:spPr>
          <a:xfrm>
            <a:off x="9843257" y="2839670"/>
            <a:ext cx="922438" cy="29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梯度更新</a:t>
            </a:r>
          </a:p>
        </p:txBody>
      </p:sp>
      <p:sp>
        <p:nvSpPr>
          <p:cNvPr id="119" name="弧形 118">
            <a:extLst>
              <a:ext uri="{FF2B5EF4-FFF2-40B4-BE49-F238E27FC236}">
                <a16:creationId xmlns:a16="http://schemas.microsoft.com/office/drawing/2014/main" id="{C5916F63-1357-4AA7-8A79-CCDB9B562F2B}"/>
              </a:ext>
            </a:extLst>
          </p:cNvPr>
          <p:cNvSpPr/>
          <p:nvPr/>
        </p:nvSpPr>
        <p:spPr>
          <a:xfrm>
            <a:off x="8966214" y="2020332"/>
            <a:ext cx="1830896" cy="933087"/>
          </a:xfrm>
          <a:prstGeom prst="arc">
            <a:avLst/>
          </a:prstGeom>
          <a:ln>
            <a:solidFill>
              <a:srgbClr val="AD3E76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120" name="弧形 119">
            <a:extLst>
              <a:ext uri="{FF2B5EF4-FFF2-40B4-BE49-F238E27FC236}">
                <a16:creationId xmlns:a16="http://schemas.microsoft.com/office/drawing/2014/main" id="{96698B7E-4B59-4CE1-995B-EF9E002C2573}"/>
              </a:ext>
            </a:extLst>
          </p:cNvPr>
          <p:cNvSpPr/>
          <p:nvPr/>
        </p:nvSpPr>
        <p:spPr>
          <a:xfrm flipV="1">
            <a:off x="9065611" y="1517485"/>
            <a:ext cx="1731498" cy="1032266"/>
          </a:xfrm>
          <a:prstGeom prst="arc">
            <a:avLst/>
          </a:prstGeom>
          <a:ln>
            <a:solidFill>
              <a:srgbClr val="5151B4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9020E91E-2046-43CA-92C6-2F256B06F82A}"/>
              </a:ext>
            </a:extLst>
          </p:cNvPr>
          <p:cNvSpPr/>
          <p:nvPr/>
        </p:nvSpPr>
        <p:spPr>
          <a:xfrm>
            <a:off x="9418498" y="3210965"/>
            <a:ext cx="633150" cy="287829"/>
          </a:xfrm>
          <a:prstGeom prst="rect">
            <a:avLst/>
          </a:prstGeom>
          <a:solidFill>
            <a:srgbClr val="DAE8FC"/>
          </a:solidFill>
          <a:ln>
            <a:solidFill>
              <a:srgbClr val="696A6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46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B47100EF-058B-43D7-9C8B-B7D1B9FD7396}"/>
              </a:ext>
            </a:extLst>
          </p:cNvPr>
          <p:cNvSpPr txBox="1"/>
          <p:nvPr/>
        </p:nvSpPr>
        <p:spPr>
          <a:xfrm>
            <a:off x="9395779" y="3189474"/>
            <a:ext cx="1031799" cy="29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346" dirty="0">
                <a:latin typeface="宋体" panose="02010600030101010101" pitchFamily="2" charset="-122"/>
                <a:ea typeface="宋体" panose="02010600030101010101" pitchFamily="2" charset="-122"/>
              </a:rPr>
              <a:t>MatMul</a:t>
            </a:r>
            <a:endParaRPr lang="zh-CN" altLang="en-US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57" name="直接箭头连接符 156">
            <a:extLst>
              <a:ext uri="{FF2B5EF4-FFF2-40B4-BE49-F238E27FC236}">
                <a16:creationId xmlns:a16="http://schemas.microsoft.com/office/drawing/2014/main" id="{1AB92DC6-D59C-4F8A-AD97-F0CB84DD2568}"/>
              </a:ext>
            </a:extLst>
          </p:cNvPr>
          <p:cNvCxnSpPr>
            <a:cxnSpLocks/>
            <a:endCxn id="156" idx="1"/>
          </p:cNvCxnSpPr>
          <p:nvPr/>
        </p:nvCxnSpPr>
        <p:spPr>
          <a:xfrm flipV="1">
            <a:off x="7922974" y="3339195"/>
            <a:ext cx="1472805" cy="534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箭头连接符 158">
            <a:extLst>
              <a:ext uri="{FF2B5EF4-FFF2-40B4-BE49-F238E27FC236}">
                <a16:creationId xmlns:a16="http://schemas.microsoft.com/office/drawing/2014/main" id="{B32022F0-A0D4-4BAD-9C33-9CE3267EF815}"/>
              </a:ext>
            </a:extLst>
          </p:cNvPr>
          <p:cNvCxnSpPr>
            <a:cxnSpLocks/>
          </p:cNvCxnSpPr>
          <p:nvPr/>
        </p:nvCxnSpPr>
        <p:spPr>
          <a:xfrm>
            <a:off x="9739289" y="2916119"/>
            <a:ext cx="0" cy="26424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1" name="直接箭头连接符 160">
            <a:extLst>
              <a:ext uri="{FF2B5EF4-FFF2-40B4-BE49-F238E27FC236}">
                <a16:creationId xmlns:a16="http://schemas.microsoft.com/office/drawing/2014/main" id="{BD418802-8E90-4534-8FC8-32B8A62CD33C}"/>
              </a:ext>
            </a:extLst>
          </p:cNvPr>
          <p:cNvCxnSpPr>
            <a:cxnSpLocks/>
          </p:cNvCxnSpPr>
          <p:nvPr/>
        </p:nvCxnSpPr>
        <p:spPr>
          <a:xfrm>
            <a:off x="10074367" y="3336701"/>
            <a:ext cx="1475825" cy="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4" name="直接箭头连接符 163">
            <a:extLst>
              <a:ext uri="{FF2B5EF4-FFF2-40B4-BE49-F238E27FC236}">
                <a16:creationId xmlns:a16="http://schemas.microsoft.com/office/drawing/2014/main" id="{8FF01081-6C20-457E-B00F-94B779B4FC61}"/>
              </a:ext>
            </a:extLst>
          </p:cNvPr>
          <p:cNvCxnSpPr>
            <a:cxnSpLocks/>
          </p:cNvCxnSpPr>
          <p:nvPr/>
        </p:nvCxnSpPr>
        <p:spPr>
          <a:xfrm>
            <a:off x="11160534" y="3149624"/>
            <a:ext cx="380721" cy="12853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7" name="直接箭头连接符 166">
            <a:extLst>
              <a:ext uri="{FF2B5EF4-FFF2-40B4-BE49-F238E27FC236}">
                <a16:creationId xmlns:a16="http://schemas.microsoft.com/office/drawing/2014/main" id="{D4E18100-DF71-4794-8F5C-DE223C34468E}"/>
              </a:ext>
            </a:extLst>
          </p:cNvPr>
          <p:cNvCxnSpPr>
            <a:cxnSpLocks/>
          </p:cNvCxnSpPr>
          <p:nvPr/>
        </p:nvCxnSpPr>
        <p:spPr>
          <a:xfrm>
            <a:off x="11279308" y="2983685"/>
            <a:ext cx="261944" cy="12853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8" name="文本框 257">
            <a:extLst>
              <a:ext uri="{FF2B5EF4-FFF2-40B4-BE49-F238E27FC236}">
                <a16:creationId xmlns:a16="http://schemas.microsoft.com/office/drawing/2014/main" id="{3FD92B6C-5915-46B0-8F73-6B21E96EB289}"/>
              </a:ext>
            </a:extLst>
          </p:cNvPr>
          <p:cNvSpPr txBox="1"/>
          <p:nvPr/>
        </p:nvSpPr>
        <p:spPr>
          <a:xfrm>
            <a:off x="6430790" y="3809248"/>
            <a:ext cx="2089034" cy="29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346" dirty="0">
                <a:latin typeface="宋体" panose="02010600030101010101" pitchFamily="2" charset="-122"/>
                <a:ea typeface="宋体" panose="02010600030101010101" pitchFamily="2" charset="-122"/>
              </a:rPr>
              <a:t>(c)Anomaly Transformer</a:t>
            </a:r>
            <a:endParaRPr lang="zh-CN" altLang="en-US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85" name="矩形: 圆角 184">
            <a:extLst>
              <a:ext uri="{FF2B5EF4-FFF2-40B4-BE49-F238E27FC236}">
                <a16:creationId xmlns:a16="http://schemas.microsoft.com/office/drawing/2014/main" id="{F567E3D4-7A99-4AB3-A068-7D742AF500B4}"/>
              </a:ext>
            </a:extLst>
          </p:cNvPr>
          <p:cNvSpPr/>
          <p:nvPr/>
        </p:nvSpPr>
        <p:spPr>
          <a:xfrm>
            <a:off x="26431" y="61358"/>
            <a:ext cx="3146241" cy="4876384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文本框 189">
                <a:extLst>
                  <a:ext uri="{FF2B5EF4-FFF2-40B4-BE49-F238E27FC236}">
                    <a16:creationId xmlns:a16="http://schemas.microsoft.com/office/drawing/2014/main" id="{BB3AAA74-76FF-4739-9814-1203A920B2EB}"/>
                  </a:ext>
                </a:extLst>
              </p:cNvPr>
              <p:cNvSpPr txBox="1"/>
              <p:nvPr/>
            </p:nvSpPr>
            <p:spPr>
              <a:xfrm>
                <a:off x="1408333" y="5251757"/>
                <a:ext cx="386067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346" i="1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90" name="文本框 189">
                <a:extLst>
                  <a:ext uri="{FF2B5EF4-FFF2-40B4-BE49-F238E27FC236}">
                    <a16:creationId xmlns:a16="http://schemas.microsoft.com/office/drawing/2014/main" id="{BB3AAA74-76FF-4739-9814-1203A920B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8333" y="5251757"/>
                <a:ext cx="386067" cy="29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1" name="直接箭头连接符 190">
            <a:extLst>
              <a:ext uri="{FF2B5EF4-FFF2-40B4-BE49-F238E27FC236}">
                <a16:creationId xmlns:a16="http://schemas.microsoft.com/office/drawing/2014/main" id="{30C330B4-E197-462F-AB59-0C083E4E61CE}"/>
              </a:ext>
            </a:extLst>
          </p:cNvPr>
          <p:cNvCxnSpPr>
            <a:cxnSpLocks/>
          </p:cNvCxnSpPr>
          <p:nvPr/>
        </p:nvCxnSpPr>
        <p:spPr>
          <a:xfrm flipV="1">
            <a:off x="1599551" y="4963046"/>
            <a:ext cx="0" cy="35846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8" name="连接符: 肘形 197">
            <a:extLst>
              <a:ext uri="{FF2B5EF4-FFF2-40B4-BE49-F238E27FC236}">
                <a16:creationId xmlns:a16="http://schemas.microsoft.com/office/drawing/2014/main" id="{4ADC0B2D-6529-4C1A-AAE8-43DC7868A679}"/>
              </a:ext>
            </a:extLst>
          </p:cNvPr>
          <p:cNvCxnSpPr>
            <a:cxnSpLocks/>
            <a:stCxn id="187" idx="0"/>
            <a:endCxn id="193" idx="2"/>
          </p:cNvCxnSpPr>
          <p:nvPr/>
        </p:nvCxnSpPr>
        <p:spPr>
          <a:xfrm rot="16200000" flipV="1">
            <a:off x="1030373" y="3621649"/>
            <a:ext cx="483876" cy="662238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连接符: 肘形 199">
            <a:extLst>
              <a:ext uri="{FF2B5EF4-FFF2-40B4-BE49-F238E27FC236}">
                <a16:creationId xmlns:a16="http://schemas.microsoft.com/office/drawing/2014/main" id="{85C6FA06-D856-4A1E-BF60-4AA907E22FDE}"/>
              </a:ext>
            </a:extLst>
          </p:cNvPr>
          <p:cNvCxnSpPr>
            <a:cxnSpLocks/>
            <a:stCxn id="187" idx="0"/>
            <a:endCxn id="194" idx="2"/>
          </p:cNvCxnSpPr>
          <p:nvPr/>
        </p:nvCxnSpPr>
        <p:spPr>
          <a:xfrm rot="5400000" flipH="1" flipV="1">
            <a:off x="1750278" y="3557077"/>
            <a:ext cx="490782" cy="784479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9" name="矩形: 圆角 208">
            <a:extLst>
              <a:ext uri="{FF2B5EF4-FFF2-40B4-BE49-F238E27FC236}">
                <a16:creationId xmlns:a16="http://schemas.microsoft.com/office/drawing/2014/main" id="{EF0157EB-6D8C-4495-B17C-2B8C2330ECEC}"/>
              </a:ext>
            </a:extLst>
          </p:cNvPr>
          <p:cNvSpPr/>
          <p:nvPr/>
        </p:nvSpPr>
        <p:spPr>
          <a:xfrm>
            <a:off x="349733" y="1948201"/>
            <a:ext cx="1172358" cy="506550"/>
          </a:xfrm>
          <a:prstGeom prst="roundRect">
            <a:avLst/>
          </a:prstGeom>
          <a:solidFill>
            <a:srgbClr val="BBD4E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F3429AD3-1F26-44B6-B6B3-EEF9D535A2BF}"/>
              </a:ext>
            </a:extLst>
          </p:cNvPr>
          <p:cNvSpPr/>
          <p:nvPr/>
        </p:nvSpPr>
        <p:spPr>
          <a:xfrm>
            <a:off x="1679941" y="1947351"/>
            <a:ext cx="1172358" cy="489541"/>
          </a:xfrm>
          <a:prstGeom prst="roundRect">
            <a:avLst/>
          </a:prstGeom>
          <a:solidFill>
            <a:srgbClr val="F8D09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8E624A98-283C-41EB-83AA-B778379CAB03}"/>
              </a:ext>
            </a:extLst>
          </p:cNvPr>
          <p:cNvSpPr txBox="1"/>
          <p:nvPr/>
        </p:nvSpPr>
        <p:spPr>
          <a:xfrm>
            <a:off x="497330" y="1932493"/>
            <a:ext cx="877164" cy="506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线性投影</a:t>
            </a:r>
            <a:endParaRPr lang="en-US" altLang="zh-CN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位置编码</a:t>
            </a:r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5F8EC81E-30CA-4E95-B16B-0887A9D31A1D}"/>
              </a:ext>
            </a:extLst>
          </p:cNvPr>
          <p:cNvSpPr txBox="1"/>
          <p:nvPr/>
        </p:nvSpPr>
        <p:spPr>
          <a:xfrm>
            <a:off x="1832246" y="1951863"/>
            <a:ext cx="877164" cy="506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线性投影</a:t>
            </a:r>
            <a:endParaRPr lang="en-US" altLang="zh-CN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位置编码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1100CBCD-F037-4D2C-94A1-3E3EACD5FBC2}"/>
                  </a:ext>
                </a:extLst>
              </p:cNvPr>
              <p:cNvSpPr txBox="1"/>
              <p:nvPr/>
            </p:nvSpPr>
            <p:spPr>
              <a:xfrm>
                <a:off x="415927" y="1165338"/>
                <a:ext cx="1206932" cy="50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低频</a:t>
                </a:r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Patch</a:t>
                </a:r>
                <a:b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</a:br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嵌入序列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𝐸</m:t>
                        </m:r>
                      </m:e>
                      <m:sub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𝑙𝑜𝑤</m:t>
                        </m:r>
                      </m:sub>
                    </m:sSub>
                  </m:oMath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13" name="文本框 212">
                <a:extLst>
                  <a:ext uri="{FF2B5EF4-FFF2-40B4-BE49-F238E27FC236}">
                    <a16:creationId xmlns:a16="http://schemas.microsoft.com/office/drawing/2014/main" id="{1100CBCD-F037-4D2C-94A1-3E3EACD5F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927" y="1165338"/>
                <a:ext cx="1206932" cy="506549"/>
              </a:xfrm>
              <a:prstGeom prst="rect">
                <a:avLst/>
              </a:prstGeom>
              <a:blipFill>
                <a:blip r:embed="rId8"/>
                <a:stretch>
                  <a:fillRect l="-505" t="-1205" b="-96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E3E22480-23A7-4887-A55F-E52A5C77EA3C}"/>
                  </a:ext>
                </a:extLst>
              </p:cNvPr>
              <p:cNvSpPr txBox="1"/>
              <p:nvPr/>
            </p:nvSpPr>
            <p:spPr>
              <a:xfrm>
                <a:off x="1597403" y="1159393"/>
                <a:ext cx="127105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高频</a:t>
                </a:r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Patch</a:t>
                </a:r>
                <a:b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</a:br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嵌入序列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𝐸</m:t>
                        </m:r>
                      </m:e>
                      <m:sub>
                        <m:r>
                          <a:rPr lang="en-US" altLang="zh-CN" sz="1346" b="0" i="1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h𝑖𝑔h</m:t>
                        </m:r>
                      </m:sub>
                    </m:sSub>
                  </m:oMath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E3E22480-23A7-4887-A55F-E52A5C77E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03" y="1159393"/>
                <a:ext cx="1271053" cy="523220"/>
              </a:xfrm>
              <a:prstGeom prst="rect">
                <a:avLst/>
              </a:prstGeom>
              <a:blipFill>
                <a:blip r:embed="rId9"/>
                <a:stretch>
                  <a:fillRect l="-478" t="-1163" b="-58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9" name="直接箭头连接符 228">
            <a:extLst>
              <a:ext uri="{FF2B5EF4-FFF2-40B4-BE49-F238E27FC236}">
                <a16:creationId xmlns:a16="http://schemas.microsoft.com/office/drawing/2014/main" id="{0AC6E99F-03D6-4FD1-88B0-396DB30870D2}"/>
              </a:ext>
            </a:extLst>
          </p:cNvPr>
          <p:cNvCxnSpPr>
            <a:cxnSpLocks/>
          </p:cNvCxnSpPr>
          <p:nvPr/>
        </p:nvCxnSpPr>
        <p:spPr>
          <a:xfrm flipV="1">
            <a:off x="2251657" y="1605979"/>
            <a:ext cx="0" cy="34137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6" name="矩形 215">
            <a:extLst>
              <a:ext uri="{FF2B5EF4-FFF2-40B4-BE49-F238E27FC236}">
                <a16:creationId xmlns:a16="http://schemas.microsoft.com/office/drawing/2014/main" id="{FEC2C082-296F-4E05-B1FF-B4E572319F03}"/>
              </a:ext>
            </a:extLst>
          </p:cNvPr>
          <p:cNvSpPr/>
          <p:nvPr/>
        </p:nvSpPr>
        <p:spPr>
          <a:xfrm>
            <a:off x="657151" y="400342"/>
            <a:ext cx="279593" cy="313735"/>
          </a:xfrm>
          <a:prstGeom prst="rect">
            <a:avLst/>
          </a:prstGeom>
          <a:solidFill>
            <a:srgbClr val="6C8DB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31221401-A66A-4B1E-A662-E9CF7279CF92}"/>
              </a:ext>
            </a:extLst>
          </p:cNvPr>
          <p:cNvSpPr/>
          <p:nvPr/>
        </p:nvSpPr>
        <p:spPr>
          <a:xfrm>
            <a:off x="948643" y="400342"/>
            <a:ext cx="279593" cy="313735"/>
          </a:xfrm>
          <a:prstGeom prst="rect">
            <a:avLst/>
          </a:prstGeom>
          <a:solidFill>
            <a:srgbClr val="C1A9C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6B5C2AFF-CC80-490D-B573-AB7CD4A8C016}"/>
              </a:ext>
            </a:extLst>
          </p:cNvPr>
          <p:cNvSpPr/>
          <p:nvPr/>
        </p:nvSpPr>
        <p:spPr>
          <a:xfrm>
            <a:off x="1238759" y="400342"/>
            <a:ext cx="279593" cy="313735"/>
          </a:xfrm>
          <a:prstGeom prst="rect">
            <a:avLst/>
          </a:prstGeom>
          <a:solidFill>
            <a:srgbClr val="CAE0B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CF28B4AE-8701-4C26-9DF4-EACC55A2748E}"/>
              </a:ext>
            </a:extLst>
          </p:cNvPr>
          <p:cNvSpPr/>
          <p:nvPr/>
        </p:nvSpPr>
        <p:spPr>
          <a:xfrm>
            <a:off x="1532775" y="402785"/>
            <a:ext cx="279593" cy="313735"/>
          </a:xfrm>
          <a:prstGeom prst="rect">
            <a:avLst/>
          </a:prstGeom>
          <a:solidFill>
            <a:srgbClr val="93BAD8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30B7006A-27DE-4B4E-B8BC-F6EFFF4DDDD3}"/>
              </a:ext>
            </a:extLst>
          </p:cNvPr>
          <p:cNvSpPr/>
          <p:nvPr/>
        </p:nvSpPr>
        <p:spPr>
          <a:xfrm>
            <a:off x="1825130" y="402785"/>
            <a:ext cx="279593" cy="313735"/>
          </a:xfrm>
          <a:prstGeom prst="rect">
            <a:avLst/>
          </a:prstGeom>
          <a:solidFill>
            <a:srgbClr val="91829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BF604D8B-B5DA-4636-943D-3CA4208A4911}"/>
              </a:ext>
            </a:extLst>
          </p:cNvPr>
          <p:cNvSpPr/>
          <p:nvPr/>
        </p:nvSpPr>
        <p:spPr>
          <a:xfrm>
            <a:off x="2115100" y="402785"/>
            <a:ext cx="279593" cy="3137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36ECE419-1F55-4263-AD90-BEEE36C9EF98}"/>
              </a:ext>
            </a:extLst>
          </p:cNvPr>
          <p:cNvSpPr/>
          <p:nvPr/>
        </p:nvSpPr>
        <p:spPr>
          <a:xfrm>
            <a:off x="2408536" y="405155"/>
            <a:ext cx="279593" cy="31373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cxnSp>
        <p:nvCxnSpPr>
          <p:cNvPr id="241" name="连接符: 肘形 240">
            <a:extLst>
              <a:ext uri="{FF2B5EF4-FFF2-40B4-BE49-F238E27FC236}">
                <a16:creationId xmlns:a16="http://schemas.microsoft.com/office/drawing/2014/main" id="{397CBE50-0A08-4264-AE82-24F1C9EADE43}"/>
              </a:ext>
            </a:extLst>
          </p:cNvPr>
          <p:cNvCxnSpPr>
            <a:stCxn id="213" idx="0"/>
            <a:endCxn id="219" idx="2"/>
          </p:cNvCxnSpPr>
          <p:nvPr/>
        </p:nvCxnSpPr>
        <p:spPr>
          <a:xfrm rot="5400000" flipH="1" flipV="1">
            <a:off x="1121573" y="614340"/>
            <a:ext cx="448818" cy="653179"/>
          </a:xfrm>
          <a:prstGeom prst="bentConnector3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3" name="连接符: 肘形 242">
            <a:extLst>
              <a:ext uri="{FF2B5EF4-FFF2-40B4-BE49-F238E27FC236}">
                <a16:creationId xmlns:a16="http://schemas.microsoft.com/office/drawing/2014/main" id="{35A19A4B-6D9B-4EE3-A089-9CDF45F89284}"/>
              </a:ext>
            </a:extLst>
          </p:cNvPr>
          <p:cNvCxnSpPr>
            <a:stCxn id="214" idx="0"/>
            <a:endCxn id="219" idx="2"/>
          </p:cNvCxnSpPr>
          <p:nvPr/>
        </p:nvCxnSpPr>
        <p:spPr>
          <a:xfrm rot="16200000" flipV="1">
            <a:off x="1731315" y="657778"/>
            <a:ext cx="442873" cy="56035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9" name="文本框 258">
            <a:extLst>
              <a:ext uri="{FF2B5EF4-FFF2-40B4-BE49-F238E27FC236}">
                <a16:creationId xmlns:a16="http://schemas.microsoft.com/office/drawing/2014/main" id="{D7A4FB1D-3132-47E7-9E39-80B5938A0693}"/>
              </a:ext>
            </a:extLst>
          </p:cNvPr>
          <p:cNvSpPr txBox="1"/>
          <p:nvPr/>
        </p:nvSpPr>
        <p:spPr>
          <a:xfrm>
            <a:off x="631017" y="5443184"/>
            <a:ext cx="1937069" cy="29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346" dirty="0">
                <a:latin typeface="宋体" panose="02010600030101010101" pitchFamily="2" charset="-122"/>
                <a:ea typeface="宋体" panose="02010600030101010101" pitchFamily="2" charset="-122"/>
              </a:rPr>
              <a:t>(b)</a:t>
            </a:r>
            <a:r>
              <a:rPr lang="en-US" altLang="zh-CN" sz="1346" dirty="0"/>
              <a:t> Wavelet-Patch Layer</a:t>
            </a:r>
            <a:endParaRPr lang="zh-CN" altLang="en-US" sz="1346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0CB0C907-AC84-4BFB-8CDD-D3EA100698CB}"/>
              </a:ext>
            </a:extLst>
          </p:cNvPr>
          <p:cNvSpPr/>
          <p:nvPr/>
        </p:nvSpPr>
        <p:spPr>
          <a:xfrm>
            <a:off x="383922" y="4204054"/>
            <a:ext cx="2439012" cy="584825"/>
          </a:xfrm>
          <a:prstGeom prst="roundRect">
            <a:avLst/>
          </a:prstGeom>
          <a:solidFill>
            <a:srgbClr val="C7AEC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 dirty="0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09122E33-0A45-4E78-8266-A878EAB59795}"/>
              </a:ext>
            </a:extLst>
          </p:cNvPr>
          <p:cNvSpPr txBox="1"/>
          <p:nvPr/>
        </p:nvSpPr>
        <p:spPr>
          <a:xfrm>
            <a:off x="645475" y="4194706"/>
            <a:ext cx="1915909" cy="5065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346" dirty="0">
                <a:latin typeface="宋体" panose="02010600030101010101" pitchFamily="2" charset="-122"/>
                <a:ea typeface="宋体" panose="02010600030101010101" pitchFamily="2" charset="-122"/>
              </a:rPr>
              <a:t>DWT</a:t>
            </a:r>
          </a:p>
          <a:p>
            <a:pPr algn="ctr"/>
            <a:r>
              <a:rPr lang="zh-CN" altLang="en-US" sz="1346" dirty="0">
                <a:latin typeface="宋体" panose="02010600030101010101" pitchFamily="2" charset="-122"/>
                <a:ea typeface="宋体" panose="02010600030101010101" pitchFamily="2" charset="-122"/>
              </a:rPr>
              <a:t>（一维离散小波变换）</a:t>
            </a:r>
          </a:p>
        </p:txBody>
      </p:sp>
      <p:sp>
        <p:nvSpPr>
          <p:cNvPr id="193" name="矩形: 圆角 192">
            <a:extLst>
              <a:ext uri="{FF2B5EF4-FFF2-40B4-BE49-F238E27FC236}">
                <a16:creationId xmlns:a16="http://schemas.microsoft.com/office/drawing/2014/main" id="{C0287108-B32E-443E-B926-CD7F68F91427}"/>
              </a:ext>
            </a:extLst>
          </p:cNvPr>
          <p:cNvSpPr/>
          <p:nvPr/>
        </p:nvSpPr>
        <p:spPr>
          <a:xfrm>
            <a:off x="250329" y="3126005"/>
            <a:ext cx="1381725" cy="584825"/>
          </a:xfrm>
          <a:prstGeom prst="roundRect">
            <a:avLst/>
          </a:prstGeom>
          <a:solidFill>
            <a:srgbClr val="BBD4E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p:sp>
        <p:nvSpPr>
          <p:cNvPr id="194" name="矩形: 圆角 193">
            <a:extLst>
              <a:ext uri="{FF2B5EF4-FFF2-40B4-BE49-F238E27FC236}">
                <a16:creationId xmlns:a16="http://schemas.microsoft.com/office/drawing/2014/main" id="{C92CE03C-B025-4D5D-A26B-503B100AE3E7}"/>
              </a:ext>
            </a:extLst>
          </p:cNvPr>
          <p:cNvSpPr/>
          <p:nvPr/>
        </p:nvSpPr>
        <p:spPr>
          <a:xfrm>
            <a:off x="1672527" y="3119099"/>
            <a:ext cx="1430763" cy="584825"/>
          </a:xfrm>
          <a:prstGeom prst="roundRect">
            <a:avLst/>
          </a:prstGeom>
          <a:solidFill>
            <a:srgbClr val="F8D09E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19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3C6A110D-FC1C-47E3-8BC1-8988DA242F2C}"/>
                  </a:ext>
                </a:extLst>
              </p:cNvPr>
              <p:cNvSpPr txBox="1"/>
              <p:nvPr/>
            </p:nvSpPr>
            <p:spPr>
              <a:xfrm>
                <a:off x="114365" y="3158236"/>
                <a:ext cx="1666931" cy="50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Patchization</a:t>
                </a:r>
                <a:b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</a:br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（序列分块，</a:t>
                </a:r>
                <a14:m>
                  <m:oMath xmlns:m="http://schemas.openxmlformats.org/officeDocument/2006/math">
                    <m:r>
                      <a:rPr lang="en-US" altLang="zh-CN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𝑃</m:t>
                    </m:r>
                    <m:r>
                      <a:rPr lang="en-US" altLang="zh-CN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,</m:t>
                    </m:r>
                    <m:r>
                      <a:rPr lang="en-US" altLang="zh-CN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𝑆</m:t>
                    </m:r>
                  </m:oMath>
                </a14:m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）</a:t>
                </a:r>
              </a:p>
            </p:txBody>
          </p:sp>
        </mc:Choice>
        <mc:Fallback>
          <p:sp>
            <p:nvSpPr>
              <p:cNvPr id="195" name="文本框 194">
                <a:extLst>
                  <a:ext uri="{FF2B5EF4-FFF2-40B4-BE49-F238E27FC236}">
                    <a16:creationId xmlns:a16="http://schemas.microsoft.com/office/drawing/2014/main" id="{3C6A110D-FC1C-47E3-8BC1-8988DA242F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65" y="3158236"/>
                <a:ext cx="1666931" cy="506549"/>
              </a:xfrm>
              <a:prstGeom prst="rect">
                <a:avLst/>
              </a:prstGeom>
              <a:blipFill>
                <a:blip r:embed="rId10"/>
                <a:stretch>
                  <a:fillRect l="-733" t="-1205" b="-96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文本框 195">
                <a:extLst>
                  <a:ext uri="{FF2B5EF4-FFF2-40B4-BE49-F238E27FC236}">
                    <a16:creationId xmlns:a16="http://schemas.microsoft.com/office/drawing/2014/main" id="{1794E5B4-EB06-4ACF-A5FD-197AA2888A91}"/>
                  </a:ext>
                </a:extLst>
              </p:cNvPr>
              <p:cNvSpPr txBox="1"/>
              <p:nvPr/>
            </p:nvSpPr>
            <p:spPr>
              <a:xfrm>
                <a:off x="1547465" y="3166315"/>
                <a:ext cx="1712971" cy="5065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Patchization</a:t>
                </a:r>
                <a:b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</a:br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（序列分块，</a:t>
                </a:r>
                <a14:m>
                  <m:oMath xmlns:m="http://schemas.openxmlformats.org/officeDocument/2006/math">
                    <m:r>
                      <a:rPr lang="en-US" altLang="zh-CN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𝑃</m:t>
                    </m:r>
                    <m:r>
                      <a:rPr lang="en-US" altLang="zh-CN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,</m:t>
                    </m:r>
                    <m:r>
                      <a:rPr lang="en-US" altLang="zh-CN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𝑆</m:t>
                    </m:r>
                  </m:oMath>
                </a14:m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）</a:t>
                </a:r>
              </a:p>
            </p:txBody>
          </p:sp>
        </mc:Choice>
        <mc:Fallback>
          <p:sp>
            <p:nvSpPr>
              <p:cNvPr id="196" name="文本框 195">
                <a:extLst>
                  <a:ext uri="{FF2B5EF4-FFF2-40B4-BE49-F238E27FC236}">
                    <a16:creationId xmlns:a16="http://schemas.microsoft.com/office/drawing/2014/main" id="{1794E5B4-EB06-4ACF-A5FD-197AA2888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7465" y="3166315"/>
                <a:ext cx="1712971" cy="506549"/>
              </a:xfrm>
              <a:prstGeom prst="rect">
                <a:avLst/>
              </a:prstGeom>
              <a:blipFill>
                <a:blip r:embed="rId11"/>
                <a:stretch>
                  <a:fillRect t="-1190" b="-8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2F2952D6-7901-4B02-B159-279C9A90055B}"/>
                  </a:ext>
                </a:extLst>
              </p:cNvPr>
              <p:cNvSpPr txBox="1"/>
              <p:nvPr/>
            </p:nvSpPr>
            <p:spPr>
              <a:xfrm>
                <a:off x="74045" y="2584921"/>
                <a:ext cx="877163" cy="5065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低频近似</a:t>
                </a:r>
                <a:endPara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algn="ctr"/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分量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𝑋</m:t>
                        </m:r>
                      </m:e>
                      <m:sub>
                        <m:r>
                          <a:rPr lang="en-US" altLang="zh-CN" sz="1346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𝑙𝑜𝑤</m:t>
                        </m:r>
                      </m:sub>
                    </m:sSub>
                  </m:oMath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205" name="文本框 204">
                <a:extLst>
                  <a:ext uri="{FF2B5EF4-FFF2-40B4-BE49-F238E27FC236}">
                    <a16:creationId xmlns:a16="http://schemas.microsoft.com/office/drawing/2014/main" id="{2F2952D6-7901-4B02-B159-279C9A900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45" y="2584921"/>
                <a:ext cx="877163" cy="506549"/>
              </a:xfrm>
              <a:prstGeom prst="rect">
                <a:avLst/>
              </a:prstGeom>
              <a:blipFill>
                <a:blip r:embed="rId12"/>
                <a:stretch>
                  <a:fillRect l="-694" t="-1205" r="-1389" b="-96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7C97EE6-3C5B-4254-A093-7B1CB3594E01}"/>
                  </a:ext>
                </a:extLst>
              </p:cNvPr>
              <p:cNvSpPr txBox="1"/>
              <p:nvPr/>
            </p:nvSpPr>
            <p:spPr>
              <a:xfrm>
                <a:off x="2234872" y="2585619"/>
                <a:ext cx="92967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高频细节</a:t>
                </a:r>
                <a:endParaRPr lang="en-US" altLang="zh-CN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pPr algn="ctr"/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分量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346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346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𝑋</m:t>
                        </m:r>
                      </m:e>
                      <m:sub>
                        <m:r>
                          <a:rPr lang="en-US" altLang="zh-CN" sz="1346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h𝑖𝑔h</m:t>
                        </m:r>
                      </m:sub>
                    </m:sSub>
                  </m:oMath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206" name="文本框 205">
                <a:extLst>
                  <a:ext uri="{FF2B5EF4-FFF2-40B4-BE49-F238E27FC236}">
                    <a16:creationId xmlns:a16="http://schemas.microsoft.com/office/drawing/2014/main" id="{37C97EE6-3C5B-4254-A093-7B1CB3594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4872" y="2585619"/>
                <a:ext cx="929678" cy="523220"/>
              </a:xfrm>
              <a:prstGeom prst="rect">
                <a:avLst/>
              </a:prstGeom>
              <a:blipFill>
                <a:blip r:embed="rId13"/>
                <a:stretch>
                  <a:fillRect l="-1974" t="-1163" b="-58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CD2C5B77-2A13-4396-890E-89DE926B9489}"/>
                  </a:ext>
                </a:extLst>
              </p:cNvPr>
              <p:cNvSpPr txBox="1"/>
              <p:nvPr/>
            </p:nvSpPr>
            <p:spPr>
              <a:xfrm>
                <a:off x="942887" y="3658863"/>
                <a:ext cx="1381725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zh-CN" altLang="en-US" sz="1346" dirty="0">
                    <a:ea typeface="宋体" panose="02010600030101010101" pitchFamily="2" charset="-122"/>
                  </a:rPr>
                  <a:t>块大小</a:t>
                </a:r>
                <a14:m>
                  <m:oMath xmlns:m="http://schemas.openxmlformats.org/officeDocument/2006/math">
                    <m:r>
                      <a:rPr lang="en-US" altLang="zh-CN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𝑃</m:t>
                    </m:r>
                  </m:oMath>
                </a14:m>
                <a:r>
                  <a:rPr lang="en-US" altLang="zh-CN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,</a:t>
                </a:r>
                <a:r>
                  <a:rPr lang="zh-CN" altLang="en-US" sz="1346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步长</a:t>
                </a:r>
                <a14:m>
                  <m:oMath xmlns:m="http://schemas.openxmlformats.org/officeDocument/2006/math">
                    <m:r>
                      <a:rPr lang="en-US" altLang="zh-CN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𝑆</m:t>
                    </m:r>
                    <m:r>
                      <a:rPr lang="en-US" altLang="zh-CN" sz="1346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 </m:t>
                    </m:r>
                  </m:oMath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207" name="文本框 206">
                <a:extLst>
                  <a:ext uri="{FF2B5EF4-FFF2-40B4-BE49-F238E27FC236}">
                    <a16:creationId xmlns:a16="http://schemas.microsoft.com/office/drawing/2014/main" id="{CD2C5B77-2A13-4396-890E-89DE926B94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887" y="3658863"/>
                <a:ext cx="1381725" cy="299441"/>
              </a:xfrm>
              <a:prstGeom prst="rect">
                <a:avLst/>
              </a:prstGeom>
              <a:blipFill>
                <a:blip r:embed="rId14"/>
                <a:stretch>
                  <a:fillRect l="-885" t="-4082" b="-183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6" name="直接箭头连接符 225">
            <a:extLst>
              <a:ext uri="{FF2B5EF4-FFF2-40B4-BE49-F238E27FC236}">
                <a16:creationId xmlns:a16="http://schemas.microsoft.com/office/drawing/2014/main" id="{148AE121-0EA8-4892-BF88-C385926C3432}"/>
              </a:ext>
            </a:extLst>
          </p:cNvPr>
          <p:cNvCxnSpPr>
            <a:cxnSpLocks/>
          </p:cNvCxnSpPr>
          <p:nvPr/>
        </p:nvCxnSpPr>
        <p:spPr>
          <a:xfrm flipV="1">
            <a:off x="2324213" y="2460173"/>
            <a:ext cx="399" cy="65573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箭头连接符 132">
            <a:extLst>
              <a:ext uri="{FF2B5EF4-FFF2-40B4-BE49-F238E27FC236}">
                <a16:creationId xmlns:a16="http://schemas.microsoft.com/office/drawing/2014/main" id="{3B89BC68-7AEA-4754-847D-2BBA088DC2DE}"/>
              </a:ext>
            </a:extLst>
          </p:cNvPr>
          <p:cNvCxnSpPr>
            <a:cxnSpLocks/>
          </p:cNvCxnSpPr>
          <p:nvPr/>
        </p:nvCxnSpPr>
        <p:spPr>
          <a:xfrm flipV="1">
            <a:off x="892046" y="2470459"/>
            <a:ext cx="399" cy="65573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6EED2194-0A8F-4975-A09B-3555A7496B3C}"/>
                  </a:ext>
                </a:extLst>
              </p:cNvPr>
              <p:cNvSpPr txBox="1"/>
              <p:nvPr/>
            </p:nvSpPr>
            <p:spPr>
              <a:xfrm>
                <a:off x="11262274" y="1740291"/>
                <a:ext cx="563103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346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346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21" name="文本框 120">
                <a:extLst>
                  <a:ext uri="{FF2B5EF4-FFF2-40B4-BE49-F238E27FC236}">
                    <a16:creationId xmlns:a16="http://schemas.microsoft.com/office/drawing/2014/main" id="{6EED2194-0A8F-4975-A09B-3555A7496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62274" y="1740291"/>
                <a:ext cx="563103" cy="299441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E6ADC726-5C88-44E0-B340-DC749E8EE504}"/>
                  </a:ext>
                </a:extLst>
              </p:cNvPr>
              <p:cNvSpPr txBox="1"/>
              <p:nvPr/>
            </p:nvSpPr>
            <p:spPr>
              <a:xfrm>
                <a:off x="4238728" y="118010"/>
                <a:ext cx="928588" cy="2874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特征表示</a:t>
                </a:r>
                <a14:m>
                  <m:oMath xmlns:m="http://schemas.openxmlformats.org/officeDocument/2006/math">
                    <m:r>
                      <a:rPr lang="zh-CN" altLang="en-US" sz="1268" b="1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𝔃</m:t>
                    </m:r>
                  </m:oMath>
                </a14:m>
                <a:endParaRPr lang="zh-CN" altLang="en-US" sz="1268" b="1" i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23" name="文本框 122">
                <a:extLst>
                  <a:ext uri="{FF2B5EF4-FFF2-40B4-BE49-F238E27FC236}">
                    <a16:creationId xmlns:a16="http://schemas.microsoft.com/office/drawing/2014/main" id="{E6ADC726-5C88-44E0-B340-DC749E8EE5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8728" y="118010"/>
                <a:ext cx="928588" cy="287451"/>
              </a:xfrm>
              <a:prstGeom prst="rect">
                <a:avLst/>
              </a:prstGeom>
              <a:blipFill>
                <a:blip r:embed="rId16"/>
                <a:stretch>
                  <a:fillRect l="-654" b="-145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A219FCCF-3820-4CAD-AD48-2A091E2C5AAD}"/>
              </a:ext>
            </a:extLst>
          </p:cNvPr>
          <p:cNvCxnSpPr>
            <a:cxnSpLocks/>
          </p:cNvCxnSpPr>
          <p:nvPr/>
        </p:nvCxnSpPr>
        <p:spPr>
          <a:xfrm flipV="1">
            <a:off x="996340" y="1605979"/>
            <a:ext cx="0" cy="341372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0825F063-00EF-4737-8D45-1C344B77550C}"/>
                  </a:ext>
                </a:extLst>
              </p:cNvPr>
              <p:cNvSpPr txBox="1"/>
              <p:nvPr/>
            </p:nvSpPr>
            <p:spPr>
              <a:xfrm>
                <a:off x="6159167" y="1718751"/>
                <a:ext cx="665117" cy="3161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346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𝐸</m:t>
                          </m:r>
                        </m:e>
                        <m:sub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h𝑖𝑔h</m:t>
                          </m:r>
                        </m:sub>
                      </m:sSub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35" name="文本框 134">
                <a:extLst>
                  <a:ext uri="{FF2B5EF4-FFF2-40B4-BE49-F238E27FC236}">
                    <a16:creationId xmlns:a16="http://schemas.microsoft.com/office/drawing/2014/main" id="{0825F063-00EF-4737-8D45-1C344B775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9167" y="1718751"/>
                <a:ext cx="665117" cy="316112"/>
              </a:xfrm>
              <a:prstGeom prst="rect">
                <a:avLst/>
              </a:prstGeom>
              <a:blipFill>
                <a:blip r:embed="rId17"/>
                <a:stretch>
                  <a:fillRect b="-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CE1BE97A-5B3D-4596-8AFB-BB45B864FC97}"/>
                  </a:ext>
                </a:extLst>
              </p:cNvPr>
              <p:cNvSpPr txBox="1"/>
              <p:nvPr/>
            </p:nvSpPr>
            <p:spPr>
              <a:xfrm>
                <a:off x="6220560" y="2756657"/>
                <a:ext cx="600998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346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𝐸</m:t>
                          </m:r>
                        </m:e>
                        <m:sub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𝑙𝑜𝑤</m:t>
                          </m:r>
                        </m:sub>
                      </m:sSub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36" name="文本框 135">
                <a:extLst>
                  <a:ext uri="{FF2B5EF4-FFF2-40B4-BE49-F238E27FC236}">
                    <a16:creationId xmlns:a16="http://schemas.microsoft.com/office/drawing/2014/main" id="{CE1BE97A-5B3D-4596-8AFB-BB45B864F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20560" y="2756657"/>
                <a:ext cx="600998" cy="29944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3658A9AF-E780-4346-93D4-1739620BCE07}"/>
                  </a:ext>
                </a:extLst>
              </p:cNvPr>
              <p:cNvSpPr txBox="1"/>
              <p:nvPr/>
            </p:nvSpPr>
            <p:spPr>
              <a:xfrm>
                <a:off x="6750439" y="2138450"/>
                <a:ext cx="528671" cy="3139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346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30" name="文本框 129">
                <a:extLst>
                  <a:ext uri="{FF2B5EF4-FFF2-40B4-BE49-F238E27FC236}">
                    <a16:creationId xmlns:a16="http://schemas.microsoft.com/office/drawing/2014/main" id="{3658A9AF-E780-4346-93D4-1739620BCE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439" y="2138450"/>
                <a:ext cx="528671" cy="313932"/>
              </a:xfrm>
              <a:prstGeom prst="rect">
                <a:avLst/>
              </a:prstGeom>
              <a:blipFill>
                <a:blip r:embed="rId19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文本框 131">
                <a:extLst>
                  <a:ext uri="{FF2B5EF4-FFF2-40B4-BE49-F238E27FC236}">
                    <a16:creationId xmlns:a16="http://schemas.microsoft.com/office/drawing/2014/main" id="{A14100B9-BE9C-48B5-B2B7-301F5669DA6F}"/>
                  </a:ext>
                </a:extLst>
              </p:cNvPr>
              <p:cNvSpPr txBox="1"/>
              <p:nvPr/>
            </p:nvSpPr>
            <p:spPr>
              <a:xfrm>
                <a:off x="6752612" y="2626214"/>
                <a:ext cx="514179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346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32" name="文本框 131">
                <a:extLst>
                  <a:ext uri="{FF2B5EF4-FFF2-40B4-BE49-F238E27FC236}">
                    <a16:creationId xmlns:a16="http://schemas.microsoft.com/office/drawing/2014/main" id="{A14100B9-BE9C-48B5-B2B7-301F5669DA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2612" y="2626214"/>
                <a:ext cx="514179" cy="29944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49E7229A-11BE-4BBA-9C70-3865D4D0427D}"/>
                  </a:ext>
                </a:extLst>
              </p:cNvPr>
              <p:cNvSpPr txBox="1"/>
              <p:nvPr/>
            </p:nvSpPr>
            <p:spPr>
              <a:xfrm>
                <a:off x="7076672" y="3086122"/>
                <a:ext cx="504562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346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1346" b="0" i="1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𝑉</m:t>
                          </m:r>
                        </m:sub>
                      </m:sSub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34" name="文本框 133">
                <a:extLst>
                  <a:ext uri="{FF2B5EF4-FFF2-40B4-BE49-F238E27FC236}">
                    <a16:creationId xmlns:a16="http://schemas.microsoft.com/office/drawing/2014/main" id="{49E7229A-11BE-4BBA-9C70-3865D4D04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6672" y="3086122"/>
                <a:ext cx="504562" cy="299441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F4C60A0F-DFA5-4052-A43E-490AC470381F}"/>
                  </a:ext>
                </a:extLst>
              </p:cNvPr>
              <p:cNvSpPr txBox="1"/>
              <p:nvPr/>
            </p:nvSpPr>
            <p:spPr>
              <a:xfrm>
                <a:off x="6659126" y="1585712"/>
                <a:ext cx="621709" cy="29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346" b="0" i="1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𝑀𝐿𝑃</m:t>
                      </m:r>
                    </m:oMath>
                  </m:oMathPara>
                </a14:m>
                <a:endParaRPr lang="zh-CN" altLang="en-US" sz="1346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>
          <p:sp>
            <p:nvSpPr>
              <p:cNvPr id="137" name="文本框 136">
                <a:extLst>
                  <a:ext uri="{FF2B5EF4-FFF2-40B4-BE49-F238E27FC236}">
                    <a16:creationId xmlns:a16="http://schemas.microsoft.com/office/drawing/2014/main" id="{F4C60A0F-DFA5-4052-A43E-490AC4703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126" y="1585712"/>
                <a:ext cx="621709" cy="29944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564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474</TotalTime>
  <Words>134</Words>
  <Application>Microsoft Office PowerPoint</Application>
  <PresentationFormat>自定义</PresentationFormat>
  <Paragraphs>53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25</cp:revision>
  <dcterms:created xsi:type="dcterms:W3CDTF">2026-03-06T07:18:13Z</dcterms:created>
  <dcterms:modified xsi:type="dcterms:W3CDTF">2026-03-19T06:30:28Z</dcterms:modified>
</cp:coreProperties>
</file>