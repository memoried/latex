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11520488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4F97"/>
    <a:srgbClr val="D3C0DE"/>
    <a:srgbClr val="A43535"/>
    <a:srgbClr val="723699"/>
    <a:srgbClr val="8FB271"/>
    <a:srgbClr val="6B8B51"/>
    <a:srgbClr val="C9DEB3"/>
    <a:srgbClr val="EE8A31"/>
    <a:srgbClr val="006BB9"/>
    <a:srgbClr val="E1ED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101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EAB45-F168-40EB-9306-30C85D89BE0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94DC1-3B4E-4954-8E0E-2E57984AA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088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32322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1pPr>
    <a:lvl2pPr marL="466161" algn="l" defTabSz="932322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2pPr>
    <a:lvl3pPr marL="932322" algn="l" defTabSz="932322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3pPr>
    <a:lvl4pPr marL="1398483" algn="l" defTabSz="932322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4pPr>
    <a:lvl5pPr marL="1864644" algn="l" defTabSz="932322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5pPr>
    <a:lvl6pPr marL="2330806" algn="l" defTabSz="932322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6pPr>
    <a:lvl7pPr marL="2796967" algn="l" defTabSz="932322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7pPr>
    <a:lvl8pPr marL="3263128" algn="l" defTabSz="932322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8pPr>
    <a:lvl9pPr marL="3729289" algn="l" defTabSz="932322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94DC1-3B4E-4954-8E0E-2E57984AA75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278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178222"/>
            <a:ext cx="8640366" cy="2506427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781306"/>
            <a:ext cx="8640366" cy="1738167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636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000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794830"/>
            <a:ext cx="9936421" cy="299471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817875"/>
            <a:ext cx="9936421" cy="1574849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43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916484"/>
            <a:ext cx="4896207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916484"/>
            <a:ext cx="4896207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87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83297"/>
            <a:ext cx="9936421" cy="1391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764832"/>
            <a:ext cx="4873706" cy="864917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629749"/>
            <a:ext cx="487370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764832"/>
            <a:ext cx="4897708" cy="864917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629749"/>
            <a:ext cx="4897708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16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13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805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79954"/>
            <a:ext cx="3715657" cy="1679840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1036569"/>
            <a:ext cx="5832247" cy="5116178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2159794"/>
            <a:ext cx="3715657" cy="4001285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218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79954"/>
            <a:ext cx="3715657" cy="1679840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1036569"/>
            <a:ext cx="5832247" cy="5116178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2159794"/>
            <a:ext cx="3715657" cy="4001285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79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470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83297"/>
            <a:ext cx="2484105" cy="61010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83297"/>
            <a:ext cx="7308310" cy="61010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11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83297"/>
            <a:ext cx="9936421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916484"/>
            <a:ext cx="9936421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672697"/>
            <a:ext cx="259211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C3967-68A1-4212-8084-A25F43C8529A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672697"/>
            <a:ext cx="388816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672697"/>
            <a:ext cx="259211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E47BB-A579-4FF1-9933-77D291A0D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21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8" Type="http://schemas.openxmlformats.org/officeDocument/2006/relationships/image" Target="../media/image15.png"/><Relationship Id="rId76" Type="http://schemas.openxmlformats.org/officeDocument/2006/relationships/image" Target="../media/image5.png"/><Relationship Id="rId84" Type="http://schemas.openxmlformats.org/officeDocument/2006/relationships/image" Target="../media/image13.png"/><Relationship Id="rId89" Type="http://schemas.openxmlformats.org/officeDocument/2006/relationships/image" Target="../media/image23.png"/><Relationship Id="rId97" Type="http://schemas.openxmlformats.org/officeDocument/2006/relationships/image" Target="../media/image31.png"/><Relationship Id="rId67" Type="http://schemas.openxmlformats.org/officeDocument/2006/relationships/image" Target="../media/image14.png"/><Relationship Id="rId71" Type="http://schemas.openxmlformats.org/officeDocument/2006/relationships/image" Target="../media/image18.png"/><Relationship Id="rId92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70" Type="http://schemas.openxmlformats.org/officeDocument/2006/relationships/image" Target="../media/image17.png"/><Relationship Id="rId75" Type="http://schemas.openxmlformats.org/officeDocument/2006/relationships/image" Target="../media/image4.png"/><Relationship Id="rId83" Type="http://schemas.openxmlformats.org/officeDocument/2006/relationships/image" Target="../media/image12.png"/><Relationship Id="rId88" Type="http://schemas.openxmlformats.org/officeDocument/2006/relationships/image" Target="../media/image22.png"/><Relationship Id="rId91" Type="http://schemas.openxmlformats.org/officeDocument/2006/relationships/image" Target="../media/image25.png"/><Relationship Id="rId9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74" Type="http://schemas.openxmlformats.org/officeDocument/2006/relationships/image" Target="../media/image3.png"/><Relationship Id="rId79" Type="http://schemas.openxmlformats.org/officeDocument/2006/relationships/image" Target="../media/image8.png"/><Relationship Id="rId87" Type="http://schemas.openxmlformats.org/officeDocument/2006/relationships/image" Target="../media/image21.png"/><Relationship Id="rId82" Type="http://schemas.openxmlformats.org/officeDocument/2006/relationships/image" Target="../media/image11.png"/><Relationship Id="rId90" Type="http://schemas.openxmlformats.org/officeDocument/2006/relationships/image" Target="../media/image24.png"/><Relationship Id="rId95" Type="http://schemas.openxmlformats.org/officeDocument/2006/relationships/image" Target="../media/image29.png"/><Relationship Id="rId73" Type="http://schemas.openxmlformats.org/officeDocument/2006/relationships/image" Target="../media/image2.png"/><Relationship Id="rId78" Type="http://schemas.openxmlformats.org/officeDocument/2006/relationships/image" Target="../media/image7.png"/><Relationship Id="rId81" Type="http://schemas.openxmlformats.org/officeDocument/2006/relationships/image" Target="../media/image10.png"/><Relationship Id="rId86" Type="http://schemas.openxmlformats.org/officeDocument/2006/relationships/image" Target="../media/image20.png"/><Relationship Id="rId94" Type="http://schemas.openxmlformats.org/officeDocument/2006/relationships/image" Target="../media/image28.png"/><Relationship Id="rId99" Type="http://schemas.openxmlformats.org/officeDocument/2006/relationships/image" Target="../media/image33.png"/><Relationship Id="rId69" Type="http://schemas.openxmlformats.org/officeDocument/2006/relationships/image" Target="../media/image16.png"/><Relationship Id="rId77" Type="http://schemas.openxmlformats.org/officeDocument/2006/relationships/image" Target="../media/image6.png"/><Relationship Id="rId100" Type="http://schemas.openxmlformats.org/officeDocument/2006/relationships/image" Target="../media/image34.png"/><Relationship Id="rId72" Type="http://schemas.openxmlformats.org/officeDocument/2006/relationships/image" Target="../media/image1.png"/><Relationship Id="rId80" Type="http://schemas.openxmlformats.org/officeDocument/2006/relationships/image" Target="../media/image9.png"/><Relationship Id="rId85" Type="http://schemas.openxmlformats.org/officeDocument/2006/relationships/image" Target="../media/image19.png"/><Relationship Id="rId93" Type="http://schemas.openxmlformats.org/officeDocument/2006/relationships/image" Target="../media/image27.png"/><Relationship Id="rId98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 174">
            <a:extLst>
              <a:ext uri="{FF2B5EF4-FFF2-40B4-BE49-F238E27FC236}">
                <a16:creationId xmlns:a16="http://schemas.microsoft.com/office/drawing/2014/main" id="{6CAE9398-CF71-4947-9A63-50D9DAA3FEB0}"/>
              </a:ext>
            </a:extLst>
          </p:cNvPr>
          <p:cNvSpPr/>
          <p:nvPr/>
        </p:nvSpPr>
        <p:spPr>
          <a:xfrm>
            <a:off x="88088" y="62974"/>
            <a:ext cx="11388592" cy="6935851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902" dirty="0"/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CE069318-8684-4001-B44E-A137A21E0FC0}"/>
              </a:ext>
            </a:extLst>
          </p:cNvPr>
          <p:cNvGrpSpPr/>
          <p:nvPr/>
        </p:nvGrpSpPr>
        <p:grpSpPr>
          <a:xfrm>
            <a:off x="796395" y="67092"/>
            <a:ext cx="2136771" cy="757731"/>
            <a:chOff x="1578412" y="292187"/>
            <a:chExt cx="2057568" cy="73139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9A72051-E5BF-41C2-BDAA-17086FEC51FF}"/>
                </a:ext>
              </a:extLst>
            </p:cNvPr>
            <p:cNvSpPr/>
            <p:nvPr/>
          </p:nvSpPr>
          <p:spPr>
            <a:xfrm>
              <a:off x="1578412" y="630746"/>
              <a:ext cx="2057568" cy="392837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9F379769-6EDC-4AD9-8B90-9E736D297D63}"/>
                    </a:ext>
                  </a:extLst>
                </p:cNvPr>
                <p:cNvSpPr txBox="1"/>
                <p:nvPr/>
              </p:nvSpPr>
              <p:spPr>
                <a:xfrm>
                  <a:off x="1848537" y="292187"/>
                  <a:ext cx="1569660" cy="2812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68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输入流量批次</a:t>
                  </a:r>
                  <a:r>
                    <a:rPr lang="en-US" altLang="zh-CN" sz="1268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zh-CN" altLang="en-US" sz="1268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𝜒</m:t>
                      </m:r>
                    </m:oMath>
                  </a14:m>
                  <a:r>
                    <a:rPr lang="en-US" altLang="zh-CN" sz="1268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)</a:t>
                  </a:r>
                  <a:endPara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9F379769-6EDC-4AD9-8B90-9E736D297D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8537" y="292187"/>
                  <a:ext cx="1569660" cy="281295"/>
                </a:xfrm>
                <a:prstGeom prst="rect">
                  <a:avLst/>
                </a:prstGeom>
                <a:blipFill>
                  <a:blip r:embed="rId67"/>
                  <a:stretch>
                    <a:fillRect l="-375" t="-2083" b="-145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流程图: 接点 7">
                  <a:extLst>
                    <a:ext uri="{FF2B5EF4-FFF2-40B4-BE49-F238E27FC236}">
                      <a16:creationId xmlns:a16="http://schemas.microsoft.com/office/drawing/2014/main" id="{E2FB2813-E045-4C43-8691-E6C24C80EE8B}"/>
                    </a:ext>
                  </a:extLst>
                </p:cNvPr>
                <p:cNvSpPr/>
                <p:nvPr/>
              </p:nvSpPr>
              <p:spPr>
                <a:xfrm>
                  <a:off x="1697737" y="683774"/>
                  <a:ext cx="284400" cy="282575"/>
                </a:xfrm>
                <a:prstGeom prst="flowChartConnector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流程图: 接点 7">
                  <a:extLst>
                    <a:ext uri="{FF2B5EF4-FFF2-40B4-BE49-F238E27FC236}">
                      <a16:creationId xmlns:a16="http://schemas.microsoft.com/office/drawing/2014/main" id="{E2FB2813-E045-4C43-8691-E6C24C80EE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7737" y="683774"/>
                  <a:ext cx="284400" cy="282575"/>
                </a:xfrm>
                <a:prstGeom prst="flowChartConnector">
                  <a:avLst/>
                </a:prstGeom>
                <a:blipFill>
                  <a:blip r:embed="rId68"/>
                  <a:stretch>
                    <a:fillRect l="-4167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流程图: 接点 8">
                  <a:extLst>
                    <a:ext uri="{FF2B5EF4-FFF2-40B4-BE49-F238E27FC236}">
                      <a16:creationId xmlns:a16="http://schemas.microsoft.com/office/drawing/2014/main" id="{D854E323-F739-405D-90CA-2E4FA8F7B006}"/>
                    </a:ext>
                  </a:extLst>
                </p:cNvPr>
                <p:cNvSpPr/>
                <p:nvPr/>
              </p:nvSpPr>
              <p:spPr>
                <a:xfrm>
                  <a:off x="2108634" y="683774"/>
                  <a:ext cx="284400" cy="282575"/>
                </a:xfrm>
                <a:prstGeom prst="flowChartConnector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流程图: 接点 8">
                  <a:extLst>
                    <a:ext uri="{FF2B5EF4-FFF2-40B4-BE49-F238E27FC236}">
                      <a16:creationId xmlns:a16="http://schemas.microsoft.com/office/drawing/2014/main" id="{D854E323-F739-405D-90CA-2E4FA8F7B0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8634" y="683774"/>
                  <a:ext cx="284400" cy="282575"/>
                </a:xfrm>
                <a:prstGeom prst="flowChartConnector">
                  <a:avLst/>
                </a:prstGeom>
                <a:blipFill>
                  <a:blip r:embed="rId69"/>
                  <a:stretch>
                    <a:fillRect l="-4082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流程图: 接点 9">
                  <a:extLst>
                    <a:ext uri="{FF2B5EF4-FFF2-40B4-BE49-F238E27FC236}">
                      <a16:creationId xmlns:a16="http://schemas.microsoft.com/office/drawing/2014/main" id="{26B9D1D7-D2D3-4C5E-B270-9D0E374FCD8C}"/>
                    </a:ext>
                  </a:extLst>
                </p:cNvPr>
                <p:cNvSpPr/>
                <p:nvPr/>
              </p:nvSpPr>
              <p:spPr>
                <a:xfrm>
                  <a:off x="2519531" y="683774"/>
                  <a:ext cx="284400" cy="282575"/>
                </a:xfrm>
                <a:prstGeom prst="flowChartConnector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流程图: 接点 9">
                  <a:extLst>
                    <a:ext uri="{FF2B5EF4-FFF2-40B4-BE49-F238E27FC236}">
                      <a16:creationId xmlns:a16="http://schemas.microsoft.com/office/drawing/2014/main" id="{26B9D1D7-D2D3-4C5E-B270-9D0E374FCD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9531" y="683774"/>
                  <a:ext cx="284400" cy="282575"/>
                </a:xfrm>
                <a:prstGeom prst="flowChartConnector">
                  <a:avLst/>
                </a:prstGeom>
                <a:blipFill>
                  <a:blip r:embed="rId70"/>
                  <a:stretch>
                    <a:fillRect l="-2041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F6CAE02-AC72-4C98-9893-7B8E0C22B202}"/>
                </a:ext>
              </a:extLst>
            </p:cNvPr>
            <p:cNvSpPr txBox="1"/>
            <p:nvPr/>
          </p:nvSpPr>
          <p:spPr>
            <a:xfrm>
              <a:off x="2782374" y="593286"/>
              <a:ext cx="430970" cy="371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902" b="1" dirty="0"/>
                <a:t>....</a:t>
              </a:r>
              <a:endParaRPr lang="zh-CN" altLang="en-US" sz="1902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流程图: 接点 11">
                  <a:extLst>
                    <a:ext uri="{FF2B5EF4-FFF2-40B4-BE49-F238E27FC236}">
                      <a16:creationId xmlns:a16="http://schemas.microsoft.com/office/drawing/2014/main" id="{ED511816-0C8C-4BFC-AC89-B082942C6E88}"/>
                    </a:ext>
                  </a:extLst>
                </p:cNvPr>
                <p:cNvSpPr/>
                <p:nvPr/>
              </p:nvSpPr>
              <p:spPr>
                <a:xfrm>
                  <a:off x="3191460" y="683774"/>
                  <a:ext cx="284400" cy="282575"/>
                </a:xfrm>
                <a:prstGeom prst="flowChartConnector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流程图: 接点 11">
                  <a:extLst>
                    <a:ext uri="{FF2B5EF4-FFF2-40B4-BE49-F238E27FC236}">
                      <a16:creationId xmlns:a16="http://schemas.microsoft.com/office/drawing/2014/main" id="{ED511816-0C8C-4BFC-AC89-B082942C6E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1460" y="683774"/>
                  <a:ext cx="284400" cy="282575"/>
                </a:xfrm>
                <a:prstGeom prst="flowChartConnector">
                  <a:avLst/>
                </a:prstGeom>
                <a:blipFill>
                  <a:blip r:embed="rId71"/>
                  <a:stretch>
                    <a:fillRect l="-2083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EDFBDC9-435C-4403-B698-52830D524B7C}"/>
              </a:ext>
            </a:extLst>
          </p:cNvPr>
          <p:cNvSpPr/>
          <p:nvPr/>
        </p:nvSpPr>
        <p:spPr>
          <a:xfrm>
            <a:off x="393307" y="1422100"/>
            <a:ext cx="2792673" cy="49198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 dirty="0"/>
          </a:p>
        </p:txBody>
      </p:sp>
      <p:sp>
        <p:nvSpPr>
          <p:cNvPr id="102" name="流程图: 可选过程 101">
            <a:extLst>
              <a:ext uri="{FF2B5EF4-FFF2-40B4-BE49-F238E27FC236}">
                <a16:creationId xmlns:a16="http://schemas.microsoft.com/office/drawing/2014/main" id="{B29C87A2-A2DB-4189-93AC-32B1A3F1EAA9}"/>
              </a:ext>
            </a:extLst>
          </p:cNvPr>
          <p:cNvSpPr/>
          <p:nvPr/>
        </p:nvSpPr>
        <p:spPr>
          <a:xfrm>
            <a:off x="644641" y="1867916"/>
            <a:ext cx="2321241" cy="2166507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ED139574-233A-4E94-B930-8B814A80AF34}"/>
              </a:ext>
            </a:extLst>
          </p:cNvPr>
          <p:cNvSpPr txBox="1"/>
          <p:nvPr/>
        </p:nvSpPr>
        <p:spPr>
          <a:xfrm>
            <a:off x="1432660" y="4058207"/>
            <a:ext cx="1630082" cy="26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特征提取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751A144-92CA-4A73-B0D0-51AD7796B3B5}"/>
              </a:ext>
            </a:extLst>
          </p:cNvPr>
          <p:cNvSpPr txBox="1"/>
          <p:nvPr/>
        </p:nvSpPr>
        <p:spPr>
          <a:xfrm>
            <a:off x="1579634" y="1877140"/>
            <a:ext cx="536348" cy="287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68" b="1" dirty="0">
                <a:latin typeface="宋体" panose="02010600030101010101" pitchFamily="2" charset="-122"/>
                <a:ea typeface="宋体" panose="02010600030101010101" pitchFamily="2" charset="-122"/>
              </a:rPr>
              <a:t>WPAT</a:t>
            </a:r>
            <a:endParaRPr lang="zh-CN" altLang="en-US" sz="1268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8" name="箭头: 右 137">
            <a:extLst>
              <a:ext uri="{FF2B5EF4-FFF2-40B4-BE49-F238E27FC236}">
                <a16:creationId xmlns:a16="http://schemas.microsoft.com/office/drawing/2014/main" id="{EE23D1AD-1E73-4326-83CC-95DC5AF45B0B}"/>
              </a:ext>
            </a:extLst>
          </p:cNvPr>
          <p:cNvSpPr/>
          <p:nvPr/>
        </p:nvSpPr>
        <p:spPr>
          <a:xfrm rot="5400000">
            <a:off x="1627429" y="4357577"/>
            <a:ext cx="429239" cy="312247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A0625C7-4943-4B76-A922-0DFDA877DE16}"/>
              </a:ext>
            </a:extLst>
          </p:cNvPr>
          <p:cNvGrpSpPr/>
          <p:nvPr/>
        </p:nvGrpSpPr>
        <p:grpSpPr>
          <a:xfrm>
            <a:off x="1010714" y="4650548"/>
            <a:ext cx="2136772" cy="479410"/>
            <a:chOff x="968140" y="4976081"/>
            <a:chExt cx="2136772" cy="479410"/>
          </a:xfrm>
        </p:grpSpPr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DF11934E-AB79-49A6-BCC9-E3415562A68B}"/>
                </a:ext>
              </a:extLst>
            </p:cNvPr>
            <p:cNvSpPr/>
            <p:nvPr/>
          </p:nvSpPr>
          <p:spPr>
            <a:xfrm>
              <a:off x="968140" y="5048509"/>
              <a:ext cx="2136772" cy="4069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流程图: 接点 113">
                  <a:extLst>
                    <a:ext uri="{FF2B5EF4-FFF2-40B4-BE49-F238E27FC236}">
                      <a16:creationId xmlns:a16="http://schemas.microsoft.com/office/drawing/2014/main" id="{13BD6FE1-6EF7-45AD-827C-852682432A53}"/>
                    </a:ext>
                  </a:extLst>
                </p:cNvPr>
                <p:cNvSpPr/>
                <p:nvPr/>
              </p:nvSpPr>
              <p:spPr>
                <a:xfrm>
                  <a:off x="1092058" y="5069828"/>
                  <a:ext cx="295348" cy="292750"/>
                </a:xfrm>
                <a:prstGeom prst="flowChartConnector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4" name="流程图: 接点 113">
                  <a:extLst>
                    <a:ext uri="{FF2B5EF4-FFF2-40B4-BE49-F238E27FC236}">
                      <a16:creationId xmlns:a16="http://schemas.microsoft.com/office/drawing/2014/main" id="{13BD6FE1-6EF7-45AD-827C-852682432A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058" y="5069828"/>
                  <a:ext cx="295348" cy="292750"/>
                </a:xfrm>
                <a:prstGeom prst="flowChartConnector">
                  <a:avLst/>
                </a:prstGeom>
                <a:blipFill>
                  <a:blip r:embed="rId72"/>
                  <a:stretch>
                    <a:fillRect l="-1961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流程图: 接点 114">
                  <a:extLst>
                    <a:ext uri="{FF2B5EF4-FFF2-40B4-BE49-F238E27FC236}">
                      <a16:creationId xmlns:a16="http://schemas.microsoft.com/office/drawing/2014/main" id="{BD76AD70-FAF1-4C27-BEDF-3B820BAED44C}"/>
                    </a:ext>
                  </a:extLst>
                </p:cNvPr>
                <p:cNvSpPr/>
                <p:nvPr/>
              </p:nvSpPr>
              <p:spPr>
                <a:xfrm>
                  <a:off x="1518772" y="5069828"/>
                  <a:ext cx="295348" cy="292750"/>
                </a:xfrm>
                <a:prstGeom prst="flowChartConnector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5" name="流程图: 接点 114">
                  <a:extLst>
                    <a:ext uri="{FF2B5EF4-FFF2-40B4-BE49-F238E27FC236}">
                      <a16:creationId xmlns:a16="http://schemas.microsoft.com/office/drawing/2014/main" id="{BD76AD70-FAF1-4C27-BEDF-3B820BAED4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8772" y="5069828"/>
                  <a:ext cx="295348" cy="292750"/>
                </a:xfrm>
                <a:prstGeom prst="flowChartConnector">
                  <a:avLst/>
                </a:prstGeom>
                <a:blipFill>
                  <a:blip r:embed="rId73"/>
                  <a:stretch>
                    <a:fillRect l="-1961" b="-4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" name="流程图: 接点 115">
                  <a:extLst>
                    <a:ext uri="{FF2B5EF4-FFF2-40B4-BE49-F238E27FC236}">
                      <a16:creationId xmlns:a16="http://schemas.microsoft.com/office/drawing/2014/main" id="{684F530E-B0D9-4140-BE95-00F4103E85D1}"/>
                    </a:ext>
                  </a:extLst>
                </p:cNvPr>
                <p:cNvSpPr/>
                <p:nvPr/>
              </p:nvSpPr>
              <p:spPr>
                <a:xfrm>
                  <a:off x="1945485" y="5069828"/>
                  <a:ext cx="295348" cy="292750"/>
                </a:xfrm>
                <a:prstGeom prst="flowChartConnector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6" name="流程图: 接点 115">
                  <a:extLst>
                    <a:ext uri="{FF2B5EF4-FFF2-40B4-BE49-F238E27FC236}">
                      <a16:creationId xmlns:a16="http://schemas.microsoft.com/office/drawing/2014/main" id="{684F530E-B0D9-4140-BE95-00F4103E85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5485" y="5069828"/>
                  <a:ext cx="295348" cy="292750"/>
                </a:xfrm>
                <a:prstGeom prst="flowChartConnector">
                  <a:avLst/>
                </a:prstGeom>
                <a:blipFill>
                  <a:blip r:embed="rId74"/>
                  <a:stretch>
                    <a:fillRect l="-1961" b="-2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BCEBD0D2-61DC-48F0-AAD0-33A338557124}"/>
                </a:ext>
              </a:extLst>
            </p:cNvPr>
            <p:cNvSpPr txBox="1"/>
            <p:nvPr/>
          </p:nvSpPr>
          <p:spPr>
            <a:xfrm>
              <a:off x="2218447" y="4976081"/>
              <a:ext cx="447560" cy="385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902" b="1" dirty="0"/>
                <a:t>....</a:t>
              </a:r>
              <a:endParaRPr lang="zh-CN" altLang="en-US" sz="1902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流程图: 接点 117">
                  <a:extLst>
                    <a:ext uri="{FF2B5EF4-FFF2-40B4-BE49-F238E27FC236}">
                      <a16:creationId xmlns:a16="http://schemas.microsoft.com/office/drawing/2014/main" id="{7228B747-79E3-4D74-A476-BEDF81C1EE9A}"/>
                    </a:ext>
                  </a:extLst>
                </p:cNvPr>
                <p:cNvSpPr/>
                <p:nvPr/>
              </p:nvSpPr>
              <p:spPr>
                <a:xfrm>
                  <a:off x="2643281" y="5069826"/>
                  <a:ext cx="295348" cy="292750"/>
                </a:xfrm>
                <a:prstGeom prst="flowChartConnector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8" name="流程图: 接点 117">
                  <a:extLst>
                    <a:ext uri="{FF2B5EF4-FFF2-40B4-BE49-F238E27FC236}">
                      <a16:creationId xmlns:a16="http://schemas.microsoft.com/office/drawing/2014/main" id="{7228B747-79E3-4D74-A476-BEDF81C1EE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3281" y="5069826"/>
                  <a:ext cx="295348" cy="292750"/>
                </a:xfrm>
                <a:prstGeom prst="flowChartConnector">
                  <a:avLst/>
                </a:prstGeom>
                <a:blipFill>
                  <a:blip r:embed="rId75"/>
                  <a:stretch>
                    <a:fillRect l="-4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72D61DB-734F-4D3E-BE82-782C1123E9C6}"/>
              </a:ext>
            </a:extLst>
          </p:cNvPr>
          <p:cNvGrpSpPr/>
          <p:nvPr/>
        </p:nvGrpSpPr>
        <p:grpSpPr>
          <a:xfrm>
            <a:off x="843289" y="4911461"/>
            <a:ext cx="2136771" cy="452644"/>
            <a:chOff x="906412" y="5188128"/>
            <a:chExt cx="2136771" cy="452644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9A140147-632F-4023-ABC6-536E13D6EB3E}"/>
                </a:ext>
              </a:extLst>
            </p:cNvPr>
            <p:cNvSpPr/>
            <p:nvPr/>
          </p:nvSpPr>
          <p:spPr>
            <a:xfrm>
              <a:off x="906412" y="5233791"/>
              <a:ext cx="2136771" cy="406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流程图: 接点 119">
                  <a:extLst>
                    <a:ext uri="{FF2B5EF4-FFF2-40B4-BE49-F238E27FC236}">
                      <a16:creationId xmlns:a16="http://schemas.microsoft.com/office/drawing/2014/main" id="{4B74A76B-44E5-493F-A518-8FBCFE99B390}"/>
                    </a:ext>
                  </a:extLst>
                </p:cNvPr>
                <p:cNvSpPr/>
                <p:nvPr/>
              </p:nvSpPr>
              <p:spPr>
                <a:xfrm>
                  <a:off x="1030330" y="5288729"/>
                  <a:ext cx="295348" cy="292750"/>
                </a:xfrm>
                <a:prstGeom prst="flowChartConnector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0" name="流程图: 接点 119">
                  <a:extLst>
                    <a:ext uri="{FF2B5EF4-FFF2-40B4-BE49-F238E27FC236}">
                      <a16:creationId xmlns:a16="http://schemas.microsoft.com/office/drawing/2014/main" id="{4B74A76B-44E5-493F-A518-8FBCFE99B3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330" y="5288729"/>
                  <a:ext cx="295348" cy="292750"/>
                </a:xfrm>
                <a:prstGeom prst="flowChartConnector">
                  <a:avLst/>
                </a:prstGeom>
                <a:blipFill>
                  <a:blip r:embed="rId76"/>
                  <a:stretch>
                    <a:fillRect l="-4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流程图: 接点 120">
                  <a:extLst>
                    <a:ext uri="{FF2B5EF4-FFF2-40B4-BE49-F238E27FC236}">
                      <a16:creationId xmlns:a16="http://schemas.microsoft.com/office/drawing/2014/main" id="{F1A3BBE3-E1E3-4473-83D5-B53F00CA6E6E}"/>
                    </a:ext>
                  </a:extLst>
                </p:cNvPr>
                <p:cNvSpPr/>
                <p:nvPr/>
              </p:nvSpPr>
              <p:spPr>
                <a:xfrm>
                  <a:off x="1457044" y="5288729"/>
                  <a:ext cx="295348" cy="292750"/>
                </a:xfrm>
                <a:prstGeom prst="flowChartConnector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1" name="流程图: 接点 120">
                  <a:extLst>
                    <a:ext uri="{FF2B5EF4-FFF2-40B4-BE49-F238E27FC236}">
                      <a16:creationId xmlns:a16="http://schemas.microsoft.com/office/drawing/2014/main" id="{F1A3BBE3-E1E3-4473-83D5-B53F00CA6E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044" y="5288729"/>
                  <a:ext cx="295348" cy="292750"/>
                </a:xfrm>
                <a:prstGeom prst="flowChartConnector">
                  <a:avLst/>
                </a:prstGeom>
                <a:blipFill>
                  <a:blip r:embed="rId77"/>
                  <a:stretch>
                    <a:fillRect l="-4000" b="-2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流程图: 接点 121">
                  <a:extLst>
                    <a:ext uri="{FF2B5EF4-FFF2-40B4-BE49-F238E27FC236}">
                      <a16:creationId xmlns:a16="http://schemas.microsoft.com/office/drawing/2014/main" id="{A1F60C42-847E-49D9-BFD4-23ABCC87637A}"/>
                    </a:ext>
                  </a:extLst>
                </p:cNvPr>
                <p:cNvSpPr/>
                <p:nvPr/>
              </p:nvSpPr>
              <p:spPr>
                <a:xfrm>
                  <a:off x="1883757" y="5288729"/>
                  <a:ext cx="295348" cy="292750"/>
                </a:xfrm>
                <a:prstGeom prst="flowChartConnector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2" name="流程图: 接点 121">
                  <a:extLst>
                    <a:ext uri="{FF2B5EF4-FFF2-40B4-BE49-F238E27FC236}">
                      <a16:creationId xmlns:a16="http://schemas.microsoft.com/office/drawing/2014/main" id="{A1F60C42-847E-49D9-BFD4-23ABCC8763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3757" y="5288729"/>
                  <a:ext cx="295348" cy="292750"/>
                </a:xfrm>
                <a:prstGeom prst="flowChartConnector">
                  <a:avLst/>
                </a:prstGeom>
                <a:blipFill>
                  <a:blip r:embed="rId78"/>
                  <a:stretch>
                    <a:fillRect l="-4000" b="-2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FECF45D0-3614-4F66-84DD-FDEA1B7AD57B}"/>
                </a:ext>
              </a:extLst>
            </p:cNvPr>
            <p:cNvSpPr txBox="1"/>
            <p:nvPr/>
          </p:nvSpPr>
          <p:spPr>
            <a:xfrm>
              <a:off x="2162949" y="5188128"/>
              <a:ext cx="447560" cy="385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902" b="1" dirty="0"/>
                <a:t>....</a:t>
              </a:r>
              <a:endParaRPr lang="zh-CN" altLang="en-US" sz="1902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流程图: 接点 123">
                  <a:extLst>
                    <a:ext uri="{FF2B5EF4-FFF2-40B4-BE49-F238E27FC236}">
                      <a16:creationId xmlns:a16="http://schemas.microsoft.com/office/drawing/2014/main" id="{4E44057D-9523-4C5B-8E3F-EC2032C770F1}"/>
                    </a:ext>
                  </a:extLst>
                </p:cNvPr>
                <p:cNvSpPr/>
                <p:nvPr/>
              </p:nvSpPr>
              <p:spPr>
                <a:xfrm>
                  <a:off x="2581551" y="5288728"/>
                  <a:ext cx="295348" cy="292750"/>
                </a:xfrm>
                <a:prstGeom prst="flowChartConnector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4" name="流程图: 接点 123">
                  <a:extLst>
                    <a:ext uri="{FF2B5EF4-FFF2-40B4-BE49-F238E27FC236}">
                      <a16:creationId xmlns:a16="http://schemas.microsoft.com/office/drawing/2014/main" id="{4E44057D-9523-4C5B-8E3F-EC2032C770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1551" y="5288728"/>
                  <a:ext cx="295348" cy="292750"/>
                </a:xfrm>
                <a:prstGeom prst="flowChartConnector">
                  <a:avLst/>
                </a:prstGeom>
                <a:blipFill>
                  <a:blip r:embed="rId79"/>
                  <a:stretch>
                    <a:fillRect l="-1961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A46C7CD-DB35-4379-B208-B0E0930CB19D}"/>
              </a:ext>
            </a:extLst>
          </p:cNvPr>
          <p:cNvGrpSpPr/>
          <p:nvPr/>
        </p:nvGrpSpPr>
        <p:grpSpPr>
          <a:xfrm>
            <a:off x="677607" y="5152860"/>
            <a:ext cx="2136771" cy="470923"/>
            <a:chOff x="773664" y="5365585"/>
            <a:chExt cx="2136771" cy="470923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19DEA00D-27FF-4640-9C23-F1CA92121AC6}"/>
                </a:ext>
              </a:extLst>
            </p:cNvPr>
            <p:cNvSpPr/>
            <p:nvPr/>
          </p:nvSpPr>
          <p:spPr>
            <a:xfrm>
              <a:off x="773664" y="5429527"/>
              <a:ext cx="2136771" cy="406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流程图: 接点 125">
                  <a:extLst>
                    <a:ext uri="{FF2B5EF4-FFF2-40B4-BE49-F238E27FC236}">
                      <a16:creationId xmlns:a16="http://schemas.microsoft.com/office/drawing/2014/main" id="{FB88A7BD-3800-4BC2-9E10-BC0B437AA88E}"/>
                    </a:ext>
                  </a:extLst>
                </p:cNvPr>
                <p:cNvSpPr/>
                <p:nvPr/>
              </p:nvSpPr>
              <p:spPr>
                <a:xfrm>
                  <a:off x="897583" y="5484464"/>
                  <a:ext cx="295348" cy="292750"/>
                </a:xfrm>
                <a:prstGeom prst="flowChartConnector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6" name="流程图: 接点 125">
                  <a:extLst>
                    <a:ext uri="{FF2B5EF4-FFF2-40B4-BE49-F238E27FC236}">
                      <a16:creationId xmlns:a16="http://schemas.microsoft.com/office/drawing/2014/main" id="{FB88A7BD-3800-4BC2-9E10-BC0B437AA8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583" y="5484464"/>
                  <a:ext cx="295348" cy="292750"/>
                </a:xfrm>
                <a:prstGeom prst="flowChartConnector">
                  <a:avLst/>
                </a:prstGeom>
                <a:blipFill>
                  <a:blip r:embed="rId80"/>
                  <a:stretch>
                    <a:fillRect l="-1961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流程图: 接点 126">
                  <a:extLst>
                    <a:ext uri="{FF2B5EF4-FFF2-40B4-BE49-F238E27FC236}">
                      <a16:creationId xmlns:a16="http://schemas.microsoft.com/office/drawing/2014/main" id="{0B82C47B-C6DD-4BBC-AB6B-C9B01FBD0878}"/>
                    </a:ext>
                  </a:extLst>
                </p:cNvPr>
                <p:cNvSpPr/>
                <p:nvPr/>
              </p:nvSpPr>
              <p:spPr>
                <a:xfrm>
                  <a:off x="1324297" y="5484464"/>
                  <a:ext cx="295348" cy="292750"/>
                </a:xfrm>
                <a:prstGeom prst="flowChartConnector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7" name="流程图: 接点 126">
                  <a:extLst>
                    <a:ext uri="{FF2B5EF4-FFF2-40B4-BE49-F238E27FC236}">
                      <a16:creationId xmlns:a16="http://schemas.microsoft.com/office/drawing/2014/main" id="{0B82C47B-C6DD-4BBC-AB6B-C9B01FBD08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4297" y="5484464"/>
                  <a:ext cx="295348" cy="292750"/>
                </a:xfrm>
                <a:prstGeom prst="flowChartConnector">
                  <a:avLst/>
                </a:prstGeom>
                <a:blipFill>
                  <a:blip r:embed="rId81"/>
                  <a:stretch>
                    <a:fillRect l="-1961" b="-2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流程图: 接点 127">
                  <a:extLst>
                    <a:ext uri="{FF2B5EF4-FFF2-40B4-BE49-F238E27FC236}">
                      <a16:creationId xmlns:a16="http://schemas.microsoft.com/office/drawing/2014/main" id="{440696EE-D303-4461-A527-E170A2882A95}"/>
                    </a:ext>
                  </a:extLst>
                </p:cNvPr>
                <p:cNvSpPr/>
                <p:nvPr/>
              </p:nvSpPr>
              <p:spPr>
                <a:xfrm>
                  <a:off x="1751011" y="5484464"/>
                  <a:ext cx="295348" cy="292750"/>
                </a:xfrm>
                <a:prstGeom prst="flowChartConnector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8" name="流程图: 接点 127">
                  <a:extLst>
                    <a:ext uri="{FF2B5EF4-FFF2-40B4-BE49-F238E27FC236}">
                      <a16:creationId xmlns:a16="http://schemas.microsoft.com/office/drawing/2014/main" id="{440696EE-D303-4461-A527-E170A2882A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1011" y="5484464"/>
                  <a:ext cx="295348" cy="292750"/>
                </a:xfrm>
                <a:prstGeom prst="flowChartConnector">
                  <a:avLst/>
                </a:prstGeom>
                <a:blipFill>
                  <a:blip r:embed="rId82"/>
                  <a:stretch>
                    <a:fillRect l="-1961" b="-2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FDDA2B57-7525-455D-BA05-397D650C79D9}"/>
                </a:ext>
              </a:extLst>
            </p:cNvPr>
            <p:cNvSpPr txBox="1"/>
            <p:nvPr/>
          </p:nvSpPr>
          <p:spPr>
            <a:xfrm>
              <a:off x="2016359" y="5365585"/>
              <a:ext cx="447560" cy="385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902" b="1" dirty="0"/>
                <a:t>....</a:t>
              </a:r>
              <a:endParaRPr lang="zh-CN" altLang="en-US" sz="1902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流程图: 接点 129">
                  <a:extLst>
                    <a:ext uri="{FF2B5EF4-FFF2-40B4-BE49-F238E27FC236}">
                      <a16:creationId xmlns:a16="http://schemas.microsoft.com/office/drawing/2014/main" id="{C000CBA6-DB60-4F81-9DAA-FE1330A48C78}"/>
                    </a:ext>
                  </a:extLst>
                </p:cNvPr>
                <p:cNvSpPr/>
                <p:nvPr/>
              </p:nvSpPr>
              <p:spPr>
                <a:xfrm>
                  <a:off x="2448804" y="5484461"/>
                  <a:ext cx="295348" cy="292750"/>
                </a:xfrm>
                <a:prstGeom prst="flowChartConnector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30" name="流程图: 接点 129">
                  <a:extLst>
                    <a:ext uri="{FF2B5EF4-FFF2-40B4-BE49-F238E27FC236}">
                      <a16:creationId xmlns:a16="http://schemas.microsoft.com/office/drawing/2014/main" id="{C000CBA6-DB60-4F81-9DAA-FE1330A48C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8804" y="5484461"/>
                  <a:ext cx="295348" cy="292750"/>
                </a:xfrm>
                <a:prstGeom prst="flowChartConnector">
                  <a:avLst/>
                </a:prstGeom>
                <a:blipFill>
                  <a:blip r:embed="rId83"/>
                  <a:stretch>
                    <a:fillRect l="-2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97D9F89-8C5D-4357-BA8C-07FD10291A2A}"/>
              </a:ext>
            </a:extLst>
          </p:cNvPr>
          <p:cNvGrpSpPr/>
          <p:nvPr/>
        </p:nvGrpSpPr>
        <p:grpSpPr>
          <a:xfrm>
            <a:off x="502708" y="5413293"/>
            <a:ext cx="2136771" cy="445789"/>
            <a:chOff x="684006" y="5654385"/>
            <a:chExt cx="2136771" cy="445789"/>
          </a:xfrm>
        </p:grpSpPr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8024AC35-4B45-4BF7-8D35-A1DCBA0A2364}"/>
                </a:ext>
              </a:extLst>
            </p:cNvPr>
            <p:cNvSpPr/>
            <p:nvPr/>
          </p:nvSpPr>
          <p:spPr>
            <a:xfrm>
              <a:off x="684006" y="5693193"/>
              <a:ext cx="2136771" cy="406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流程图: 接点 131">
                  <a:extLst>
                    <a:ext uri="{FF2B5EF4-FFF2-40B4-BE49-F238E27FC236}">
                      <a16:creationId xmlns:a16="http://schemas.microsoft.com/office/drawing/2014/main" id="{9A55E81C-92E6-4CF5-B3F4-38F1F2E93674}"/>
                    </a:ext>
                  </a:extLst>
                </p:cNvPr>
                <p:cNvSpPr/>
                <p:nvPr/>
              </p:nvSpPr>
              <p:spPr>
                <a:xfrm>
                  <a:off x="807924" y="5748131"/>
                  <a:ext cx="295348" cy="292750"/>
                </a:xfrm>
                <a:prstGeom prst="flowChartConnector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32" name="流程图: 接点 131">
                  <a:extLst>
                    <a:ext uri="{FF2B5EF4-FFF2-40B4-BE49-F238E27FC236}">
                      <a16:creationId xmlns:a16="http://schemas.microsoft.com/office/drawing/2014/main" id="{9A55E81C-92E6-4CF5-B3F4-38F1F2E936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924" y="5748131"/>
                  <a:ext cx="295348" cy="292750"/>
                </a:xfrm>
                <a:prstGeom prst="flowChartConnector">
                  <a:avLst/>
                </a:prstGeom>
                <a:blipFill>
                  <a:blip r:embed="rId84"/>
                  <a:stretch>
                    <a:fillRect l="-2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" name="流程图: 接点 132">
                  <a:extLst>
                    <a:ext uri="{FF2B5EF4-FFF2-40B4-BE49-F238E27FC236}">
                      <a16:creationId xmlns:a16="http://schemas.microsoft.com/office/drawing/2014/main" id="{8856CD59-1067-4986-8898-B7B4A9F6FA79}"/>
                    </a:ext>
                  </a:extLst>
                </p:cNvPr>
                <p:cNvSpPr/>
                <p:nvPr/>
              </p:nvSpPr>
              <p:spPr>
                <a:xfrm>
                  <a:off x="1234638" y="5748131"/>
                  <a:ext cx="295348" cy="292750"/>
                </a:xfrm>
                <a:prstGeom prst="flowChartConnector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33" name="流程图: 接点 132">
                  <a:extLst>
                    <a:ext uri="{FF2B5EF4-FFF2-40B4-BE49-F238E27FC236}">
                      <a16:creationId xmlns:a16="http://schemas.microsoft.com/office/drawing/2014/main" id="{8856CD59-1067-4986-8898-B7B4A9F6FA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4638" y="5748131"/>
                  <a:ext cx="295348" cy="292750"/>
                </a:xfrm>
                <a:prstGeom prst="flowChartConnector">
                  <a:avLst/>
                </a:prstGeom>
                <a:blipFill>
                  <a:blip r:embed="rId85"/>
                  <a:stretch>
                    <a:fillRect l="-2000" b="-4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" name="流程图: 接点 133">
                  <a:extLst>
                    <a:ext uri="{FF2B5EF4-FFF2-40B4-BE49-F238E27FC236}">
                      <a16:creationId xmlns:a16="http://schemas.microsoft.com/office/drawing/2014/main" id="{C459513B-E595-4E97-9A41-A193DF313EA9}"/>
                    </a:ext>
                  </a:extLst>
                </p:cNvPr>
                <p:cNvSpPr/>
                <p:nvPr/>
              </p:nvSpPr>
              <p:spPr>
                <a:xfrm>
                  <a:off x="1661352" y="5748131"/>
                  <a:ext cx="295348" cy="292750"/>
                </a:xfrm>
                <a:prstGeom prst="flowChartConnector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34" name="流程图: 接点 133">
                  <a:extLst>
                    <a:ext uri="{FF2B5EF4-FFF2-40B4-BE49-F238E27FC236}">
                      <a16:creationId xmlns:a16="http://schemas.microsoft.com/office/drawing/2014/main" id="{C459513B-E595-4E97-9A41-A193DF313E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1352" y="5748131"/>
                  <a:ext cx="295348" cy="292750"/>
                </a:xfrm>
                <a:prstGeom prst="flowChartConnector">
                  <a:avLst/>
                </a:prstGeom>
                <a:blipFill>
                  <a:blip r:embed="rId86"/>
                  <a:stretch>
                    <a:fillRect l="-2000" b="-4000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3D1AEBE2-E802-44C6-9833-06EA425722D7}"/>
                </a:ext>
              </a:extLst>
            </p:cNvPr>
            <p:cNvSpPr txBox="1"/>
            <p:nvPr/>
          </p:nvSpPr>
          <p:spPr>
            <a:xfrm>
              <a:off x="1934313" y="5654385"/>
              <a:ext cx="447560" cy="385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902" b="1" dirty="0"/>
                <a:t>....</a:t>
              </a:r>
              <a:endParaRPr lang="zh-CN" altLang="en-US" sz="1902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" name="流程图: 接点 135">
                  <a:extLst>
                    <a:ext uri="{FF2B5EF4-FFF2-40B4-BE49-F238E27FC236}">
                      <a16:creationId xmlns:a16="http://schemas.microsoft.com/office/drawing/2014/main" id="{A4850246-85D0-4462-A6AE-20506761CA63}"/>
                    </a:ext>
                  </a:extLst>
                </p:cNvPr>
                <p:cNvSpPr/>
                <p:nvPr/>
              </p:nvSpPr>
              <p:spPr>
                <a:xfrm>
                  <a:off x="2359147" y="5748135"/>
                  <a:ext cx="295348" cy="292750"/>
                </a:xfrm>
                <a:prstGeom prst="flowChartConnector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79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79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  <m:sup>
                            <m:r>
                              <a:rPr lang="en-US" altLang="zh-CN" sz="147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79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36" name="流程图: 接点 135">
                  <a:extLst>
                    <a:ext uri="{FF2B5EF4-FFF2-40B4-BE49-F238E27FC236}">
                      <a16:creationId xmlns:a16="http://schemas.microsoft.com/office/drawing/2014/main" id="{A4850246-85D0-4462-A6AE-20506761CA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9147" y="5748135"/>
                  <a:ext cx="295348" cy="292750"/>
                </a:xfrm>
                <a:prstGeom prst="flowChartConnector">
                  <a:avLst/>
                </a:prstGeom>
                <a:blipFill>
                  <a:blip r:embed="rId87"/>
                  <a:stretch>
                    <a:fillRect l="-1961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9" name="文本框 138">
            <a:extLst>
              <a:ext uri="{FF2B5EF4-FFF2-40B4-BE49-F238E27FC236}">
                <a16:creationId xmlns:a16="http://schemas.microsoft.com/office/drawing/2014/main" id="{E6D15D7F-305A-4FE7-A8A5-EA16E46AC4B6}"/>
              </a:ext>
            </a:extLst>
          </p:cNvPr>
          <p:cNvSpPr txBox="1"/>
          <p:nvPr/>
        </p:nvSpPr>
        <p:spPr>
          <a:xfrm>
            <a:off x="1242109" y="5868333"/>
            <a:ext cx="1630083" cy="29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隐藏层嵌入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908BC6D5-6FB5-44F9-85A6-598ABD0FF0DB}"/>
              </a:ext>
            </a:extLst>
          </p:cNvPr>
          <p:cNvSpPr txBox="1"/>
          <p:nvPr/>
        </p:nvSpPr>
        <p:spPr>
          <a:xfrm>
            <a:off x="1235319" y="1546908"/>
            <a:ext cx="1630082" cy="29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特征学习模块</a:t>
            </a: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F6A4772D-BC53-4CD6-87DD-785F398C5932}"/>
              </a:ext>
            </a:extLst>
          </p:cNvPr>
          <p:cNvSpPr/>
          <p:nvPr/>
        </p:nvSpPr>
        <p:spPr>
          <a:xfrm>
            <a:off x="3661447" y="4799381"/>
            <a:ext cx="4825946" cy="1852841"/>
          </a:xfrm>
          <a:prstGeom prst="roundRect">
            <a:avLst/>
          </a:prstGeom>
          <a:solidFill>
            <a:srgbClr val="D3C0DE"/>
          </a:solidFill>
          <a:ln>
            <a:solidFill>
              <a:srgbClr val="7C4F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p:sp>
        <p:nvSpPr>
          <p:cNvPr id="143" name="流程图: 接点 142">
            <a:extLst>
              <a:ext uri="{FF2B5EF4-FFF2-40B4-BE49-F238E27FC236}">
                <a16:creationId xmlns:a16="http://schemas.microsoft.com/office/drawing/2014/main" id="{4849158D-4714-462F-BE57-6DC03E0FEE60}"/>
              </a:ext>
            </a:extLst>
          </p:cNvPr>
          <p:cNvSpPr/>
          <p:nvPr/>
        </p:nvSpPr>
        <p:spPr>
          <a:xfrm>
            <a:off x="7382896" y="5891141"/>
            <a:ext cx="262203" cy="261074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p:sp>
        <p:nvSpPr>
          <p:cNvPr id="144" name="流程图: 接点 143">
            <a:extLst>
              <a:ext uri="{FF2B5EF4-FFF2-40B4-BE49-F238E27FC236}">
                <a16:creationId xmlns:a16="http://schemas.microsoft.com/office/drawing/2014/main" id="{A55C6620-F154-448A-8C5E-E3ED7CA2F51B}"/>
              </a:ext>
            </a:extLst>
          </p:cNvPr>
          <p:cNvSpPr/>
          <p:nvPr/>
        </p:nvSpPr>
        <p:spPr>
          <a:xfrm>
            <a:off x="6960065" y="5257844"/>
            <a:ext cx="262203" cy="261074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p:sp>
        <p:nvSpPr>
          <p:cNvPr id="145" name="流程图: 接点 144">
            <a:extLst>
              <a:ext uri="{FF2B5EF4-FFF2-40B4-BE49-F238E27FC236}">
                <a16:creationId xmlns:a16="http://schemas.microsoft.com/office/drawing/2014/main" id="{3CBA2F1C-96D2-466D-B19F-81EEE3209D43}"/>
              </a:ext>
            </a:extLst>
          </p:cNvPr>
          <p:cNvSpPr/>
          <p:nvPr/>
        </p:nvSpPr>
        <p:spPr>
          <a:xfrm>
            <a:off x="7586044" y="5270807"/>
            <a:ext cx="262203" cy="261074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p:sp>
        <p:nvSpPr>
          <p:cNvPr id="146" name="流程图: 接点 145">
            <a:extLst>
              <a:ext uri="{FF2B5EF4-FFF2-40B4-BE49-F238E27FC236}">
                <a16:creationId xmlns:a16="http://schemas.microsoft.com/office/drawing/2014/main" id="{5AD25D88-D990-417D-8242-7E9BCE0AFCAA}"/>
              </a:ext>
            </a:extLst>
          </p:cNvPr>
          <p:cNvSpPr/>
          <p:nvPr/>
        </p:nvSpPr>
        <p:spPr>
          <a:xfrm>
            <a:off x="8004151" y="5630067"/>
            <a:ext cx="262203" cy="261074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p:sp>
        <p:nvSpPr>
          <p:cNvPr id="147" name="流程图: 接点 146">
            <a:extLst>
              <a:ext uri="{FF2B5EF4-FFF2-40B4-BE49-F238E27FC236}">
                <a16:creationId xmlns:a16="http://schemas.microsoft.com/office/drawing/2014/main" id="{4F197BA5-701A-47E4-8573-78EF043225C7}"/>
              </a:ext>
            </a:extLst>
          </p:cNvPr>
          <p:cNvSpPr/>
          <p:nvPr/>
        </p:nvSpPr>
        <p:spPr>
          <a:xfrm>
            <a:off x="7781395" y="6264564"/>
            <a:ext cx="262203" cy="261074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p:sp>
        <p:nvSpPr>
          <p:cNvPr id="148" name="流程图: 接点 147">
            <a:extLst>
              <a:ext uri="{FF2B5EF4-FFF2-40B4-BE49-F238E27FC236}">
                <a16:creationId xmlns:a16="http://schemas.microsoft.com/office/drawing/2014/main" id="{793DD6F1-AD85-4F37-A6DB-E742FC9629FF}"/>
              </a:ext>
            </a:extLst>
          </p:cNvPr>
          <p:cNvSpPr/>
          <p:nvPr/>
        </p:nvSpPr>
        <p:spPr>
          <a:xfrm>
            <a:off x="6802268" y="6052573"/>
            <a:ext cx="262203" cy="261074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7198656B-C8E3-459B-83F1-18A7552D5F1D}"/>
                  </a:ext>
                </a:extLst>
              </p:cNvPr>
              <p:cNvSpPr txBox="1"/>
              <p:nvPr/>
            </p:nvSpPr>
            <p:spPr>
              <a:xfrm>
                <a:off x="7126895" y="5760604"/>
                <a:ext cx="352140" cy="291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7198656B-C8E3-459B-83F1-18A7552D5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895" y="5760604"/>
                <a:ext cx="352140" cy="291424"/>
              </a:xfrm>
              <a:prstGeom prst="rect">
                <a:avLst/>
              </a:prstGeom>
              <a:blipFill>
                <a:blip r:embed="rId8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98C3174B-8C30-4F9F-AE23-940A9F447519}"/>
                  </a:ext>
                </a:extLst>
              </p:cNvPr>
              <p:cNvSpPr txBox="1"/>
              <p:nvPr/>
            </p:nvSpPr>
            <p:spPr>
              <a:xfrm>
                <a:off x="6704863" y="5216490"/>
                <a:ext cx="352140" cy="297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98C3174B-8C30-4F9F-AE23-940A9F447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863" y="5216490"/>
                <a:ext cx="352140" cy="297548"/>
              </a:xfrm>
              <a:prstGeom prst="rect">
                <a:avLst/>
              </a:prstGeom>
              <a:blipFill>
                <a:blip r:embed="rId89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35A2F6FD-8B18-4F97-AAAD-0139663E48A5}"/>
                  </a:ext>
                </a:extLst>
              </p:cNvPr>
              <p:cNvSpPr txBox="1"/>
              <p:nvPr/>
            </p:nvSpPr>
            <p:spPr>
              <a:xfrm>
                <a:off x="7454136" y="5036434"/>
                <a:ext cx="352140" cy="297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35A2F6FD-8B18-4F97-AAAD-0139663E4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136" y="5036434"/>
                <a:ext cx="352140" cy="297548"/>
              </a:xfrm>
              <a:prstGeom prst="rect">
                <a:avLst/>
              </a:prstGeom>
              <a:blipFill>
                <a:blip r:embed="rId90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2D795BCC-2D31-4BAA-B6C7-83E7EB2965E9}"/>
                  </a:ext>
                </a:extLst>
              </p:cNvPr>
              <p:cNvSpPr txBox="1"/>
              <p:nvPr/>
            </p:nvSpPr>
            <p:spPr>
              <a:xfrm>
                <a:off x="8135253" y="5455399"/>
                <a:ext cx="352140" cy="297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2D795BCC-2D31-4BAA-B6C7-83E7EB296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253" y="5455399"/>
                <a:ext cx="352140" cy="297548"/>
              </a:xfrm>
              <a:prstGeom prst="rect">
                <a:avLst/>
              </a:prstGeom>
              <a:blipFill>
                <a:blip r:embed="rId91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474A423A-47B1-45DA-86D8-F72A872C6A81}"/>
                  </a:ext>
                </a:extLst>
              </p:cNvPr>
              <p:cNvSpPr txBox="1"/>
              <p:nvPr/>
            </p:nvSpPr>
            <p:spPr>
              <a:xfrm>
                <a:off x="7914214" y="6257678"/>
                <a:ext cx="352140" cy="297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474A423A-47B1-45DA-86D8-F72A872C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214" y="6257678"/>
                <a:ext cx="352140" cy="297548"/>
              </a:xfrm>
              <a:prstGeom prst="rect">
                <a:avLst/>
              </a:prstGeom>
              <a:blipFill>
                <a:blip r:embed="rId8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3D85EC96-3F86-44BE-B352-9B3DAB87402F}"/>
                  </a:ext>
                </a:extLst>
              </p:cNvPr>
              <p:cNvSpPr txBox="1"/>
              <p:nvPr/>
            </p:nvSpPr>
            <p:spPr>
              <a:xfrm>
                <a:off x="6563776" y="6112010"/>
                <a:ext cx="352140" cy="297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3D85EC96-3F86-44BE-B352-9B3DAB874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776" y="6112010"/>
                <a:ext cx="352140" cy="297548"/>
              </a:xfrm>
              <a:prstGeom prst="rect">
                <a:avLst/>
              </a:prstGeom>
              <a:blipFill>
                <a:blip r:embed="rId8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B300EA5A-9753-4B61-BBCB-E82CFC67483D}"/>
              </a:ext>
            </a:extLst>
          </p:cNvPr>
          <p:cNvCxnSpPr>
            <a:endCxn id="150" idx="3"/>
          </p:cNvCxnSpPr>
          <p:nvPr/>
        </p:nvCxnSpPr>
        <p:spPr>
          <a:xfrm>
            <a:off x="7126895" y="5485296"/>
            <a:ext cx="352140" cy="421020"/>
          </a:xfrm>
          <a:prstGeom prst="line">
            <a:avLst/>
          </a:prstGeom>
          <a:ln w="127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AF12EFCE-D72D-4035-899C-537E450A9137}"/>
              </a:ext>
            </a:extLst>
          </p:cNvPr>
          <p:cNvCxnSpPr>
            <a:cxnSpLocks/>
          </p:cNvCxnSpPr>
          <p:nvPr/>
        </p:nvCxnSpPr>
        <p:spPr>
          <a:xfrm flipV="1">
            <a:off x="7070794" y="6105792"/>
            <a:ext cx="312103" cy="101928"/>
          </a:xfrm>
          <a:prstGeom prst="line">
            <a:avLst/>
          </a:prstGeom>
          <a:ln w="127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5AFFBF3D-76AC-4CF1-A04B-E41758093C5F}"/>
              </a:ext>
            </a:extLst>
          </p:cNvPr>
          <p:cNvCxnSpPr>
            <a:cxnSpLocks/>
          </p:cNvCxnSpPr>
          <p:nvPr/>
        </p:nvCxnSpPr>
        <p:spPr>
          <a:xfrm flipH="1" flipV="1">
            <a:off x="7630206" y="6105792"/>
            <a:ext cx="176071" cy="183471"/>
          </a:xfrm>
          <a:prstGeom prst="line">
            <a:avLst/>
          </a:prstGeom>
          <a:ln w="127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A7086C77-B37E-40AC-823A-15277DC5B335}"/>
              </a:ext>
            </a:extLst>
          </p:cNvPr>
          <p:cNvCxnSpPr>
            <a:cxnSpLocks/>
          </p:cNvCxnSpPr>
          <p:nvPr/>
        </p:nvCxnSpPr>
        <p:spPr>
          <a:xfrm flipH="1">
            <a:off x="7637655" y="5853994"/>
            <a:ext cx="366497" cy="114359"/>
          </a:xfrm>
          <a:prstGeom prst="line">
            <a:avLst/>
          </a:prstGeom>
          <a:ln w="127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B198BE41-0B32-494A-BECE-1F1B185BC958}"/>
              </a:ext>
            </a:extLst>
          </p:cNvPr>
          <p:cNvCxnSpPr>
            <a:cxnSpLocks/>
            <a:stCxn id="145" idx="4"/>
          </p:cNvCxnSpPr>
          <p:nvPr/>
        </p:nvCxnSpPr>
        <p:spPr>
          <a:xfrm flipH="1">
            <a:off x="7597027" y="5531881"/>
            <a:ext cx="120118" cy="353390"/>
          </a:xfrm>
          <a:prstGeom prst="line">
            <a:avLst/>
          </a:prstGeom>
          <a:ln w="127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0467A38F-A2C0-47BF-A3B0-05E6FF0DDA8C}"/>
                  </a:ext>
                </a:extLst>
              </p:cNvPr>
              <p:cNvSpPr txBox="1"/>
              <p:nvPr/>
            </p:nvSpPr>
            <p:spPr>
              <a:xfrm>
                <a:off x="7147239" y="5437488"/>
                <a:ext cx="352140" cy="291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68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𝑑</m:t>
                      </m:r>
                    </m:oMath>
                  </m:oMathPara>
                </a14:m>
                <a:endPara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0467A38F-A2C0-47BF-A3B0-05E6FF0DD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239" y="5437488"/>
                <a:ext cx="352140" cy="291424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CBDFDF7-158F-4B16-A034-B83308267F6E}"/>
                  </a:ext>
                </a:extLst>
              </p:cNvPr>
              <p:cNvSpPr txBox="1"/>
              <p:nvPr/>
            </p:nvSpPr>
            <p:spPr>
              <a:xfrm>
                <a:off x="4060990" y="5486597"/>
                <a:ext cx="1877107" cy="674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𝐼𝐸𝐷</m:t>
                          </m:r>
                        </m:sub>
                      </m:sSub>
                      <m:r>
                        <a:rPr lang="en-US" altLang="zh-CN" sz="1268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𝑗</m:t>
                          </m:r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6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68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68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altLang="zh-CN" sz="1268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68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1268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268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268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68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1268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268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||</m:t>
                              </m:r>
                            </m:e>
                            <m:sub>
                              <m:r>
                                <a:rPr lang="en-US" altLang="zh-CN" sz="1268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CBDFDF7-158F-4B16-A034-B83308267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990" y="5486597"/>
                <a:ext cx="1877107" cy="674851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文本框 168">
            <a:extLst>
              <a:ext uri="{FF2B5EF4-FFF2-40B4-BE49-F238E27FC236}">
                <a16:creationId xmlns:a16="http://schemas.microsoft.com/office/drawing/2014/main" id="{705E00A8-6564-4C71-9DB0-7C03071C3641}"/>
              </a:ext>
            </a:extLst>
          </p:cNvPr>
          <p:cNvSpPr txBox="1"/>
          <p:nvPr/>
        </p:nvSpPr>
        <p:spPr>
          <a:xfrm>
            <a:off x="7033206" y="4839558"/>
            <a:ext cx="1630082" cy="29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68" dirty="0">
                <a:latin typeface="宋体" panose="02010600030101010101" pitchFamily="2" charset="-122"/>
                <a:ea typeface="宋体" panose="02010600030101010101" pitchFamily="2" charset="-122"/>
              </a:rPr>
              <a:t>IED</a:t>
            </a:r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计算（</a:t>
            </a:r>
            <a:r>
              <a:rPr lang="en-US" altLang="zh-CN" sz="1268" dirty="0">
                <a:latin typeface="宋体" panose="02010600030101010101" pitchFamily="2" charset="-122"/>
                <a:ea typeface="宋体" panose="02010600030101010101" pitchFamily="2" charset="-122"/>
              </a:rPr>
              <a:t>k=5</a:t>
            </a:r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465A0776-016F-42AD-8F7B-174F0D665317}"/>
              </a:ext>
            </a:extLst>
          </p:cNvPr>
          <p:cNvCxnSpPr>
            <a:stCxn id="150" idx="1"/>
          </p:cNvCxnSpPr>
          <p:nvPr/>
        </p:nvCxnSpPr>
        <p:spPr>
          <a:xfrm flipH="1">
            <a:off x="5938098" y="5906317"/>
            <a:ext cx="1188797" cy="48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AD704352-0437-4796-9DAB-9BB14D1E5041}"/>
                  </a:ext>
                </a:extLst>
              </p:cNvPr>
              <p:cNvSpPr txBox="1"/>
              <p:nvPr/>
            </p:nvSpPr>
            <p:spPr>
              <a:xfrm>
                <a:off x="6043125" y="5598266"/>
                <a:ext cx="973012" cy="291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平均距离</a:t>
                </a:r>
                <a14:m>
                  <m:oMath xmlns:m="http://schemas.openxmlformats.org/officeDocument/2006/math">
                    <m:r>
                      <a:rPr lang="en-US" altLang="zh-CN" sz="1268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𝐷</m:t>
                    </m:r>
                  </m:oMath>
                </a14:m>
                <a:endPara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AD704352-0437-4796-9DAB-9BB14D1E5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125" y="5598266"/>
                <a:ext cx="973012" cy="291424"/>
              </a:xfrm>
              <a:prstGeom prst="rect">
                <a:avLst/>
              </a:prstGeom>
              <a:blipFill>
                <a:blip r:embed="rId94"/>
                <a:stretch>
                  <a:fillRect l="-625" b="-14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文本框 172">
            <a:extLst>
              <a:ext uri="{FF2B5EF4-FFF2-40B4-BE49-F238E27FC236}">
                <a16:creationId xmlns:a16="http://schemas.microsoft.com/office/drawing/2014/main" id="{42B9CF3D-72BB-41DE-B21B-7911899F7B88}"/>
              </a:ext>
            </a:extLst>
          </p:cNvPr>
          <p:cNvSpPr txBox="1"/>
          <p:nvPr/>
        </p:nvSpPr>
        <p:spPr>
          <a:xfrm>
            <a:off x="5208469" y="4798054"/>
            <a:ext cx="1630082" cy="29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多样性评估模块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AE754E9-1FE9-4749-9DF2-B8CCC6402443}"/>
              </a:ext>
            </a:extLst>
          </p:cNvPr>
          <p:cNvSpPr/>
          <p:nvPr/>
        </p:nvSpPr>
        <p:spPr>
          <a:xfrm>
            <a:off x="8811040" y="1828278"/>
            <a:ext cx="2104686" cy="2837015"/>
          </a:xfrm>
          <a:prstGeom prst="rect">
            <a:avLst/>
          </a:prstGeom>
          <a:solidFill>
            <a:srgbClr val="E1EDD7"/>
          </a:solidFill>
          <a:ln>
            <a:solidFill>
              <a:srgbClr val="6B8B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 dirty="0"/>
          </a:p>
        </p:txBody>
      </p:sp>
      <p:sp>
        <p:nvSpPr>
          <p:cNvPr id="227" name="箭头: 右 226">
            <a:extLst>
              <a:ext uri="{FF2B5EF4-FFF2-40B4-BE49-F238E27FC236}">
                <a16:creationId xmlns:a16="http://schemas.microsoft.com/office/drawing/2014/main" id="{F8AB47E7-3656-47C5-AEAE-8D71B2CD8429}"/>
              </a:ext>
            </a:extLst>
          </p:cNvPr>
          <p:cNvSpPr/>
          <p:nvPr/>
        </p:nvSpPr>
        <p:spPr>
          <a:xfrm>
            <a:off x="3193161" y="4238821"/>
            <a:ext cx="5617442" cy="157662"/>
          </a:xfrm>
          <a:prstGeom prst="rightArrow">
            <a:avLst/>
          </a:prstGeom>
          <a:solidFill>
            <a:srgbClr val="006B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4268A0ED-A7FB-4A02-A4A9-B1A74C081876}"/>
                  </a:ext>
                </a:extLst>
              </p:cNvPr>
              <p:cNvSpPr txBox="1"/>
              <p:nvPr/>
            </p:nvSpPr>
            <p:spPr>
              <a:xfrm>
                <a:off x="3193990" y="3988312"/>
                <a:ext cx="928588" cy="287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特征表示</a:t>
                </a:r>
                <a14:m>
                  <m:oMath xmlns:m="http://schemas.openxmlformats.org/officeDocument/2006/math">
                    <m:r>
                      <a:rPr lang="zh-CN" altLang="en-US" sz="1268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𝔃</m:t>
                    </m:r>
                  </m:oMath>
                </a14:m>
                <a:endParaRPr lang="zh-CN" altLang="en-US" sz="1268" b="1" i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4268A0ED-A7FB-4A02-A4A9-B1A74C081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990" y="3988312"/>
                <a:ext cx="928588" cy="287451"/>
              </a:xfrm>
              <a:prstGeom prst="rect">
                <a:avLst/>
              </a:prstGeom>
              <a:blipFill>
                <a:blip r:embed="rId95"/>
                <a:stretch>
                  <a:fillRect l="-658"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箭头: 右 227">
            <a:extLst>
              <a:ext uri="{FF2B5EF4-FFF2-40B4-BE49-F238E27FC236}">
                <a16:creationId xmlns:a16="http://schemas.microsoft.com/office/drawing/2014/main" id="{F19A0D6F-5F43-4506-AD72-06C937AB6554}"/>
              </a:ext>
            </a:extLst>
          </p:cNvPr>
          <p:cNvSpPr/>
          <p:nvPr/>
        </p:nvSpPr>
        <p:spPr>
          <a:xfrm rot="5400000">
            <a:off x="4918977" y="4484219"/>
            <a:ext cx="439675" cy="177986"/>
          </a:xfrm>
          <a:prstGeom prst="rightArrow">
            <a:avLst/>
          </a:prstGeom>
          <a:solidFill>
            <a:srgbClr val="723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 dirty="0"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B0FE8884-BCE9-4B2C-BF1E-94DC97EDFA62}"/>
              </a:ext>
            </a:extLst>
          </p:cNvPr>
          <p:cNvSpPr txBox="1"/>
          <p:nvPr/>
        </p:nvSpPr>
        <p:spPr>
          <a:xfrm>
            <a:off x="4313199" y="4506076"/>
            <a:ext cx="817967" cy="281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价值评估</a:t>
            </a: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A2112741-1C72-4A87-9AF1-0346B3954C4C}"/>
              </a:ext>
            </a:extLst>
          </p:cNvPr>
          <p:cNvSpPr txBox="1"/>
          <p:nvPr/>
        </p:nvSpPr>
        <p:spPr>
          <a:xfrm>
            <a:off x="7969923" y="3997251"/>
            <a:ext cx="817967" cy="281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原始特征</a:t>
            </a:r>
          </a:p>
        </p:txBody>
      </p:sp>
      <p:sp>
        <p:nvSpPr>
          <p:cNvPr id="231" name="箭头: 右 230">
            <a:extLst>
              <a:ext uri="{FF2B5EF4-FFF2-40B4-BE49-F238E27FC236}">
                <a16:creationId xmlns:a16="http://schemas.microsoft.com/office/drawing/2014/main" id="{410A5A89-1CE8-4B70-9D3F-79F8AA3C6C16}"/>
              </a:ext>
            </a:extLst>
          </p:cNvPr>
          <p:cNvSpPr/>
          <p:nvPr/>
        </p:nvSpPr>
        <p:spPr>
          <a:xfrm rot="16200000">
            <a:off x="4298061" y="3814436"/>
            <a:ext cx="744617" cy="177547"/>
          </a:xfrm>
          <a:prstGeom prst="rightArrow">
            <a:avLst/>
          </a:prstGeom>
          <a:solidFill>
            <a:srgbClr val="EE8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DE97F3EC-3C48-41FB-B619-743F90C83F32}"/>
              </a:ext>
            </a:extLst>
          </p:cNvPr>
          <p:cNvSpPr txBox="1"/>
          <p:nvPr/>
        </p:nvSpPr>
        <p:spPr>
          <a:xfrm>
            <a:off x="4611132" y="3662319"/>
            <a:ext cx="817967" cy="281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几何约束</a:t>
            </a:r>
          </a:p>
        </p:txBody>
      </p:sp>
      <p:sp>
        <p:nvSpPr>
          <p:cNvPr id="83" name="箭头: 圆角右 82">
            <a:extLst>
              <a:ext uri="{FF2B5EF4-FFF2-40B4-BE49-F238E27FC236}">
                <a16:creationId xmlns:a16="http://schemas.microsoft.com/office/drawing/2014/main" id="{48B3FF18-9A56-467E-9B43-610DDC09856F}"/>
              </a:ext>
            </a:extLst>
          </p:cNvPr>
          <p:cNvSpPr/>
          <p:nvPr/>
        </p:nvSpPr>
        <p:spPr>
          <a:xfrm rot="5400000">
            <a:off x="9020076" y="871432"/>
            <a:ext cx="371133" cy="1539154"/>
          </a:xfrm>
          <a:prstGeom prst="bentArrow">
            <a:avLst>
              <a:gd name="adj1" fmla="val 25000"/>
              <a:gd name="adj2" fmla="val 27918"/>
              <a:gd name="adj3" fmla="val 25000"/>
              <a:gd name="adj4" fmla="val 47104"/>
            </a:avLst>
          </a:prstGeom>
          <a:solidFill>
            <a:srgbClr val="EE8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 dirty="0">
              <a:solidFill>
                <a:schemeClr val="tx1"/>
              </a:solidFill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A3060D65-3E61-4818-B3BE-F724D4B3D7EE}"/>
              </a:ext>
            </a:extLst>
          </p:cNvPr>
          <p:cNvSpPr txBox="1"/>
          <p:nvPr/>
        </p:nvSpPr>
        <p:spPr>
          <a:xfrm>
            <a:off x="8720006" y="1186729"/>
            <a:ext cx="817967" cy="281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距离信息</a:t>
            </a: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899DB0F0-3062-46A7-9F5A-5A47001AD446}"/>
              </a:ext>
            </a:extLst>
          </p:cNvPr>
          <p:cNvSpPr/>
          <p:nvPr/>
        </p:nvSpPr>
        <p:spPr>
          <a:xfrm>
            <a:off x="8907095" y="2250268"/>
            <a:ext cx="1917064" cy="873680"/>
          </a:xfrm>
          <a:prstGeom prst="roundRect">
            <a:avLst/>
          </a:prstGeom>
          <a:solidFill>
            <a:srgbClr val="C9DEB3"/>
          </a:solidFill>
          <a:ln>
            <a:solidFill>
              <a:srgbClr val="6B8B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EF0A89C8-9B2D-4259-A949-CBC2B4BECB88}"/>
              </a:ext>
            </a:extLst>
          </p:cNvPr>
          <p:cNvSpPr txBox="1"/>
          <p:nvPr/>
        </p:nvSpPr>
        <p:spPr>
          <a:xfrm>
            <a:off x="9210397" y="2250268"/>
            <a:ext cx="1340424" cy="324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79" dirty="0">
                <a:latin typeface="宋体" panose="02010600030101010101" pitchFamily="2" charset="-122"/>
                <a:ea typeface="宋体" panose="02010600030101010101" pitchFamily="2" charset="-122"/>
              </a:rPr>
              <a:t>加权损失函数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2A8697E8-A396-47BA-8EC8-1C463E9F33A3}"/>
                  </a:ext>
                </a:extLst>
              </p:cNvPr>
              <p:cNvSpPr txBox="1"/>
              <p:nvPr/>
            </p:nvSpPr>
            <p:spPr>
              <a:xfrm>
                <a:off x="8815529" y="2513527"/>
                <a:ext cx="2013726" cy="631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7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CN" sz="147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147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147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7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47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47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147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7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altLang="zh-CN" sz="147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7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147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7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47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47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</m:e>
                        <m:sup>
                          <m:r>
                            <a:rPr lang="en-US" altLang="zh-CN" sz="147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1479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2A8697E8-A396-47BA-8EC8-1C463E9F3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529" y="2513527"/>
                <a:ext cx="2013726" cy="631055"/>
              </a:xfrm>
              <a:prstGeom prst="rect">
                <a:avLst/>
              </a:prstGeom>
              <a:blipFill>
                <a:blip r:embed="rId9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矩形: 圆角 236">
            <a:extLst>
              <a:ext uri="{FF2B5EF4-FFF2-40B4-BE49-F238E27FC236}">
                <a16:creationId xmlns:a16="http://schemas.microsoft.com/office/drawing/2014/main" id="{D67C33CB-4C33-4348-BB98-634A2E80CDBE}"/>
              </a:ext>
            </a:extLst>
          </p:cNvPr>
          <p:cNvSpPr/>
          <p:nvPr/>
        </p:nvSpPr>
        <p:spPr>
          <a:xfrm>
            <a:off x="8907095" y="3654451"/>
            <a:ext cx="1917064" cy="873680"/>
          </a:xfrm>
          <a:prstGeom prst="roundRect">
            <a:avLst/>
          </a:prstGeom>
          <a:solidFill>
            <a:srgbClr val="C9DEB3"/>
          </a:solidFill>
          <a:ln>
            <a:solidFill>
              <a:srgbClr val="6B8B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 dirty="0"/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71D47049-7C7B-4F71-BDEC-E160B42878C4}"/>
              </a:ext>
            </a:extLst>
          </p:cNvPr>
          <p:cNvSpPr txBox="1"/>
          <p:nvPr/>
        </p:nvSpPr>
        <p:spPr>
          <a:xfrm>
            <a:off x="9396844" y="3639872"/>
            <a:ext cx="957541" cy="324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79" dirty="0">
                <a:latin typeface="宋体" panose="02010600030101010101" pitchFamily="2" charset="-122"/>
                <a:ea typeface="宋体" panose="02010600030101010101" pitchFamily="2" charset="-122"/>
              </a:rPr>
              <a:t>权重生成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CE11A6AE-F888-4A24-8EF5-82BF4A163D2A}"/>
                  </a:ext>
                </a:extLst>
              </p:cNvPr>
              <p:cNvSpPr txBox="1"/>
              <p:nvPr/>
            </p:nvSpPr>
            <p:spPr>
              <a:xfrm>
                <a:off x="8774309" y="4051777"/>
                <a:ext cx="2118041" cy="3202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79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479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79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1479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1479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𝑒𝑥𝑝</m:t>
                      </m:r>
                      <m:r>
                        <a:rPr lang="en-US" altLang="zh-CN" sz="1479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zh-CN" altLang="en-US" sz="1479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𝛽</m:t>
                      </m:r>
                      <m:r>
                        <a:rPr lang="zh-CN" altLang="en-US" sz="1479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∙</m:t>
                      </m:r>
                      <m:sSub>
                        <m:sSubPr>
                          <m:ctrlPr>
                            <a:rPr lang="en-US" altLang="zh-CN" sz="1479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479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479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𝐼𝐸𝐷</m:t>
                          </m:r>
                        </m:sub>
                      </m:sSub>
                      <m:r>
                        <a:rPr lang="en-US" altLang="zh-CN" sz="1479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479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479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479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1479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))</m:t>
                      </m:r>
                    </m:oMath>
                  </m:oMathPara>
                </a14:m>
                <a:endParaRPr lang="zh-CN" altLang="en-US" sz="1479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CE11A6AE-F888-4A24-8EF5-82BF4A163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309" y="4051777"/>
                <a:ext cx="2118041" cy="320200"/>
              </a:xfrm>
              <a:prstGeom prst="rect">
                <a:avLst/>
              </a:prstGeom>
              <a:blipFill>
                <a:blip r:embed="rId97"/>
                <a:stretch>
                  <a:fillRect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文本框 239">
            <a:extLst>
              <a:ext uri="{FF2B5EF4-FFF2-40B4-BE49-F238E27FC236}">
                <a16:creationId xmlns:a16="http://schemas.microsoft.com/office/drawing/2014/main" id="{41AAC633-3053-49A5-A559-9559CE0DD1B3}"/>
              </a:ext>
            </a:extLst>
          </p:cNvPr>
          <p:cNvSpPr txBox="1"/>
          <p:nvPr/>
        </p:nvSpPr>
        <p:spPr>
          <a:xfrm>
            <a:off x="9210395" y="1820241"/>
            <a:ext cx="1345417" cy="2914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损失与权重模块</a:t>
            </a:r>
          </a:p>
        </p:txBody>
      </p:sp>
      <p:sp>
        <p:nvSpPr>
          <p:cNvPr id="241" name="箭头: 右 240">
            <a:extLst>
              <a:ext uri="{FF2B5EF4-FFF2-40B4-BE49-F238E27FC236}">
                <a16:creationId xmlns:a16="http://schemas.microsoft.com/office/drawing/2014/main" id="{ACBC43CB-B147-45D0-818E-DAB65629CCE0}"/>
              </a:ext>
            </a:extLst>
          </p:cNvPr>
          <p:cNvSpPr/>
          <p:nvPr/>
        </p:nvSpPr>
        <p:spPr>
          <a:xfrm rot="16200000">
            <a:off x="9586298" y="3302441"/>
            <a:ext cx="508635" cy="163090"/>
          </a:xfrm>
          <a:prstGeom prst="rightArrow">
            <a:avLst/>
          </a:prstGeom>
          <a:solidFill>
            <a:srgbClr val="8FB2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5ECD82F4-05FA-4DD7-B726-96190AB6EBE8}"/>
                  </a:ext>
                </a:extLst>
              </p:cNvPr>
              <p:cNvSpPr txBox="1"/>
              <p:nvPr/>
            </p:nvSpPr>
            <p:spPr>
              <a:xfrm>
                <a:off x="9823009" y="3225537"/>
                <a:ext cx="622551" cy="281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权重</a:t>
                </a:r>
                <a14:m>
                  <m:oMath xmlns:m="http://schemas.openxmlformats.org/officeDocument/2006/math">
                    <m:r>
                      <a:rPr lang="en-US" altLang="zh-CN" sz="1268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endPara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5ECD82F4-05FA-4DD7-B726-96190AB6E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009" y="3225537"/>
                <a:ext cx="622551" cy="281831"/>
              </a:xfrm>
              <a:prstGeom prst="rect">
                <a:avLst/>
              </a:prstGeom>
              <a:blipFill>
                <a:blip r:embed="rId98"/>
                <a:stretch>
                  <a:fillRect l="-971" t="-2174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箭头: 直角上 93">
            <a:extLst>
              <a:ext uri="{FF2B5EF4-FFF2-40B4-BE49-F238E27FC236}">
                <a16:creationId xmlns:a16="http://schemas.microsoft.com/office/drawing/2014/main" id="{D4D8CB70-4005-4644-A357-8622DF49198C}"/>
              </a:ext>
            </a:extLst>
          </p:cNvPr>
          <p:cNvSpPr/>
          <p:nvPr/>
        </p:nvSpPr>
        <p:spPr>
          <a:xfrm>
            <a:off x="8487392" y="4665292"/>
            <a:ext cx="1558694" cy="549507"/>
          </a:xfrm>
          <a:prstGeom prst="bentUpArrow">
            <a:avLst/>
          </a:prstGeom>
          <a:solidFill>
            <a:srgbClr val="723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E35A98CF-8123-44A9-9DE7-E8F0F0901468}"/>
                  </a:ext>
                </a:extLst>
              </p:cNvPr>
              <p:cNvSpPr txBox="1"/>
              <p:nvPr/>
            </p:nvSpPr>
            <p:spPr>
              <a:xfrm>
                <a:off x="8668708" y="4798054"/>
                <a:ext cx="850755" cy="287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稀缺度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6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26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𝐷</m:t>
                        </m:r>
                      </m:e>
                      <m:sub>
                        <m:r>
                          <a:rPr lang="en-US" altLang="zh-CN" sz="126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𝑧</m:t>
                        </m:r>
                      </m:sub>
                    </m:sSub>
                  </m:oMath>
                </a14:m>
                <a:endPara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E35A98CF-8123-44A9-9DE7-E8F0F0901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708" y="4798054"/>
                <a:ext cx="850755" cy="287817"/>
              </a:xfrm>
              <a:prstGeom prst="rect">
                <a:avLst/>
              </a:prstGeom>
              <a:blipFill>
                <a:blip r:embed="rId99"/>
                <a:stretch>
                  <a:fillRect l="-714" t="-2128"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连接符: 肘形 111">
            <a:extLst>
              <a:ext uri="{FF2B5EF4-FFF2-40B4-BE49-F238E27FC236}">
                <a16:creationId xmlns:a16="http://schemas.microsoft.com/office/drawing/2014/main" id="{77BE6ED7-BEDF-49B9-A3BD-83CB3EE83E29}"/>
              </a:ext>
            </a:extLst>
          </p:cNvPr>
          <p:cNvCxnSpPr>
            <a:cxnSpLocks/>
            <a:stCxn id="66" idx="3"/>
            <a:endCxn id="4" idx="2"/>
          </p:cNvCxnSpPr>
          <p:nvPr/>
        </p:nvCxnSpPr>
        <p:spPr>
          <a:xfrm flipH="1">
            <a:off x="1789644" y="3246786"/>
            <a:ext cx="9126082" cy="3095194"/>
          </a:xfrm>
          <a:prstGeom prst="bentConnector4">
            <a:avLst>
              <a:gd name="adj1" fmla="val -2505"/>
              <a:gd name="adj2" fmla="val 114989"/>
            </a:avLst>
          </a:prstGeom>
          <a:ln w="25400">
            <a:solidFill>
              <a:srgbClr val="A4353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文本框 246">
            <a:extLst>
              <a:ext uri="{FF2B5EF4-FFF2-40B4-BE49-F238E27FC236}">
                <a16:creationId xmlns:a16="http://schemas.microsoft.com/office/drawing/2014/main" id="{ED827FB1-4119-4759-A6C1-2E10BA960ECA}"/>
              </a:ext>
            </a:extLst>
          </p:cNvPr>
          <p:cNvSpPr txBox="1"/>
          <p:nvPr/>
        </p:nvSpPr>
        <p:spPr>
          <a:xfrm>
            <a:off x="9296769" y="6448035"/>
            <a:ext cx="1675030" cy="2914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68" dirty="0">
                <a:latin typeface="宋体" panose="02010600030101010101" pitchFamily="2" charset="-122"/>
                <a:ea typeface="宋体" panose="02010600030101010101" pitchFamily="2" charset="-122"/>
              </a:rPr>
              <a:t>模型优化：反向传播</a:t>
            </a:r>
          </a:p>
        </p:txBody>
      </p:sp>
      <p:pic>
        <p:nvPicPr>
          <p:cNvPr id="249" name="图片 248">
            <a:extLst>
              <a:ext uri="{FF2B5EF4-FFF2-40B4-BE49-F238E27FC236}">
                <a16:creationId xmlns:a16="http://schemas.microsoft.com/office/drawing/2014/main" id="{0590194A-505F-49ED-8455-950ABD4DDE57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088" y="214643"/>
            <a:ext cx="4818879" cy="3317041"/>
          </a:xfrm>
          <a:prstGeom prst="rect">
            <a:avLst/>
          </a:prstGeom>
        </p:spPr>
      </p:pic>
      <p:sp>
        <p:nvSpPr>
          <p:cNvPr id="170" name="箭头: 右 169">
            <a:extLst>
              <a:ext uri="{FF2B5EF4-FFF2-40B4-BE49-F238E27FC236}">
                <a16:creationId xmlns:a16="http://schemas.microsoft.com/office/drawing/2014/main" id="{CB8F5382-37F0-4AD0-8D5B-2FFE4322889E}"/>
              </a:ext>
            </a:extLst>
          </p:cNvPr>
          <p:cNvSpPr/>
          <p:nvPr/>
        </p:nvSpPr>
        <p:spPr>
          <a:xfrm rot="5400000">
            <a:off x="1489630" y="1001764"/>
            <a:ext cx="603721" cy="245906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2"/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226491C3-5F98-4582-ADF9-FE309D357993}"/>
              </a:ext>
            </a:extLst>
          </p:cNvPr>
          <p:cNvSpPr/>
          <p:nvPr/>
        </p:nvSpPr>
        <p:spPr>
          <a:xfrm>
            <a:off x="1235638" y="2279494"/>
            <a:ext cx="1245253" cy="574381"/>
          </a:xfrm>
          <a:prstGeom prst="roundRect">
            <a:avLst/>
          </a:prstGeom>
          <a:solidFill>
            <a:srgbClr val="B1DDF0"/>
          </a:solidFill>
          <a:ln>
            <a:solidFill>
              <a:srgbClr val="72AF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46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小波</a:t>
            </a:r>
            <a:r>
              <a:rPr lang="en-US" altLang="zh-CN" sz="1346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346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分块</a:t>
            </a:r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63D9627F-26EC-4806-A262-DAABD206ADC0}"/>
              </a:ext>
            </a:extLst>
          </p:cNvPr>
          <p:cNvSpPr/>
          <p:nvPr/>
        </p:nvSpPr>
        <p:spPr>
          <a:xfrm>
            <a:off x="1232838" y="3148015"/>
            <a:ext cx="1245253" cy="574381"/>
          </a:xfrm>
          <a:prstGeom prst="roundRect">
            <a:avLst/>
          </a:prstGeom>
          <a:solidFill>
            <a:srgbClr val="FAD7AC"/>
          </a:solidFill>
          <a:ln>
            <a:solidFill>
              <a:srgbClr val="E1C4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46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Anomaly</a:t>
            </a:r>
            <a:br>
              <a:rPr lang="en-US" altLang="zh-CN" sz="1346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346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Attention</a:t>
            </a:r>
            <a:endParaRPr lang="zh-CN" altLang="en-US" sz="1346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6AB09CF7-A1F8-4255-80D4-AFD32AE0EF1F}"/>
              </a:ext>
            </a:extLst>
          </p:cNvPr>
          <p:cNvSpPr txBox="1"/>
          <p:nvPr/>
        </p:nvSpPr>
        <p:spPr>
          <a:xfrm>
            <a:off x="1884253" y="1130676"/>
            <a:ext cx="822747" cy="287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68" dirty="0">
                <a:latin typeface="宋体" panose="02010600030101010101" pitchFamily="2" charset="-122"/>
                <a:ea typeface="宋体" panose="02010600030101010101" pitchFamily="2" charset="-122"/>
              </a:rPr>
              <a:t>(a)WPAT</a:t>
            </a:r>
            <a:endParaRPr lang="zh-CN" altLang="en-US" sz="1268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F556CD97-A35B-412C-BBD1-DB1418560CD0}"/>
              </a:ext>
            </a:extLst>
          </p:cNvPr>
          <p:cNvSpPr txBox="1"/>
          <p:nvPr/>
        </p:nvSpPr>
        <p:spPr>
          <a:xfrm>
            <a:off x="5468953" y="3480703"/>
            <a:ext cx="739076" cy="287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68" dirty="0">
                <a:latin typeface="宋体" panose="02010600030101010101" pitchFamily="2" charset="-122"/>
                <a:ea typeface="宋体" panose="02010600030101010101" pitchFamily="2" charset="-122"/>
              </a:rPr>
              <a:t>(b)EMA</a:t>
            </a:r>
            <a:endParaRPr lang="zh-CN" altLang="en-US" sz="1268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B9F9B1D7-E161-4087-B5ED-933B7EAD7DD0}"/>
              </a:ext>
            </a:extLst>
          </p:cNvPr>
          <p:cNvSpPr txBox="1"/>
          <p:nvPr/>
        </p:nvSpPr>
        <p:spPr>
          <a:xfrm>
            <a:off x="5782384" y="4530572"/>
            <a:ext cx="780908" cy="287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68" dirty="0">
                <a:latin typeface="宋体" panose="02010600030101010101" pitchFamily="2" charset="-122"/>
                <a:ea typeface="宋体" panose="02010600030101010101" pitchFamily="2" charset="-122"/>
              </a:rPr>
              <a:t>(c)IED</a:t>
            </a:r>
            <a:endParaRPr lang="zh-CN" altLang="en-US" sz="1268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7D83CFE0-23E7-4384-847C-A28EFE2A957F}"/>
              </a:ext>
            </a:extLst>
          </p:cNvPr>
          <p:cNvSpPr txBox="1"/>
          <p:nvPr/>
        </p:nvSpPr>
        <p:spPr>
          <a:xfrm>
            <a:off x="10178083" y="4652342"/>
            <a:ext cx="824308" cy="287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68" dirty="0">
                <a:latin typeface="宋体" panose="02010600030101010101" pitchFamily="2" charset="-122"/>
                <a:ea typeface="宋体" panose="02010600030101010101" pitchFamily="2" charset="-122"/>
              </a:rPr>
              <a:t>(d)Loss</a:t>
            </a:r>
            <a:endParaRPr lang="zh-CN" altLang="en-US" sz="1268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91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1845</TotalTime>
  <Words>132</Words>
  <Application>Microsoft Office PowerPoint</Application>
  <PresentationFormat>自定义</PresentationFormat>
  <Paragraphs>61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宋体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40</cp:revision>
  <dcterms:created xsi:type="dcterms:W3CDTF">2026-01-28T04:30:52Z</dcterms:created>
  <dcterms:modified xsi:type="dcterms:W3CDTF">2026-03-17T08:52:52Z</dcterms:modified>
</cp:coreProperties>
</file>