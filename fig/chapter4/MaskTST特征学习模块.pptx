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359900" cy="4319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507D"/>
    <a:srgbClr val="D14A78"/>
    <a:srgbClr val="F9E6EC"/>
    <a:srgbClr val="FFD9D9"/>
    <a:srgbClr val="BFBFBF"/>
    <a:srgbClr val="D9ECEC"/>
    <a:srgbClr val="D4F3FD"/>
    <a:srgbClr val="7373FF"/>
    <a:srgbClr val="CFCFFF"/>
    <a:srgbClr val="D9D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70" d="100"/>
          <a:sy n="170" d="100"/>
        </p:scale>
        <p:origin x="96" y="3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9988" y="706933"/>
            <a:ext cx="7019925" cy="1503857"/>
          </a:xfrm>
        </p:spPr>
        <p:txBody>
          <a:bodyPr anchor="b"/>
          <a:lstStyle>
            <a:lvl1pPr algn="ctr">
              <a:defRPr sz="377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9988" y="2268784"/>
            <a:ext cx="7019925" cy="1042900"/>
          </a:xfrm>
        </p:spPr>
        <p:txBody>
          <a:bodyPr/>
          <a:lstStyle>
            <a:lvl1pPr marL="0" indent="0" algn="ctr">
              <a:buNone/>
              <a:defRPr sz="1512"/>
            </a:lvl1pPr>
            <a:lvl2pPr marL="287990" indent="0" algn="ctr">
              <a:buNone/>
              <a:defRPr sz="1260"/>
            </a:lvl2pPr>
            <a:lvl3pPr marL="575981" indent="0" algn="ctr">
              <a:buNone/>
              <a:defRPr sz="1134"/>
            </a:lvl3pPr>
            <a:lvl4pPr marL="863971" indent="0" algn="ctr">
              <a:buNone/>
              <a:defRPr sz="1008"/>
            </a:lvl4pPr>
            <a:lvl5pPr marL="1151961" indent="0" algn="ctr">
              <a:buNone/>
              <a:defRPr sz="1008"/>
            </a:lvl5pPr>
            <a:lvl6pPr marL="1439951" indent="0" algn="ctr">
              <a:buNone/>
              <a:defRPr sz="1008"/>
            </a:lvl6pPr>
            <a:lvl7pPr marL="1727942" indent="0" algn="ctr">
              <a:buNone/>
              <a:defRPr sz="1008"/>
            </a:lvl7pPr>
            <a:lvl8pPr marL="2015932" indent="0" algn="ctr">
              <a:buNone/>
              <a:defRPr sz="1008"/>
            </a:lvl8pPr>
            <a:lvl9pPr marL="2303922" indent="0" algn="ctr">
              <a:buNone/>
              <a:defRPr sz="1008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E4E4-D6B5-457E-B6F2-B2625A9D9E69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F1DCA-9E40-4B29-BBE1-CD8EA32B3F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2144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E4E4-D6B5-457E-B6F2-B2625A9D9E69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F1DCA-9E40-4B29-BBE1-CD8EA32B3F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3429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618" y="1076898"/>
            <a:ext cx="8072914" cy="1796828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8618" y="2890725"/>
            <a:ext cx="8072914" cy="944910"/>
          </a:xfrm>
        </p:spPr>
        <p:txBody>
          <a:bodyPr/>
          <a:lstStyle>
            <a:lvl1pPr marL="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1pPr>
            <a:lvl2pPr marL="28799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2pPr>
            <a:lvl3pPr marL="57598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3pPr>
            <a:lvl4pPr marL="86397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4pPr>
            <a:lvl5pPr marL="115196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5pPr>
            <a:lvl6pPr marL="143995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6pPr>
            <a:lvl7pPr marL="172794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7pPr>
            <a:lvl8pPr marL="201593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8pPr>
            <a:lvl9pPr marL="230392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E4E4-D6B5-457E-B6F2-B2625A9D9E69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F1DCA-9E40-4B29-BBE1-CD8EA32B3F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6826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3493" y="1149890"/>
            <a:ext cx="3977958" cy="27407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8449" y="1149890"/>
            <a:ext cx="3977958" cy="27407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E4E4-D6B5-457E-B6F2-B2625A9D9E69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F1DCA-9E40-4B29-BBE1-CD8EA32B3F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8394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229978"/>
            <a:ext cx="8072914" cy="83492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4713" y="1058899"/>
            <a:ext cx="3959676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4713" y="1577849"/>
            <a:ext cx="3959676" cy="23207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8449" y="1058899"/>
            <a:ext cx="3979177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8449" y="1577849"/>
            <a:ext cx="3979177" cy="23207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E4E4-D6B5-457E-B6F2-B2625A9D9E69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F1DCA-9E40-4B29-BBE1-CD8EA32B3F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228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E4E4-D6B5-457E-B6F2-B2625A9D9E69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F1DCA-9E40-4B29-BBE1-CD8EA32B3F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5651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E4E4-D6B5-457E-B6F2-B2625A9D9E69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F1DCA-9E40-4B29-BBE1-CD8EA32B3F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1051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3" y="287972"/>
            <a:ext cx="3018811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9177" y="621941"/>
            <a:ext cx="4738449" cy="3069707"/>
          </a:xfrm>
        </p:spPr>
        <p:txBody>
          <a:bodyPr/>
          <a:lstStyle>
            <a:lvl1pPr>
              <a:defRPr sz="2016"/>
            </a:lvl1pPr>
            <a:lvl2pPr>
              <a:defRPr sz="1764"/>
            </a:lvl2pPr>
            <a:lvl3pPr>
              <a:defRPr sz="1512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713" y="1295877"/>
            <a:ext cx="3018811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E4E4-D6B5-457E-B6F2-B2625A9D9E69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F1DCA-9E40-4B29-BBE1-CD8EA32B3F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7874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3" y="287972"/>
            <a:ext cx="3018811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79177" y="621941"/>
            <a:ext cx="4738449" cy="3069707"/>
          </a:xfrm>
        </p:spPr>
        <p:txBody>
          <a:bodyPr anchor="t"/>
          <a:lstStyle>
            <a:lvl1pPr marL="0" indent="0">
              <a:buNone/>
              <a:defRPr sz="2016"/>
            </a:lvl1pPr>
            <a:lvl2pPr marL="287990" indent="0">
              <a:buNone/>
              <a:defRPr sz="1764"/>
            </a:lvl2pPr>
            <a:lvl3pPr marL="575981" indent="0">
              <a:buNone/>
              <a:defRPr sz="1512"/>
            </a:lvl3pPr>
            <a:lvl4pPr marL="863971" indent="0">
              <a:buNone/>
              <a:defRPr sz="1260"/>
            </a:lvl4pPr>
            <a:lvl5pPr marL="1151961" indent="0">
              <a:buNone/>
              <a:defRPr sz="1260"/>
            </a:lvl5pPr>
            <a:lvl6pPr marL="1439951" indent="0">
              <a:buNone/>
              <a:defRPr sz="1260"/>
            </a:lvl6pPr>
            <a:lvl7pPr marL="1727942" indent="0">
              <a:buNone/>
              <a:defRPr sz="1260"/>
            </a:lvl7pPr>
            <a:lvl8pPr marL="2015932" indent="0">
              <a:buNone/>
              <a:defRPr sz="1260"/>
            </a:lvl8pPr>
            <a:lvl9pPr marL="2303922" indent="0">
              <a:buNone/>
              <a:defRPr sz="126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713" y="1295877"/>
            <a:ext cx="3018811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E4E4-D6B5-457E-B6F2-B2625A9D9E69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F1DCA-9E40-4B29-BBE1-CD8EA32B3F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6062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E4E4-D6B5-457E-B6F2-B2625A9D9E69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F1DCA-9E40-4B29-BBE1-CD8EA32B3F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2274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98179" y="229978"/>
            <a:ext cx="2018228" cy="366065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493" y="229978"/>
            <a:ext cx="5937687" cy="36606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5E4E4-D6B5-457E-B6F2-B2625A9D9E69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F1DCA-9E40-4B29-BBE1-CD8EA32B3F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2704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3493" y="229978"/>
            <a:ext cx="8072914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93" y="1149890"/>
            <a:ext cx="8072914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3493" y="4003618"/>
            <a:ext cx="2105978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65E4E4-D6B5-457E-B6F2-B2625A9D9E69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00467" y="4003618"/>
            <a:ext cx="3158966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10429" y="4003618"/>
            <a:ext cx="2105978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2F1DCA-9E40-4B29-BBE1-CD8EA32B3F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9609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75981" rtl="0" eaLnBrk="1" latinLnBrk="0" hangingPunct="1">
        <a:lnSpc>
          <a:spcPct val="90000"/>
        </a:lnSpc>
        <a:spcBef>
          <a:spcPct val="0"/>
        </a:spcBef>
        <a:buNone/>
        <a:defRPr sz="27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3995" indent="-143995" algn="l" defTabSz="575981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31985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1997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796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29595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58394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87193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15992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44791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1pPr>
      <a:lvl2pPr marL="28799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7598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3pPr>
      <a:lvl4pPr marL="86397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15196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43995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72794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01593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30392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884FBF06-5F59-45AB-B662-7509A36E71CC}"/>
              </a:ext>
            </a:extLst>
          </p:cNvPr>
          <p:cNvSpPr/>
          <p:nvPr/>
        </p:nvSpPr>
        <p:spPr>
          <a:xfrm>
            <a:off x="24857" y="75043"/>
            <a:ext cx="8819904" cy="4169502"/>
          </a:xfrm>
          <a:prstGeom prst="roundRect">
            <a:avLst>
              <a:gd name="adj" fmla="val 6141"/>
            </a:avLst>
          </a:prstGeom>
          <a:solidFill>
            <a:srgbClr val="FAFAFF"/>
          </a:solidFill>
          <a:ln>
            <a:solidFill>
              <a:srgbClr val="CFCF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表格 7">
                <a:extLst>
                  <a:ext uri="{FF2B5EF4-FFF2-40B4-BE49-F238E27FC236}">
                    <a16:creationId xmlns:a16="http://schemas.microsoft.com/office/drawing/2014/main" id="{68C9EC70-6C4C-42E9-921B-98C379ACE41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630032"/>
                  </p:ext>
                </p:extLst>
              </p:nvPr>
            </p:nvGraphicFramePr>
            <p:xfrm>
              <a:off x="150280" y="759292"/>
              <a:ext cx="246162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2324">
                      <a:extLst>
                        <a:ext uri="{9D8B030D-6E8A-4147-A177-3AD203B41FA5}">
                          <a16:colId xmlns:a16="http://schemas.microsoft.com/office/drawing/2014/main" val="2263360601"/>
                        </a:ext>
                      </a:extLst>
                    </a:gridCol>
                    <a:gridCol w="492324">
                      <a:extLst>
                        <a:ext uri="{9D8B030D-6E8A-4147-A177-3AD203B41FA5}">
                          <a16:colId xmlns:a16="http://schemas.microsoft.com/office/drawing/2014/main" val="2894566695"/>
                        </a:ext>
                      </a:extLst>
                    </a:gridCol>
                    <a:gridCol w="492324">
                      <a:extLst>
                        <a:ext uri="{9D8B030D-6E8A-4147-A177-3AD203B41FA5}">
                          <a16:colId xmlns:a16="http://schemas.microsoft.com/office/drawing/2014/main" val="1249002347"/>
                        </a:ext>
                      </a:extLst>
                    </a:gridCol>
                    <a:gridCol w="492324">
                      <a:extLst>
                        <a:ext uri="{9D8B030D-6E8A-4147-A177-3AD203B41FA5}">
                          <a16:colId xmlns:a16="http://schemas.microsoft.com/office/drawing/2014/main" val="328870005"/>
                        </a:ext>
                      </a:extLst>
                    </a:gridCol>
                    <a:gridCol w="492324">
                      <a:extLst>
                        <a:ext uri="{9D8B030D-6E8A-4147-A177-3AD203B41FA5}">
                          <a16:colId xmlns:a16="http://schemas.microsoft.com/office/drawing/2014/main" val="38525577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7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7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17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7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1441" marR="91441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9ECE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7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7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17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7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1441" marR="91441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9ECE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7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7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17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7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1441" marR="91441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9ECE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7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7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17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7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1441" marR="91441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9ECE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7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7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17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7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1441" marR="91441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9ECE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259226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表格 7">
                <a:extLst>
                  <a:ext uri="{FF2B5EF4-FFF2-40B4-BE49-F238E27FC236}">
                    <a16:creationId xmlns:a16="http://schemas.microsoft.com/office/drawing/2014/main" id="{68C9EC70-6C4C-42E9-921B-98C379ACE41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630032"/>
                  </p:ext>
                </p:extLst>
              </p:nvPr>
            </p:nvGraphicFramePr>
            <p:xfrm>
              <a:off x="150280" y="759292"/>
              <a:ext cx="246162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2324">
                      <a:extLst>
                        <a:ext uri="{9D8B030D-6E8A-4147-A177-3AD203B41FA5}">
                          <a16:colId xmlns:a16="http://schemas.microsoft.com/office/drawing/2014/main" val="2263360601"/>
                        </a:ext>
                      </a:extLst>
                    </a:gridCol>
                    <a:gridCol w="492324">
                      <a:extLst>
                        <a:ext uri="{9D8B030D-6E8A-4147-A177-3AD203B41FA5}">
                          <a16:colId xmlns:a16="http://schemas.microsoft.com/office/drawing/2014/main" val="2894566695"/>
                        </a:ext>
                      </a:extLst>
                    </a:gridCol>
                    <a:gridCol w="492324">
                      <a:extLst>
                        <a:ext uri="{9D8B030D-6E8A-4147-A177-3AD203B41FA5}">
                          <a16:colId xmlns:a16="http://schemas.microsoft.com/office/drawing/2014/main" val="1249002347"/>
                        </a:ext>
                      </a:extLst>
                    </a:gridCol>
                    <a:gridCol w="492324">
                      <a:extLst>
                        <a:ext uri="{9D8B030D-6E8A-4147-A177-3AD203B41FA5}">
                          <a16:colId xmlns:a16="http://schemas.microsoft.com/office/drawing/2014/main" val="328870005"/>
                        </a:ext>
                      </a:extLst>
                    </a:gridCol>
                    <a:gridCol w="492324">
                      <a:extLst>
                        <a:ext uri="{9D8B030D-6E8A-4147-A177-3AD203B41FA5}">
                          <a16:colId xmlns:a16="http://schemas.microsoft.com/office/drawing/2014/main" val="38525577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41" marR="91441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235" t="-1613" r="-402469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41" marR="91441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235" t="-1613" r="-302469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41" marR="91441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1235" t="-1613" r="-202469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41" marR="91441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1235" t="-1613" r="-102469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41" marR="91441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1235" t="-1613" r="-2469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259226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7ABC4F3-53B5-4987-8C33-6D0C229CBAFF}"/>
                  </a:ext>
                </a:extLst>
              </p:cNvPr>
              <p:cNvSpPr txBox="1"/>
              <p:nvPr/>
            </p:nvSpPr>
            <p:spPr>
              <a:xfrm>
                <a:off x="775510" y="482294"/>
                <a:ext cx="121116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原始流量序列</a:t>
                </a:r>
                <a14:m>
                  <m:oMath xmlns:m="http://schemas.openxmlformats.org/officeDocument/2006/math">
                    <m:r>
                      <a:rPr lang="en-US" altLang="zh-CN" sz="12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7ABC4F3-53B5-4987-8C33-6D0C229CBA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510" y="482294"/>
                <a:ext cx="1211165" cy="276999"/>
              </a:xfrm>
              <a:prstGeom prst="rect">
                <a:avLst/>
              </a:prstGeom>
              <a:blipFill>
                <a:blip r:embed="rId3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表格 7">
                <a:extLst>
                  <a:ext uri="{FF2B5EF4-FFF2-40B4-BE49-F238E27FC236}">
                    <a16:creationId xmlns:a16="http://schemas.microsoft.com/office/drawing/2014/main" id="{8D41D225-3BA0-4727-9D0B-CFD2534F768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3597146"/>
                  </p:ext>
                </p:extLst>
              </p:nvPr>
            </p:nvGraphicFramePr>
            <p:xfrm>
              <a:off x="3747646" y="759292"/>
              <a:ext cx="246162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2324">
                      <a:extLst>
                        <a:ext uri="{9D8B030D-6E8A-4147-A177-3AD203B41FA5}">
                          <a16:colId xmlns:a16="http://schemas.microsoft.com/office/drawing/2014/main" val="2263360601"/>
                        </a:ext>
                      </a:extLst>
                    </a:gridCol>
                    <a:gridCol w="492324">
                      <a:extLst>
                        <a:ext uri="{9D8B030D-6E8A-4147-A177-3AD203B41FA5}">
                          <a16:colId xmlns:a16="http://schemas.microsoft.com/office/drawing/2014/main" val="2894566695"/>
                        </a:ext>
                      </a:extLst>
                    </a:gridCol>
                    <a:gridCol w="492324">
                      <a:extLst>
                        <a:ext uri="{9D8B030D-6E8A-4147-A177-3AD203B41FA5}">
                          <a16:colId xmlns:a16="http://schemas.microsoft.com/office/drawing/2014/main" val="1249002347"/>
                        </a:ext>
                      </a:extLst>
                    </a:gridCol>
                    <a:gridCol w="492324">
                      <a:extLst>
                        <a:ext uri="{9D8B030D-6E8A-4147-A177-3AD203B41FA5}">
                          <a16:colId xmlns:a16="http://schemas.microsoft.com/office/drawing/2014/main" val="328870005"/>
                        </a:ext>
                      </a:extLst>
                    </a:gridCol>
                    <a:gridCol w="492324">
                      <a:extLst>
                        <a:ext uri="{9D8B030D-6E8A-4147-A177-3AD203B41FA5}">
                          <a16:colId xmlns:a16="http://schemas.microsoft.com/office/drawing/2014/main" val="38525577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7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7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17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7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1441" marR="91441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9ECE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700" dirty="0">
                              <a:solidFill>
                                <a:schemeClr val="tx1"/>
                              </a:solidFill>
                            </a:rPr>
                            <a:t>[M]</a:t>
                          </a:r>
                          <a:endParaRPr lang="zh-CN" altLang="en-US" sz="17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1441" marR="91441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7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7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17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7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1441" marR="91441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9ECE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700" dirty="0">
                              <a:solidFill>
                                <a:schemeClr val="tx1"/>
                              </a:solidFill>
                            </a:rPr>
                            <a:t>[M]</a:t>
                          </a:r>
                          <a:endParaRPr lang="zh-CN" altLang="en-US" sz="17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1441" marR="91441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7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7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17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7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1441" marR="91441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9ECE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259226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表格 7">
                <a:extLst>
                  <a:ext uri="{FF2B5EF4-FFF2-40B4-BE49-F238E27FC236}">
                    <a16:creationId xmlns:a16="http://schemas.microsoft.com/office/drawing/2014/main" id="{8D41D225-3BA0-4727-9D0B-CFD2534F768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3597146"/>
                  </p:ext>
                </p:extLst>
              </p:nvPr>
            </p:nvGraphicFramePr>
            <p:xfrm>
              <a:off x="3747646" y="759292"/>
              <a:ext cx="246162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2324">
                      <a:extLst>
                        <a:ext uri="{9D8B030D-6E8A-4147-A177-3AD203B41FA5}">
                          <a16:colId xmlns:a16="http://schemas.microsoft.com/office/drawing/2014/main" val="2263360601"/>
                        </a:ext>
                      </a:extLst>
                    </a:gridCol>
                    <a:gridCol w="492324">
                      <a:extLst>
                        <a:ext uri="{9D8B030D-6E8A-4147-A177-3AD203B41FA5}">
                          <a16:colId xmlns:a16="http://schemas.microsoft.com/office/drawing/2014/main" val="2894566695"/>
                        </a:ext>
                      </a:extLst>
                    </a:gridCol>
                    <a:gridCol w="492324">
                      <a:extLst>
                        <a:ext uri="{9D8B030D-6E8A-4147-A177-3AD203B41FA5}">
                          <a16:colId xmlns:a16="http://schemas.microsoft.com/office/drawing/2014/main" val="1249002347"/>
                        </a:ext>
                      </a:extLst>
                    </a:gridCol>
                    <a:gridCol w="492324">
                      <a:extLst>
                        <a:ext uri="{9D8B030D-6E8A-4147-A177-3AD203B41FA5}">
                          <a16:colId xmlns:a16="http://schemas.microsoft.com/office/drawing/2014/main" val="328870005"/>
                        </a:ext>
                      </a:extLst>
                    </a:gridCol>
                    <a:gridCol w="492324">
                      <a:extLst>
                        <a:ext uri="{9D8B030D-6E8A-4147-A177-3AD203B41FA5}">
                          <a16:colId xmlns:a16="http://schemas.microsoft.com/office/drawing/2014/main" val="38525577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41" marR="91441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235" t="-4839" r="-402469" b="-161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700" dirty="0">
                              <a:solidFill>
                                <a:schemeClr val="tx1"/>
                              </a:solidFill>
                            </a:rPr>
                            <a:t>[M]</a:t>
                          </a:r>
                          <a:endParaRPr lang="zh-CN" altLang="en-US" sz="17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1441" marR="91441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41" marR="91441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01235" t="-4839" r="-202469" b="-161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700" dirty="0">
                              <a:solidFill>
                                <a:schemeClr val="tx1"/>
                              </a:solidFill>
                            </a:rPr>
                            <a:t>[M]</a:t>
                          </a:r>
                          <a:endParaRPr lang="zh-CN" altLang="en-US" sz="17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1441" marR="91441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41" marR="91441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01235" t="-4839" r="-2469" b="-161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2592265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9FBD20AE-B54F-47CE-8B8A-955412A3D665}"/>
              </a:ext>
            </a:extLst>
          </p:cNvPr>
          <p:cNvCxnSpPr>
            <a:cxnSpLocks/>
          </p:cNvCxnSpPr>
          <p:nvPr/>
        </p:nvCxnSpPr>
        <p:spPr>
          <a:xfrm>
            <a:off x="2611900" y="965830"/>
            <a:ext cx="1135746" cy="0"/>
          </a:xfrm>
          <a:prstGeom prst="straightConnector1">
            <a:avLst/>
          </a:prstGeom>
          <a:ln w="12700"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C07ABE7D-CE32-4C34-83DF-832C50B7DF6B}"/>
              </a:ext>
            </a:extLst>
          </p:cNvPr>
          <p:cNvSpPr txBox="1"/>
          <p:nvPr/>
        </p:nvSpPr>
        <p:spPr>
          <a:xfrm>
            <a:off x="2779181" y="70267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随机遮掩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0AFDED6-7F44-421C-8475-80266E6A8D39}"/>
              </a:ext>
            </a:extLst>
          </p:cNvPr>
          <p:cNvSpPr txBox="1"/>
          <p:nvPr/>
        </p:nvSpPr>
        <p:spPr>
          <a:xfrm>
            <a:off x="4371905" y="482294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部分可见与掩码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61045CE-B9AB-4799-BD2D-9926826EE23B}"/>
              </a:ext>
            </a:extLst>
          </p:cNvPr>
          <p:cNvSpPr/>
          <p:nvPr/>
        </p:nvSpPr>
        <p:spPr>
          <a:xfrm>
            <a:off x="7197563" y="223883"/>
            <a:ext cx="1173708" cy="1153236"/>
          </a:xfrm>
          <a:prstGeom prst="roundRect">
            <a:avLst>
              <a:gd name="adj" fmla="val 13471"/>
            </a:avLst>
          </a:prstGeom>
          <a:solidFill>
            <a:srgbClr val="D9D9FF"/>
          </a:solidFill>
          <a:ln>
            <a:solidFill>
              <a:srgbClr val="737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1DF98A8E-5F18-4410-908E-936A2FF7E44C}"/>
              </a:ext>
            </a:extLst>
          </p:cNvPr>
          <p:cNvSpPr/>
          <p:nvPr/>
        </p:nvSpPr>
        <p:spPr>
          <a:xfrm>
            <a:off x="7161519" y="265940"/>
            <a:ext cx="1173708" cy="1153236"/>
          </a:xfrm>
          <a:prstGeom prst="roundRect">
            <a:avLst>
              <a:gd name="adj" fmla="val 13471"/>
            </a:avLst>
          </a:prstGeom>
          <a:solidFill>
            <a:srgbClr val="D9D9FF"/>
          </a:solidFill>
          <a:ln>
            <a:solidFill>
              <a:srgbClr val="737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BB6916B-83FE-4E1B-803D-D5352637FC4D}"/>
              </a:ext>
            </a:extLst>
          </p:cNvPr>
          <p:cNvSpPr/>
          <p:nvPr/>
        </p:nvSpPr>
        <p:spPr>
          <a:xfrm>
            <a:off x="7129676" y="307997"/>
            <a:ext cx="1173708" cy="1153236"/>
          </a:xfrm>
          <a:prstGeom prst="roundRect">
            <a:avLst>
              <a:gd name="adj" fmla="val 13471"/>
            </a:avLst>
          </a:prstGeom>
          <a:solidFill>
            <a:srgbClr val="D9D9FF"/>
          </a:solidFill>
          <a:ln>
            <a:solidFill>
              <a:srgbClr val="737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89BBCD8-5A12-43B9-90EB-2C5F030E0BCA}"/>
              </a:ext>
            </a:extLst>
          </p:cNvPr>
          <p:cNvSpPr/>
          <p:nvPr/>
        </p:nvSpPr>
        <p:spPr>
          <a:xfrm>
            <a:off x="7079984" y="350054"/>
            <a:ext cx="1372520" cy="1442051"/>
          </a:xfrm>
          <a:prstGeom prst="roundRect">
            <a:avLst>
              <a:gd name="adj" fmla="val 13471"/>
            </a:avLst>
          </a:prstGeom>
          <a:solidFill>
            <a:srgbClr val="D9D9FF"/>
          </a:solidFill>
          <a:ln>
            <a:solidFill>
              <a:srgbClr val="737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5BF1C26-4CA1-47FB-9C92-B46BF11B8F62}"/>
              </a:ext>
            </a:extLst>
          </p:cNvPr>
          <p:cNvSpPr txBox="1"/>
          <p:nvPr/>
        </p:nvSpPr>
        <p:spPr>
          <a:xfrm>
            <a:off x="7250720" y="422952"/>
            <a:ext cx="10310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Transformer</a:t>
            </a:r>
          </a:p>
          <a:p>
            <a:pPr algn="ctr"/>
            <a:r>
              <a:rPr lang="en-US" altLang="zh-CN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Encoder</a:t>
            </a:r>
            <a:endParaRPr lang="zh-CN" altLang="en-US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BCDA9116-B6A9-4DB7-9397-E5ADD5A4E9DC}"/>
                  </a:ext>
                </a:extLst>
              </p:cNvPr>
              <p:cNvSpPr txBox="1"/>
              <p:nvPr/>
            </p:nvSpPr>
            <p:spPr>
              <a:xfrm>
                <a:off x="7317922" y="1098315"/>
                <a:ext cx="9854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𝐿</m:t>
                      </m:r>
                      <m: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𝐵𝑙𝑜𝑐𝑘𝑠</m:t>
                      </m:r>
                    </m:oMath>
                  </m:oMathPara>
                </a14:m>
                <a:endParaRPr lang="en-US" altLang="zh-CN" sz="1200" dirty="0">
                  <a:latin typeface="宋体" panose="02010600030101010101" pitchFamily="2" charset="-122"/>
                  <a:ea typeface="Cambria Math" panose="02040503050406030204" pitchFamily="18" charset="0"/>
                </a:endParaRPr>
              </a:p>
              <a:p>
                <a:pPr algn="ctr"/>
                <a:r>
                  <a:rPr lang="en-US" altLang="zh-CN" sz="1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(MHA+FFN)</a:t>
                </a:r>
                <a:endPara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BCDA9116-B6A9-4DB7-9397-E5ADD5A4E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7922" y="1098315"/>
                <a:ext cx="985462" cy="461665"/>
              </a:xfrm>
              <a:prstGeom prst="rect">
                <a:avLst/>
              </a:prstGeom>
              <a:blipFill>
                <a:blip r:embed="rId5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C6D4D52D-65DB-4A41-80A2-DCCD4EB740FC}"/>
              </a:ext>
            </a:extLst>
          </p:cNvPr>
          <p:cNvCxnSpPr>
            <a:cxnSpLocks/>
          </p:cNvCxnSpPr>
          <p:nvPr/>
        </p:nvCxnSpPr>
        <p:spPr>
          <a:xfrm>
            <a:off x="6209267" y="941454"/>
            <a:ext cx="870719" cy="0"/>
          </a:xfrm>
          <a:prstGeom prst="straightConnector1">
            <a:avLst/>
          </a:prstGeom>
          <a:ln w="12700"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49C07E15-DDA2-4DB6-9214-1CAAF2A7CCB7}"/>
              </a:ext>
            </a:extLst>
          </p:cNvPr>
          <p:cNvSpPr txBox="1"/>
          <p:nvPr/>
        </p:nvSpPr>
        <p:spPr>
          <a:xfrm>
            <a:off x="6146351" y="641521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仅可见片段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7DA9D5EB-BCE4-4456-99FD-22DB16CDBFDC}"/>
              </a:ext>
            </a:extLst>
          </p:cNvPr>
          <p:cNvSpPr/>
          <p:nvPr/>
        </p:nvSpPr>
        <p:spPr>
          <a:xfrm>
            <a:off x="7228359" y="2893488"/>
            <a:ext cx="1100843" cy="769398"/>
          </a:xfrm>
          <a:prstGeom prst="roundRect">
            <a:avLst>
              <a:gd name="adj" fmla="val 13471"/>
            </a:avLst>
          </a:prstGeom>
          <a:solidFill>
            <a:srgbClr val="D4F3FD"/>
          </a:solidFill>
          <a:ln>
            <a:solidFill>
              <a:srgbClr val="737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536B13DB-A492-41EA-BAD2-B0E921E01D98}"/>
              </a:ext>
            </a:extLst>
          </p:cNvPr>
          <p:cNvSpPr/>
          <p:nvPr/>
        </p:nvSpPr>
        <p:spPr>
          <a:xfrm>
            <a:off x="7194552" y="2921547"/>
            <a:ext cx="1100843" cy="769398"/>
          </a:xfrm>
          <a:prstGeom prst="roundRect">
            <a:avLst>
              <a:gd name="adj" fmla="val 13471"/>
            </a:avLst>
          </a:prstGeom>
          <a:solidFill>
            <a:srgbClr val="D4F3FD"/>
          </a:solidFill>
          <a:ln>
            <a:solidFill>
              <a:srgbClr val="737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F3A8E3EB-4AC4-49B5-9F50-78B4BC077AB2}"/>
              </a:ext>
            </a:extLst>
          </p:cNvPr>
          <p:cNvSpPr/>
          <p:nvPr/>
        </p:nvSpPr>
        <p:spPr>
          <a:xfrm>
            <a:off x="7164686" y="2949606"/>
            <a:ext cx="1100843" cy="769398"/>
          </a:xfrm>
          <a:prstGeom prst="roundRect">
            <a:avLst>
              <a:gd name="adj" fmla="val 13471"/>
            </a:avLst>
          </a:prstGeom>
          <a:solidFill>
            <a:srgbClr val="D4F3FD"/>
          </a:solidFill>
          <a:ln>
            <a:solidFill>
              <a:srgbClr val="737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7EE03ABC-588F-46D0-BFA8-5294588084F8}"/>
              </a:ext>
            </a:extLst>
          </p:cNvPr>
          <p:cNvSpPr/>
          <p:nvPr/>
        </p:nvSpPr>
        <p:spPr>
          <a:xfrm>
            <a:off x="7118079" y="2977665"/>
            <a:ext cx="1287312" cy="962085"/>
          </a:xfrm>
          <a:prstGeom prst="roundRect">
            <a:avLst>
              <a:gd name="adj" fmla="val 13471"/>
            </a:avLst>
          </a:prstGeom>
          <a:solidFill>
            <a:srgbClr val="D4F3FD"/>
          </a:solidFill>
          <a:ln>
            <a:solidFill>
              <a:srgbClr val="737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E6154F9-AFDD-46DD-9B3C-703677B9F0CB}"/>
              </a:ext>
            </a:extLst>
          </p:cNvPr>
          <p:cNvSpPr txBox="1"/>
          <p:nvPr/>
        </p:nvSpPr>
        <p:spPr>
          <a:xfrm>
            <a:off x="7417085" y="3128599"/>
            <a:ext cx="723275" cy="276999"/>
          </a:xfrm>
          <a:prstGeom prst="rect">
            <a:avLst/>
          </a:prstGeom>
          <a:solidFill>
            <a:srgbClr val="D4F3FD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Decoder</a:t>
            </a:r>
            <a:endParaRPr lang="zh-CN" altLang="en-US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F6A7ADA8-5FD7-4908-A031-9E6C6EB26CF2}"/>
                  </a:ext>
                </a:extLst>
              </p:cNvPr>
              <p:cNvSpPr txBox="1"/>
              <p:nvPr/>
            </p:nvSpPr>
            <p:spPr>
              <a:xfrm>
                <a:off x="7261882" y="3455829"/>
                <a:ext cx="1035796" cy="276999"/>
              </a:xfrm>
              <a:prstGeom prst="rect">
                <a:avLst/>
              </a:prstGeom>
              <a:solidFill>
                <a:srgbClr val="D4F3FD"/>
              </a:solidFill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𝑀</m:t>
                      </m:r>
                      <m: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𝐵𝑙𝑜𝑐𝑘𝑠</m:t>
                      </m:r>
                    </m:oMath>
                  </m:oMathPara>
                </a14:m>
                <a:endParaRPr lang="en-US" altLang="zh-CN" sz="1200" dirty="0">
                  <a:latin typeface="宋体" panose="02010600030101010101" pitchFamily="2" charset="-122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F6A7ADA8-5FD7-4908-A031-9E6C6EB26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882" y="3455829"/>
                <a:ext cx="1035796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BE6E5D5C-379E-4C61-8373-3F31F3C27778}"/>
              </a:ext>
            </a:extLst>
          </p:cNvPr>
          <p:cNvCxnSpPr>
            <a:cxnSpLocks/>
            <a:stCxn id="20" idx="2"/>
            <a:endCxn id="34" idx="0"/>
          </p:cNvCxnSpPr>
          <p:nvPr/>
        </p:nvCxnSpPr>
        <p:spPr>
          <a:xfrm>
            <a:off x="7766244" y="1792110"/>
            <a:ext cx="12536" cy="1101381"/>
          </a:xfrm>
          <a:prstGeom prst="straightConnector1">
            <a:avLst/>
          </a:prstGeom>
          <a:ln w="12700"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F32B3C49-8BF0-4B2D-B4E8-EBBB7213458E}"/>
              </a:ext>
            </a:extLst>
          </p:cNvPr>
          <p:cNvSpPr txBox="1"/>
          <p:nvPr/>
        </p:nvSpPr>
        <p:spPr>
          <a:xfrm>
            <a:off x="7721490" y="2060349"/>
            <a:ext cx="11849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掩码标记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(Mask Tokens)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3" name="表格 7">
                <a:extLst>
                  <a:ext uri="{FF2B5EF4-FFF2-40B4-BE49-F238E27FC236}">
                    <a16:creationId xmlns:a16="http://schemas.microsoft.com/office/drawing/2014/main" id="{5E45004D-7ACD-4AEE-9FDE-2DB5750D2A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4194367"/>
                  </p:ext>
                </p:extLst>
              </p:nvPr>
            </p:nvGraphicFramePr>
            <p:xfrm>
              <a:off x="3747646" y="3271495"/>
              <a:ext cx="246162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2324">
                      <a:extLst>
                        <a:ext uri="{9D8B030D-6E8A-4147-A177-3AD203B41FA5}">
                          <a16:colId xmlns:a16="http://schemas.microsoft.com/office/drawing/2014/main" val="2263360601"/>
                        </a:ext>
                      </a:extLst>
                    </a:gridCol>
                    <a:gridCol w="492324">
                      <a:extLst>
                        <a:ext uri="{9D8B030D-6E8A-4147-A177-3AD203B41FA5}">
                          <a16:colId xmlns:a16="http://schemas.microsoft.com/office/drawing/2014/main" val="2894566695"/>
                        </a:ext>
                      </a:extLst>
                    </a:gridCol>
                    <a:gridCol w="492324">
                      <a:extLst>
                        <a:ext uri="{9D8B030D-6E8A-4147-A177-3AD203B41FA5}">
                          <a16:colId xmlns:a16="http://schemas.microsoft.com/office/drawing/2014/main" val="1249002347"/>
                        </a:ext>
                      </a:extLst>
                    </a:gridCol>
                    <a:gridCol w="492324">
                      <a:extLst>
                        <a:ext uri="{9D8B030D-6E8A-4147-A177-3AD203B41FA5}">
                          <a16:colId xmlns:a16="http://schemas.microsoft.com/office/drawing/2014/main" val="328870005"/>
                        </a:ext>
                      </a:extLst>
                    </a:gridCol>
                    <a:gridCol w="492324">
                      <a:extLst>
                        <a:ext uri="{9D8B030D-6E8A-4147-A177-3AD203B41FA5}">
                          <a16:colId xmlns:a16="http://schemas.microsoft.com/office/drawing/2014/main" val="38525577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7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zh-CN" sz="17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7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sz="17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7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1441" marR="91441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9ECE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7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zh-CN" sz="17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7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sz="17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7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1441" marR="91441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7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zh-CN" sz="17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7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sz="17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7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1441" marR="91441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9ECE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7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zh-CN" sz="17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7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sz="17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7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1441" marR="91441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7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zh-CN" sz="17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7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sz="17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7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1441" marR="91441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9ECE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259226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3" name="表格 7">
                <a:extLst>
                  <a:ext uri="{FF2B5EF4-FFF2-40B4-BE49-F238E27FC236}">
                    <a16:creationId xmlns:a16="http://schemas.microsoft.com/office/drawing/2014/main" id="{5E45004D-7ACD-4AEE-9FDE-2DB5750D2A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4194367"/>
                  </p:ext>
                </p:extLst>
              </p:nvPr>
            </p:nvGraphicFramePr>
            <p:xfrm>
              <a:off x="3747646" y="3271495"/>
              <a:ext cx="246162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2324">
                      <a:extLst>
                        <a:ext uri="{9D8B030D-6E8A-4147-A177-3AD203B41FA5}">
                          <a16:colId xmlns:a16="http://schemas.microsoft.com/office/drawing/2014/main" val="2263360601"/>
                        </a:ext>
                      </a:extLst>
                    </a:gridCol>
                    <a:gridCol w="492324">
                      <a:extLst>
                        <a:ext uri="{9D8B030D-6E8A-4147-A177-3AD203B41FA5}">
                          <a16:colId xmlns:a16="http://schemas.microsoft.com/office/drawing/2014/main" val="2894566695"/>
                        </a:ext>
                      </a:extLst>
                    </a:gridCol>
                    <a:gridCol w="492324">
                      <a:extLst>
                        <a:ext uri="{9D8B030D-6E8A-4147-A177-3AD203B41FA5}">
                          <a16:colId xmlns:a16="http://schemas.microsoft.com/office/drawing/2014/main" val="1249002347"/>
                        </a:ext>
                      </a:extLst>
                    </a:gridCol>
                    <a:gridCol w="492324">
                      <a:extLst>
                        <a:ext uri="{9D8B030D-6E8A-4147-A177-3AD203B41FA5}">
                          <a16:colId xmlns:a16="http://schemas.microsoft.com/office/drawing/2014/main" val="328870005"/>
                        </a:ext>
                      </a:extLst>
                    </a:gridCol>
                    <a:gridCol w="492324">
                      <a:extLst>
                        <a:ext uri="{9D8B030D-6E8A-4147-A177-3AD203B41FA5}">
                          <a16:colId xmlns:a16="http://schemas.microsoft.com/office/drawing/2014/main" val="38525577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41" marR="91441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1235" t="-1613" r="-402469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41" marR="91441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101235" t="-1613" r="-302469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41" marR="91441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201235" t="-1613" r="-202469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41" marR="91441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301235" t="-1613" r="-102469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41" marR="91441">
                        <a:lnL w="12700" cap="flat" cmpd="sng" algn="ctr">
                          <a:solidFill>
                            <a:schemeClr val="tx1"/>
                          </a:solidFill>
                          <a:prstDash val="sysDash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401235" t="-1613" r="-2469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259226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12611964-D5E8-4B72-BCDA-AF1CF8E58C96}"/>
                  </a:ext>
                </a:extLst>
              </p:cNvPr>
              <p:cNvSpPr txBox="1"/>
              <p:nvPr/>
            </p:nvSpPr>
            <p:spPr>
              <a:xfrm>
                <a:off x="4372877" y="2994497"/>
                <a:ext cx="1211165" cy="2820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重构</a:t>
                </a:r>
                <a14:m>
                  <m:oMath xmlns:m="http://schemas.openxmlformats.org/officeDocument/2006/math">
                    <m:r>
                      <a:rPr lang="zh-CN" altLang="en-US" sz="1200" i="1" dirty="0">
                        <a:latin typeface="Cambria Math" panose="02040503050406030204" pitchFamily="18" charset="0"/>
                      </a:rPr>
                      <m:t>流量序列</m:t>
                    </m:r>
                    <m:acc>
                      <m:accPr>
                        <m:chr m:val="̂"/>
                        <m:ctrlPr>
                          <a:rPr lang="zh-CN" altLang="en-US" sz="12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2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endPara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12611964-D5E8-4B72-BCDA-AF1CF8E58C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2877" y="2994497"/>
                <a:ext cx="1211165" cy="282000"/>
              </a:xfrm>
              <a:prstGeom prst="rect">
                <a:avLst/>
              </a:prstGeom>
              <a:blipFill>
                <a:blip r:embed="rId8"/>
                <a:stretch>
                  <a:fillRect r="-12060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58147E05-9F01-4C91-86A6-9201752F36EF}"/>
              </a:ext>
            </a:extLst>
          </p:cNvPr>
          <p:cNvCxnSpPr>
            <a:cxnSpLocks/>
            <a:stCxn id="37" idx="1"/>
            <a:endCxn id="43" idx="3"/>
          </p:cNvCxnSpPr>
          <p:nvPr/>
        </p:nvCxnSpPr>
        <p:spPr>
          <a:xfrm flipH="1" flipV="1">
            <a:off x="6209267" y="3456916"/>
            <a:ext cx="908813" cy="1793"/>
          </a:xfrm>
          <a:prstGeom prst="straightConnector1">
            <a:avLst/>
          </a:prstGeom>
          <a:ln w="12700"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AC033407-60D8-447A-B6B5-863DF3F199C2}"/>
              </a:ext>
            </a:extLst>
          </p:cNvPr>
          <p:cNvSpPr txBox="1"/>
          <p:nvPr/>
        </p:nvSpPr>
        <p:spPr>
          <a:xfrm>
            <a:off x="6244519" y="3178834"/>
            <a:ext cx="8002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序列预测</a:t>
            </a:r>
          </a:p>
        </p:txBody>
      </p:sp>
      <p:sp>
        <p:nvSpPr>
          <p:cNvPr id="50" name="右大括号 49">
            <a:extLst>
              <a:ext uri="{FF2B5EF4-FFF2-40B4-BE49-F238E27FC236}">
                <a16:creationId xmlns:a16="http://schemas.microsoft.com/office/drawing/2014/main" id="{F13BC039-7BC3-4463-8C60-D853F029FDAC}"/>
              </a:ext>
            </a:extLst>
          </p:cNvPr>
          <p:cNvSpPr/>
          <p:nvPr/>
        </p:nvSpPr>
        <p:spPr>
          <a:xfrm rot="5400000">
            <a:off x="1277818" y="2591"/>
            <a:ext cx="206538" cy="2461620"/>
          </a:xfrm>
          <a:prstGeom prst="rightBrace">
            <a:avLst>
              <a:gd name="adj1" fmla="val 141027"/>
              <a:gd name="adj2" fmla="val 50277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3B968A10-53A2-4CB7-A346-28262E67A987}"/>
                  </a:ext>
                </a:extLst>
              </p:cNvPr>
              <p:cNvSpPr txBox="1"/>
              <p:nvPr/>
            </p:nvSpPr>
            <p:spPr>
              <a:xfrm>
                <a:off x="1010537" y="1369981"/>
                <a:ext cx="74110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时间步</a:t>
                </a:r>
                <a14:m>
                  <m:oMath xmlns:m="http://schemas.openxmlformats.org/officeDocument/2006/math">
                    <m:r>
                      <a:rPr lang="en-US" altLang="zh-CN" sz="1200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𝑇</m:t>
                    </m:r>
                  </m:oMath>
                </a14:m>
                <a:endPara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3B968A10-53A2-4CB7-A346-28262E67A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537" y="1369981"/>
                <a:ext cx="741100" cy="276999"/>
              </a:xfrm>
              <a:prstGeom prst="rect">
                <a:avLst/>
              </a:prstGeom>
              <a:blipFill>
                <a:blip r:embed="rId9"/>
                <a:stretch>
                  <a:fillRect l="-826" t="-2222" b="-1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流程图: 接点 51">
            <a:extLst>
              <a:ext uri="{FF2B5EF4-FFF2-40B4-BE49-F238E27FC236}">
                <a16:creationId xmlns:a16="http://schemas.microsoft.com/office/drawing/2014/main" id="{8BDE72D4-A257-487D-A47C-2E16FBAAC392}"/>
              </a:ext>
            </a:extLst>
          </p:cNvPr>
          <p:cNvSpPr/>
          <p:nvPr/>
        </p:nvSpPr>
        <p:spPr>
          <a:xfrm>
            <a:off x="859955" y="2949605"/>
            <a:ext cx="1008000" cy="1008000"/>
          </a:xfrm>
          <a:prstGeom prst="flowChartConnector">
            <a:avLst/>
          </a:prstGeom>
          <a:solidFill>
            <a:srgbClr val="F9E6EC"/>
          </a:solidFill>
          <a:ln>
            <a:solidFill>
              <a:srgbClr val="D14A7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35272A72-8FD2-4F37-BF98-4C6C17A1A0E2}"/>
                  </a:ext>
                </a:extLst>
              </p:cNvPr>
              <p:cNvSpPr txBox="1"/>
              <p:nvPr/>
            </p:nvSpPr>
            <p:spPr>
              <a:xfrm>
                <a:off x="1006399" y="3231096"/>
                <a:ext cx="73924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𝑀𝑆𝐸</m:t>
                          </m:r>
                        </m:sub>
                      </m:sSub>
                    </m:oMath>
                  </m:oMathPara>
                </a14:m>
                <a:endPara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35272A72-8FD2-4F37-BF98-4C6C17A1A0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399" y="3231096"/>
                <a:ext cx="739240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F5C0FE84-EED7-45EC-B7E8-E0789FBC884A}"/>
              </a:ext>
            </a:extLst>
          </p:cNvPr>
          <p:cNvCxnSpPr>
            <a:cxnSpLocks/>
            <a:stCxn id="51" idx="2"/>
            <a:endCxn id="52" idx="0"/>
          </p:cNvCxnSpPr>
          <p:nvPr/>
        </p:nvCxnSpPr>
        <p:spPr>
          <a:xfrm flipH="1">
            <a:off x="1363955" y="1646979"/>
            <a:ext cx="17132" cy="1302626"/>
          </a:xfrm>
          <a:prstGeom prst="straightConnector1">
            <a:avLst/>
          </a:prstGeom>
          <a:ln w="12700">
            <a:solidFill>
              <a:srgbClr val="D1507D"/>
            </a:solidFill>
            <a:prstDash val="dash"/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16E5F46E-AB44-425D-9CA9-298BC3440D90}"/>
              </a:ext>
            </a:extLst>
          </p:cNvPr>
          <p:cNvSpPr txBox="1"/>
          <p:nvPr/>
        </p:nvSpPr>
        <p:spPr>
          <a:xfrm>
            <a:off x="515139" y="2159795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自监督信号</a:t>
            </a:r>
          </a:p>
        </p:txBody>
      </p: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13BDC432-BBEE-403B-8549-9593D250561B}"/>
              </a:ext>
            </a:extLst>
          </p:cNvPr>
          <p:cNvCxnSpPr>
            <a:cxnSpLocks/>
            <a:stCxn id="43" idx="1"/>
            <a:endCxn id="52" idx="6"/>
          </p:cNvCxnSpPr>
          <p:nvPr/>
        </p:nvCxnSpPr>
        <p:spPr>
          <a:xfrm flipH="1" flipV="1">
            <a:off x="1867956" y="3453605"/>
            <a:ext cx="1879691" cy="3310"/>
          </a:xfrm>
          <a:prstGeom prst="straightConnector1">
            <a:avLst/>
          </a:prstGeom>
          <a:ln w="12700">
            <a:solidFill>
              <a:srgbClr val="D1507D"/>
            </a:solidFill>
            <a:prstDash val="dash"/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67336675-411F-4073-91D9-58E26DEC160F}"/>
              </a:ext>
            </a:extLst>
          </p:cNvPr>
          <p:cNvCxnSpPr>
            <a:cxnSpLocks/>
          </p:cNvCxnSpPr>
          <p:nvPr/>
        </p:nvCxnSpPr>
        <p:spPr>
          <a:xfrm>
            <a:off x="8452504" y="941454"/>
            <a:ext cx="637708" cy="0"/>
          </a:xfrm>
          <a:prstGeom prst="straightConnector1">
            <a:avLst/>
          </a:prstGeom>
          <a:ln w="12700"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BD833AB2-1E29-4F91-A0EB-0E091A6CB722}"/>
              </a:ext>
            </a:extLst>
          </p:cNvPr>
          <p:cNvSpPr txBox="1"/>
          <p:nvPr/>
        </p:nvSpPr>
        <p:spPr>
          <a:xfrm>
            <a:off x="8585918" y="620793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特征提取</a:t>
            </a:r>
          </a:p>
        </p:txBody>
      </p:sp>
    </p:spTree>
    <p:extLst>
      <p:ext uri="{BB962C8B-B14F-4D97-AF65-F5344CB8AC3E}">
        <p14:creationId xmlns:p14="http://schemas.microsoft.com/office/powerpoint/2010/main" val="327560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</TotalTime>
  <Words>67</Words>
  <Application>Microsoft Office PowerPoint</Application>
  <PresentationFormat>自定义</PresentationFormat>
  <Paragraphs>33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宋体</vt:lpstr>
      <vt:lpstr>Arial</vt:lpstr>
      <vt:lpstr>Calibri</vt:lpstr>
      <vt:lpstr>Calibri Light</vt:lpstr>
      <vt:lpstr>Cambria Math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羲 王</dc:creator>
  <cp:lastModifiedBy>羲 王</cp:lastModifiedBy>
  <cp:revision>6</cp:revision>
  <dcterms:created xsi:type="dcterms:W3CDTF">2026-03-12T09:00:47Z</dcterms:created>
  <dcterms:modified xsi:type="dcterms:W3CDTF">2026-03-12T12:09:41Z</dcterms:modified>
</cp:coreProperties>
</file>