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10080625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507D"/>
    <a:srgbClr val="D14A78"/>
    <a:srgbClr val="F9E6EC"/>
    <a:srgbClr val="FFD9D9"/>
    <a:srgbClr val="BFBFBF"/>
    <a:srgbClr val="D9ECEC"/>
    <a:srgbClr val="D4F3FD"/>
    <a:srgbClr val="7373FF"/>
    <a:srgbClr val="CFCFFF"/>
    <a:srgbClr val="D9D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8" d="100"/>
          <a:sy n="158" d="100"/>
        </p:scale>
        <p:origin x="120" y="5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0078" y="706933"/>
            <a:ext cx="7560469" cy="1503857"/>
          </a:xfrm>
        </p:spPr>
        <p:txBody>
          <a:bodyPr anchor="b"/>
          <a:lstStyle>
            <a:lvl1pPr algn="ctr">
              <a:defRPr sz="377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0078" y="2268784"/>
            <a:ext cx="7560469" cy="1042900"/>
          </a:xfrm>
        </p:spPr>
        <p:txBody>
          <a:bodyPr/>
          <a:lstStyle>
            <a:lvl1pPr marL="0" indent="0" algn="ctr">
              <a:buNone/>
              <a:defRPr sz="1512"/>
            </a:lvl1pPr>
            <a:lvl2pPr marL="287990" indent="0" algn="ctr">
              <a:buNone/>
              <a:defRPr sz="1260"/>
            </a:lvl2pPr>
            <a:lvl3pPr marL="575981" indent="0" algn="ctr">
              <a:buNone/>
              <a:defRPr sz="1134"/>
            </a:lvl3pPr>
            <a:lvl4pPr marL="863971" indent="0" algn="ctr">
              <a:buNone/>
              <a:defRPr sz="1008"/>
            </a:lvl4pPr>
            <a:lvl5pPr marL="1151961" indent="0" algn="ctr">
              <a:buNone/>
              <a:defRPr sz="1008"/>
            </a:lvl5pPr>
            <a:lvl6pPr marL="1439951" indent="0" algn="ctr">
              <a:buNone/>
              <a:defRPr sz="1008"/>
            </a:lvl6pPr>
            <a:lvl7pPr marL="1727942" indent="0" algn="ctr">
              <a:buNone/>
              <a:defRPr sz="1008"/>
            </a:lvl7pPr>
            <a:lvl8pPr marL="2015932" indent="0" algn="ctr">
              <a:buNone/>
              <a:defRPr sz="1008"/>
            </a:lvl8pPr>
            <a:lvl9pPr marL="2303922" indent="0" algn="ctr">
              <a:buNone/>
              <a:defRPr sz="1008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6583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756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793" y="1076898"/>
            <a:ext cx="8694539" cy="1796828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793" y="2890725"/>
            <a:ext cx="8694539" cy="944910"/>
          </a:xfrm>
        </p:spPr>
        <p:txBody>
          <a:bodyPr/>
          <a:lstStyle>
            <a:lvl1pPr marL="0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1pPr>
            <a:lvl2pPr marL="28799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2pPr>
            <a:lvl3pPr marL="575981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3pPr>
            <a:lvl4pPr marL="86397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4pPr>
            <a:lvl5pPr marL="115196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5pPr>
            <a:lvl6pPr marL="143995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6pPr>
            <a:lvl7pPr marL="172794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7pPr>
            <a:lvl8pPr marL="201593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8pPr>
            <a:lvl9pPr marL="230392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0519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3043" y="1149890"/>
            <a:ext cx="4284266" cy="27407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3316" y="1149890"/>
            <a:ext cx="4284266" cy="27407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303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4356" y="229978"/>
            <a:ext cx="8694539" cy="83492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4357" y="1058899"/>
            <a:ext cx="4264576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57" y="1577849"/>
            <a:ext cx="4264576" cy="23207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03316" y="1058899"/>
            <a:ext cx="4285579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03316" y="1577849"/>
            <a:ext cx="4285579" cy="23207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1073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1881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970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4356" y="287972"/>
            <a:ext cx="3251264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579" y="621941"/>
            <a:ext cx="5103316" cy="3069707"/>
          </a:xfrm>
        </p:spPr>
        <p:txBody>
          <a:bodyPr/>
          <a:lstStyle>
            <a:lvl1pPr>
              <a:defRPr sz="2016"/>
            </a:lvl1pPr>
            <a:lvl2pPr>
              <a:defRPr sz="1764"/>
            </a:lvl2pPr>
            <a:lvl3pPr>
              <a:defRPr sz="1512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4356" y="1295877"/>
            <a:ext cx="3251264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474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4356" y="287972"/>
            <a:ext cx="3251264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85579" y="621941"/>
            <a:ext cx="5103316" cy="3069707"/>
          </a:xfrm>
        </p:spPr>
        <p:txBody>
          <a:bodyPr anchor="t"/>
          <a:lstStyle>
            <a:lvl1pPr marL="0" indent="0">
              <a:buNone/>
              <a:defRPr sz="2016"/>
            </a:lvl1pPr>
            <a:lvl2pPr marL="287990" indent="0">
              <a:buNone/>
              <a:defRPr sz="1764"/>
            </a:lvl2pPr>
            <a:lvl3pPr marL="575981" indent="0">
              <a:buNone/>
              <a:defRPr sz="1512"/>
            </a:lvl3pPr>
            <a:lvl4pPr marL="863971" indent="0">
              <a:buNone/>
              <a:defRPr sz="1260"/>
            </a:lvl4pPr>
            <a:lvl5pPr marL="1151961" indent="0">
              <a:buNone/>
              <a:defRPr sz="1260"/>
            </a:lvl5pPr>
            <a:lvl6pPr marL="1439951" indent="0">
              <a:buNone/>
              <a:defRPr sz="1260"/>
            </a:lvl6pPr>
            <a:lvl7pPr marL="1727942" indent="0">
              <a:buNone/>
              <a:defRPr sz="1260"/>
            </a:lvl7pPr>
            <a:lvl8pPr marL="2015932" indent="0">
              <a:buNone/>
              <a:defRPr sz="1260"/>
            </a:lvl8pPr>
            <a:lvl9pPr marL="2303922" indent="0">
              <a:buNone/>
              <a:defRPr sz="126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4356" y="1295877"/>
            <a:ext cx="3251264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964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0740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213947" y="229978"/>
            <a:ext cx="2173635" cy="366065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3043" y="229978"/>
            <a:ext cx="6394896" cy="366065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000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3043" y="229978"/>
            <a:ext cx="8694539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3043" y="1149890"/>
            <a:ext cx="8694539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043" y="4003618"/>
            <a:ext cx="2268141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65E4E4-D6B5-457E-B6F2-B2625A9D9E69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9207" y="4003618"/>
            <a:ext cx="3402211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19441" y="4003618"/>
            <a:ext cx="2268141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8767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575981" rtl="0" eaLnBrk="1" latinLnBrk="0" hangingPunct="1">
        <a:lnSpc>
          <a:spcPct val="90000"/>
        </a:lnSpc>
        <a:spcBef>
          <a:spcPct val="0"/>
        </a:spcBef>
        <a:buNone/>
        <a:defRPr sz="27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3995" indent="-143995" algn="l" defTabSz="575981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31985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1997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96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29595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58394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87193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15992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44791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8799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7598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3pPr>
      <a:lvl4pPr marL="86397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15196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43995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72794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01593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30392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884FBF06-5F59-45AB-B662-7509A36E71CC}"/>
              </a:ext>
            </a:extLst>
          </p:cNvPr>
          <p:cNvSpPr/>
          <p:nvPr/>
        </p:nvSpPr>
        <p:spPr>
          <a:xfrm>
            <a:off x="272786" y="75043"/>
            <a:ext cx="8819904" cy="4169502"/>
          </a:xfrm>
          <a:prstGeom prst="roundRect">
            <a:avLst>
              <a:gd name="adj" fmla="val 3883"/>
            </a:avLst>
          </a:prstGeom>
          <a:solidFill>
            <a:srgbClr val="FAFAFF"/>
          </a:solidFill>
          <a:ln>
            <a:solidFill>
              <a:srgbClr val="CFCFF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表格 7">
                <a:extLst>
                  <a:ext uri="{FF2B5EF4-FFF2-40B4-BE49-F238E27FC236}">
                    <a16:creationId xmlns:a16="http://schemas.microsoft.com/office/drawing/2014/main" id="{68C9EC70-6C4C-42E9-921B-98C379ACE41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91108307"/>
                  </p:ext>
                </p:extLst>
              </p:nvPr>
            </p:nvGraphicFramePr>
            <p:xfrm>
              <a:off x="340025" y="796509"/>
              <a:ext cx="246162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92324">
                      <a:extLst>
                        <a:ext uri="{9D8B030D-6E8A-4147-A177-3AD203B41FA5}">
                          <a16:colId xmlns:a16="http://schemas.microsoft.com/office/drawing/2014/main" val="2263360601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289456669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1249002347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2887000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8525577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259226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表格 7">
                <a:extLst>
                  <a:ext uri="{FF2B5EF4-FFF2-40B4-BE49-F238E27FC236}">
                    <a16:creationId xmlns:a16="http://schemas.microsoft.com/office/drawing/2014/main" id="{68C9EC70-6C4C-42E9-921B-98C379ACE41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91108307"/>
                  </p:ext>
                </p:extLst>
              </p:nvPr>
            </p:nvGraphicFramePr>
            <p:xfrm>
              <a:off x="340025" y="796509"/>
              <a:ext cx="246162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92324">
                      <a:extLst>
                        <a:ext uri="{9D8B030D-6E8A-4147-A177-3AD203B41FA5}">
                          <a16:colId xmlns:a16="http://schemas.microsoft.com/office/drawing/2014/main" val="2263360601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289456669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1249002347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2887000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8525577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235" t="-1613" r="-4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1235" t="-1613" r="-3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235" t="-1613" r="-2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35" t="-1613" r="-1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1235" t="-1613" r="-2469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259226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ABC4F3-53B5-4987-8C33-6D0C229CBAFF}"/>
                  </a:ext>
                </a:extLst>
              </p:cNvPr>
              <p:cNvSpPr txBox="1"/>
              <p:nvPr/>
            </p:nvSpPr>
            <p:spPr>
              <a:xfrm>
                <a:off x="782860" y="448108"/>
                <a:ext cx="176138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原始流量序列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𝑋</m:t>
                        </m:r>
                      </m:e>
                      <m:sub>
                        <m:r>
                          <a:rPr lang="en-US" altLang="zh-CN" sz="1600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𝑣𝑖𝑠</m:t>
                        </m:r>
                      </m:sub>
                    </m:sSub>
                  </m:oMath>
                </a14:m>
                <a:endPara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ABC4F3-53B5-4987-8C33-6D0C229CB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860" y="448108"/>
                <a:ext cx="1761380" cy="338554"/>
              </a:xfrm>
              <a:prstGeom prst="rect">
                <a:avLst/>
              </a:prstGeom>
              <a:blipFill>
                <a:blip r:embed="rId3"/>
                <a:stretch>
                  <a:fillRect l="-1730" t="-7273" b="-218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表格 7">
                <a:extLst>
                  <a:ext uri="{FF2B5EF4-FFF2-40B4-BE49-F238E27FC236}">
                    <a16:creationId xmlns:a16="http://schemas.microsoft.com/office/drawing/2014/main" id="{8D41D225-3BA0-4727-9D0B-CFD2534F768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6285558"/>
                  </p:ext>
                </p:extLst>
              </p:nvPr>
            </p:nvGraphicFramePr>
            <p:xfrm>
              <a:off x="3722635" y="793200"/>
              <a:ext cx="246162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92324">
                      <a:extLst>
                        <a:ext uri="{9D8B030D-6E8A-4147-A177-3AD203B41FA5}">
                          <a16:colId xmlns:a16="http://schemas.microsoft.com/office/drawing/2014/main" val="2263360601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289456669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1249002347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2887000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8525577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700" dirty="0">
                              <a:solidFill>
                                <a:schemeClr val="tx1"/>
                              </a:solidFill>
                            </a:rPr>
                            <a:t>[M]</a:t>
                          </a:r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BFBFB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700" dirty="0">
                              <a:solidFill>
                                <a:schemeClr val="tx1"/>
                              </a:solidFill>
                            </a:rPr>
                            <a:t>[M]</a:t>
                          </a:r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BFBFB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259226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表格 7">
                <a:extLst>
                  <a:ext uri="{FF2B5EF4-FFF2-40B4-BE49-F238E27FC236}">
                    <a16:creationId xmlns:a16="http://schemas.microsoft.com/office/drawing/2014/main" id="{8D41D225-3BA0-4727-9D0B-CFD2534F768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6285558"/>
                  </p:ext>
                </p:extLst>
              </p:nvPr>
            </p:nvGraphicFramePr>
            <p:xfrm>
              <a:off x="3722635" y="793200"/>
              <a:ext cx="246162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92324">
                      <a:extLst>
                        <a:ext uri="{9D8B030D-6E8A-4147-A177-3AD203B41FA5}">
                          <a16:colId xmlns:a16="http://schemas.microsoft.com/office/drawing/2014/main" val="2263360601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289456669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1249002347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2887000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8525577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235" t="-4918" r="-402469" b="-163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700" dirty="0">
                              <a:solidFill>
                                <a:schemeClr val="tx1"/>
                              </a:solidFill>
                            </a:rPr>
                            <a:t>[M]</a:t>
                          </a:r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BFBFB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1235" t="-4918" r="-202469" b="-163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700" dirty="0">
                              <a:solidFill>
                                <a:schemeClr val="tx1"/>
                              </a:solidFill>
                            </a:rPr>
                            <a:t>[M]</a:t>
                          </a:r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BFBFB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401235" t="-4918" r="-2469" b="-1639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2592265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9FBD20AE-B54F-47CE-8B8A-955412A3D665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 flipV="1">
            <a:off x="2801645" y="978621"/>
            <a:ext cx="920990" cy="3309"/>
          </a:xfrm>
          <a:prstGeom prst="straightConnector1">
            <a:avLst/>
          </a:prstGeom>
          <a:ln w="12700"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C07ABE7D-CE32-4C34-83DF-832C50B7DF6B}"/>
              </a:ext>
            </a:extLst>
          </p:cNvPr>
          <p:cNvSpPr txBox="1"/>
          <p:nvPr/>
        </p:nvSpPr>
        <p:spPr>
          <a:xfrm>
            <a:off x="2748486" y="665122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随机遮掩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0AFDED6-7F44-421C-8475-80266E6A8D39}"/>
              </a:ext>
            </a:extLst>
          </p:cNvPr>
          <p:cNvSpPr txBox="1"/>
          <p:nvPr/>
        </p:nvSpPr>
        <p:spPr>
          <a:xfrm>
            <a:off x="4145616" y="448108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部分可见与掩码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561045CE-B9AB-4799-BD2D-9926826EE23B}"/>
              </a:ext>
            </a:extLst>
          </p:cNvPr>
          <p:cNvSpPr/>
          <p:nvPr/>
        </p:nvSpPr>
        <p:spPr>
          <a:xfrm>
            <a:off x="7736929" y="261099"/>
            <a:ext cx="1173708" cy="1153236"/>
          </a:xfrm>
          <a:prstGeom prst="roundRect">
            <a:avLst>
              <a:gd name="adj" fmla="val 13471"/>
            </a:avLst>
          </a:prstGeom>
          <a:solidFill>
            <a:srgbClr val="D9D9FF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DF98A8E-5F18-4410-908E-936A2FF7E44C}"/>
              </a:ext>
            </a:extLst>
          </p:cNvPr>
          <p:cNvSpPr/>
          <p:nvPr/>
        </p:nvSpPr>
        <p:spPr>
          <a:xfrm>
            <a:off x="7700885" y="303157"/>
            <a:ext cx="1173708" cy="1153236"/>
          </a:xfrm>
          <a:prstGeom prst="roundRect">
            <a:avLst>
              <a:gd name="adj" fmla="val 13471"/>
            </a:avLst>
          </a:prstGeom>
          <a:solidFill>
            <a:srgbClr val="D9D9FF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5BB6916B-83FE-4E1B-803D-D5352637FC4D}"/>
              </a:ext>
            </a:extLst>
          </p:cNvPr>
          <p:cNvSpPr/>
          <p:nvPr/>
        </p:nvSpPr>
        <p:spPr>
          <a:xfrm>
            <a:off x="7669042" y="345213"/>
            <a:ext cx="1173708" cy="1153236"/>
          </a:xfrm>
          <a:prstGeom prst="roundRect">
            <a:avLst>
              <a:gd name="adj" fmla="val 13471"/>
            </a:avLst>
          </a:prstGeom>
          <a:solidFill>
            <a:srgbClr val="D9D9FF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389BBCD8-5A12-43B9-90EB-2C5F030E0BCA}"/>
              </a:ext>
            </a:extLst>
          </p:cNvPr>
          <p:cNvSpPr/>
          <p:nvPr/>
        </p:nvSpPr>
        <p:spPr>
          <a:xfrm>
            <a:off x="7619350" y="387272"/>
            <a:ext cx="1372520" cy="1442051"/>
          </a:xfrm>
          <a:prstGeom prst="roundRect">
            <a:avLst>
              <a:gd name="adj" fmla="val 13471"/>
            </a:avLst>
          </a:prstGeom>
          <a:solidFill>
            <a:srgbClr val="D9D9FF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5BF1C26-4CA1-47FB-9C92-B46BF11B8F62}"/>
              </a:ext>
            </a:extLst>
          </p:cNvPr>
          <p:cNvSpPr txBox="1"/>
          <p:nvPr/>
        </p:nvSpPr>
        <p:spPr>
          <a:xfrm>
            <a:off x="7640205" y="460169"/>
            <a:ext cx="13308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Transformer</a:t>
            </a:r>
          </a:p>
          <a:p>
            <a:pPr algn="ctr"/>
            <a:r>
              <a:rPr lang="en-US" altLang="zh-CN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Encoder</a:t>
            </a:r>
            <a:endParaRPr lang="zh-CN" altLang="en-US" sz="16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CDA9116-B6A9-4DB7-9397-E5ADD5A4E9DC}"/>
                  </a:ext>
                </a:extLst>
              </p:cNvPr>
              <p:cNvSpPr txBox="1"/>
              <p:nvPr/>
            </p:nvSpPr>
            <p:spPr>
              <a:xfrm>
                <a:off x="7723759" y="1135533"/>
                <a:ext cx="1252522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𝐿</m:t>
                      </m:r>
                      <m:r>
                        <a:rPr lang="en-US" altLang="zh-CN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𝐵𝑙𝑜𝑐𝑘𝑠</m:t>
                      </m:r>
                    </m:oMath>
                  </m:oMathPara>
                </a14:m>
                <a:endParaRPr lang="en-US" altLang="zh-CN" sz="1600" dirty="0">
                  <a:latin typeface="宋体" panose="02010600030101010101" pitchFamily="2" charset="-122"/>
                  <a:ea typeface="Cambria Math" panose="02040503050406030204" pitchFamily="18" charset="0"/>
                </a:endParaRPr>
              </a:p>
              <a:p>
                <a:pPr algn="ctr"/>
                <a:r>
                  <a:rPr lang="en-US" altLang="zh-CN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(MHA+FFN)</a:t>
                </a:r>
                <a:endPara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CDA9116-B6A9-4DB7-9397-E5ADD5A4E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759" y="1135533"/>
                <a:ext cx="1252522" cy="584775"/>
              </a:xfrm>
              <a:prstGeom prst="rect">
                <a:avLst/>
              </a:prstGeom>
              <a:blipFill>
                <a:blip r:embed="rId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6D4D52D-65DB-4A41-80A2-DCCD4EB740FC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6184256" y="978620"/>
            <a:ext cx="1424107" cy="1"/>
          </a:xfrm>
          <a:prstGeom prst="straightConnector1">
            <a:avLst/>
          </a:prstGeom>
          <a:ln w="12700"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49C07E15-DDA2-4DB6-9214-1CAAF2A7CCB7}"/>
                  </a:ext>
                </a:extLst>
              </p:cNvPr>
              <p:cNvSpPr txBox="1"/>
              <p:nvPr/>
            </p:nvSpPr>
            <p:spPr>
              <a:xfrm>
                <a:off x="6130261" y="615778"/>
                <a:ext cx="1585819" cy="348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仅可见片段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pPr>
                      <m:e>
                        <m:r>
                          <a:rPr lang="en-US" altLang="zh-CN" sz="1600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𝐻</m:t>
                        </m:r>
                      </m:e>
                      <m:sup>
                        <m:r>
                          <a:rPr lang="en-US" altLang="zh-CN" sz="1600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(0)</m:t>
                        </m:r>
                      </m:sup>
                    </m:sSup>
                  </m:oMath>
                </a14:m>
                <a:endPara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49C07E15-DDA2-4DB6-9214-1CAAF2A7C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0261" y="615778"/>
                <a:ext cx="1585819" cy="348813"/>
              </a:xfrm>
              <a:prstGeom prst="rect">
                <a:avLst/>
              </a:prstGeom>
              <a:blipFill>
                <a:blip r:embed="rId6"/>
                <a:stretch>
                  <a:fillRect l="-2308" t="-5263" b="-1929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7DA9D5EB-BCE4-4456-99FD-22DB16CDBFDC}"/>
              </a:ext>
            </a:extLst>
          </p:cNvPr>
          <p:cNvSpPr/>
          <p:nvPr/>
        </p:nvSpPr>
        <p:spPr>
          <a:xfrm>
            <a:off x="7767727" y="2930704"/>
            <a:ext cx="1100843" cy="769398"/>
          </a:xfrm>
          <a:prstGeom prst="roundRect">
            <a:avLst>
              <a:gd name="adj" fmla="val 13471"/>
            </a:avLst>
          </a:prstGeom>
          <a:solidFill>
            <a:srgbClr val="D4F3FD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536B13DB-A492-41EA-BAD2-B0E921E01D98}"/>
              </a:ext>
            </a:extLst>
          </p:cNvPr>
          <p:cNvSpPr/>
          <p:nvPr/>
        </p:nvSpPr>
        <p:spPr>
          <a:xfrm>
            <a:off x="7733920" y="2958763"/>
            <a:ext cx="1100843" cy="769398"/>
          </a:xfrm>
          <a:prstGeom prst="roundRect">
            <a:avLst>
              <a:gd name="adj" fmla="val 13471"/>
            </a:avLst>
          </a:prstGeom>
          <a:solidFill>
            <a:srgbClr val="D4F3FD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F3A8E3EB-4AC4-49B5-9F50-78B4BC077AB2}"/>
              </a:ext>
            </a:extLst>
          </p:cNvPr>
          <p:cNvSpPr/>
          <p:nvPr/>
        </p:nvSpPr>
        <p:spPr>
          <a:xfrm>
            <a:off x="7704054" y="2986823"/>
            <a:ext cx="1100843" cy="769398"/>
          </a:xfrm>
          <a:prstGeom prst="roundRect">
            <a:avLst>
              <a:gd name="adj" fmla="val 13471"/>
            </a:avLst>
          </a:prstGeom>
          <a:solidFill>
            <a:srgbClr val="D4F3FD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7EE03ABC-588F-46D0-BFA8-5294588084F8}"/>
              </a:ext>
            </a:extLst>
          </p:cNvPr>
          <p:cNvSpPr/>
          <p:nvPr/>
        </p:nvSpPr>
        <p:spPr>
          <a:xfrm>
            <a:off x="7657446" y="3014883"/>
            <a:ext cx="1287312" cy="962085"/>
          </a:xfrm>
          <a:prstGeom prst="roundRect">
            <a:avLst>
              <a:gd name="adj" fmla="val 13471"/>
            </a:avLst>
          </a:prstGeom>
          <a:solidFill>
            <a:srgbClr val="D4F3FD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E6154F9-AFDD-46DD-9B3C-703677B9F0CB}"/>
              </a:ext>
            </a:extLst>
          </p:cNvPr>
          <p:cNvSpPr txBox="1"/>
          <p:nvPr/>
        </p:nvSpPr>
        <p:spPr>
          <a:xfrm>
            <a:off x="7861074" y="3165814"/>
            <a:ext cx="914033" cy="338554"/>
          </a:xfrm>
          <a:prstGeom prst="rect">
            <a:avLst/>
          </a:prstGeom>
          <a:solidFill>
            <a:srgbClr val="D4F3FD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Decoder</a:t>
            </a:r>
            <a:endParaRPr lang="zh-CN" altLang="en-US" sz="16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F6A7ADA8-5FD7-4908-A031-9E6C6EB26CF2}"/>
                  </a:ext>
                </a:extLst>
              </p:cNvPr>
              <p:cNvSpPr txBox="1"/>
              <p:nvPr/>
            </p:nvSpPr>
            <p:spPr>
              <a:xfrm>
                <a:off x="7659640" y="3493045"/>
                <a:ext cx="1256240" cy="338554"/>
              </a:xfrm>
              <a:prstGeom prst="rect">
                <a:avLst/>
              </a:prstGeom>
              <a:solidFill>
                <a:srgbClr val="D4F3FD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𝑀</m:t>
                      </m:r>
                      <m:r>
                        <a:rPr lang="en-US" altLang="zh-CN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𝐵𝑙𝑜𝑐𝑘𝑠</m:t>
                      </m:r>
                    </m:oMath>
                  </m:oMathPara>
                </a14:m>
                <a:endParaRPr lang="en-US" altLang="zh-CN" sz="1600" dirty="0">
                  <a:latin typeface="宋体" panose="02010600030101010101" pitchFamily="2" charset="-122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F6A7ADA8-5FD7-4908-A031-9E6C6EB26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9640" y="3493045"/>
                <a:ext cx="1256240" cy="338554"/>
              </a:xfrm>
              <a:prstGeom prst="rect">
                <a:avLst/>
              </a:prstGeom>
              <a:blipFill>
                <a:blip r:embed="rId7"/>
                <a:stretch>
                  <a:fillRect l="-4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BE6E5D5C-379E-4C61-8373-3F31F3C27778}"/>
              </a:ext>
            </a:extLst>
          </p:cNvPr>
          <p:cNvCxnSpPr>
            <a:cxnSpLocks/>
            <a:stCxn id="20" idx="2"/>
            <a:endCxn id="34" idx="0"/>
          </p:cNvCxnSpPr>
          <p:nvPr/>
        </p:nvCxnSpPr>
        <p:spPr>
          <a:xfrm>
            <a:off x="8305611" y="1829328"/>
            <a:ext cx="12536" cy="1101381"/>
          </a:xfrm>
          <a:prstGeom prst="straightConnector1">
            <a:avLst/>
          </a:prstGeom>
          <a:ln w="12700"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F32B3C49-8BF0-4B2D-B4E8-EBBB7213458E}"/>
              </a:ext>
            </a:extLst>
          </p:cNvPr>
          <p:cNvSpPr txBox="1"/>
          <p:nvPr/>
        </p:nvSpPr>
        <p:spPr>
          <a:xfrm>
            <a:off x="8260856" y="2097566"/>
            <a:ext cx="15183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+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掩码标记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(Mask Tokens)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3" name="表格 7">
                <a:extLst>
                  <a:ext uri="{FF2B5EF4-FFF2-40B4-BE49-F238E27FC236}">
                    <a16:creationId xmlns:a16="http://schemas.microsoft.com/office/drawing/2014/main" id="{5E45004D-7ACD-4AEE-9FDE-2DB5750D2A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51421568"/>
                  </p:ext>
                </p:extLst>
              </p:nvPr>
            </p:nvGraphicFramePr>
            <p:xfrm>
              <a:off x="3937391" y="3308712"/>
              <a:ext cx="246162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92324">
                      <a:extLst>
                        <a:ext uri="{9D8B030D-6E8A-4147-A177-3AD203B41FA5}">
                          <a16:colId xmlns:a16="http://schemas.microsoft.com/office/drawing/2014/main" val="2263360601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289456669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1249002347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2887000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8525577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zh-CN" sz="17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700" b="1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zh-CN" sz="17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700" b="1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F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zh-CN" sz="17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700" b="1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zh-CN" sz="17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700" b="1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F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zh-CN" sz="17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700" b="1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259226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3" name="表格 7">
                <a:extLst>
                  <a:ext uri="{FF2B5EF4-FFF2-40B4-BE49-F238E27FC236}">
                    <a16:creationId xmlns:a16="http://schemas.microsoft.com/office/drawing/2014/main" id="{5E45004D-7ACD-4AEE-9FDE-2DB5750D2A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51421568"/>
                  </p:ext>
                </p:extLst>
              </p:nvPr>
            </p:nvGraphicFramePr>
            <p:xfrm>
              <a:off x="3937391" y="3308712"/>
              <a:ext cx="246162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92324">
                      <a:extLst>
                        <a:ext uri="{9D8B030D-6E8A-4147-A177-3AD203B41FA5}">
                          <a16:colId xmlns:a16="http://schemas.microsoft.com/office/drawing/2014/main" val="2263360601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289456669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1249002347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2887000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8525577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235" t="-1613" r="-4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01235" t="-1613" r="-3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201235" t="-1613" r="-2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301235" t="-1613" r="-1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401235" t="-1613" r="-2469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259226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12611964-D5E8-4B72-BCDA-AF1CF8E58C96}"/>
                  </a:ext>
                </a:extLst>
              </p:cNvPr>
              <p:cNvSpPr txBox="1"/>
              <p:nvPr/>
            </p:nvSpPr>
            <p:spPr>
              <a:xfrm>
                <a:off x="4391290" y="2944970"/>
                <a:ext cx="1553823" cy="3452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重构</a:t>
                </a:r>
                <a14:m>
                  <m:oMath xmlns:m="http://schemas.openxmlformats.org/officeDocument/2006/math">
                    <m:r>
                      <a:rPr lang="zh-CN" altLang="en-US" sz="1600" i="1" dirty="0">
                        <a:latin typeface="Cambria Math" panose="02040503050406030204" pitchFamily="18" charset="0"/>
                      </a:rPr>
                      <m:t>流量序列</m:t>
                    </m:r>
                    <m:acc>
                      <m:accPr>
                        <m:chr m:val="̂"/>
                        <m:ctrlPr>
                          <a:rPr lang="zh-CN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6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endPara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12611964-D5E8-4B72-BCDA-AF1CF8E58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290" y="2944970"/>
                <a:ext cx="1553823" cy="345223"/>
              </a:xfrm>
              <a:prstGeom prst="rect">
                <a:avLst/>
              </a:prstGeom>
              <a:blipFill>
                <a:blip r:embed="rId9"/>
                <a:stretch>
                  <a:fillRect l="-1961" t="-5263" r="-13333" b="-1929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58147E05-9F01-4C91-86A6-9201752F36EF}"/>
              </a:ext>
            </a:extLst>
          </p:cNvPr>
          <p:cNvCxnSpPr>
            <a:cxnSpLocks/>
            <a:stCxn id="37" idx="1"/>
            <a:endCxn id="43" idx="3"/>
          </p:cNvCxnSpPr>
          <p:nvPr/>
        </p:nvCxnSpPr>
        <p:spPr>
          <a:xfrm flipH="1" flipV="1">
            <a:off x="6399012" y="3494133"/>
            <a:ext cx="1258435" cy="1793"/>
          </a:xfrm>
          <a:prstGeom prst="straightConnector1">
            <a:avLst/>
          </a:prstGeom>
          <a:ln w="12700"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AC033407-60D8-447A-B6B5-863DF3F199C2}"/>
              </a:ext>
            </a:extLst>
          </p:cNvPr>
          <p:cNvSpPr txBox="1"/>
          <p:nvPr/>
        </p:nvSpPr>
        <p:spPr>
          <a:xfrm>
            <a:off x="6480873" y="3202243"/>
            <a:ext cx="10833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序列预测</a:t>
            </a:r>
          </a:p>
        </p:txBody>
      </p:sp>
      <p:sp>
        <p:nvSpPr>
          <p:cNvPr id="50" name="右大括号 49">
            <a:extLst>
              <a:ext uri="{FF2B5EF4-FFF2-40B4-BE49-F238E27FC236}">
                <a16:creationId xmlns:a16="http://schemas.microsoft.com/office/drawing/2014/main" id="{F13BC039-7BC3-4463-8C60-D853F029FDAC}"/>
              </a:ext>
            </a:extLst>
          </p:cNvPr>
          <p:cNvSpPr/>
          <p:nvPr/>
        </p:nvSpPr>
        <p:spPr>
          <a:xfrm rot="5400000">
            <a:off x="1467563" y="39807"/>
            <a:ext cx="206538" cy="2461620"/>
          </a:xfrm>
          <a:prstGeom prst="rightBrace">
            <a:avLst>
              <a:gd name="adj1" fmla="val 141027"/>
              <a:gd name="adj2" fmla="val 50277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3B968A10-53A2-4CB7-A346-28262E67A987}"/>
                  </a:ext>
                </a:extLst>
              </p:cNvPr>
              <p:cNvSpPr txBox="1"/>
              <p:nvPr/>
            </p:nvSpPr>
            <p:spPr>
              <a:xfrm>
                <a:off x="1097141" y="1407198"/>
                <a:ext cx="92653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时间步</a:t>
                </a:r>
                <a14:m>
                  <m:oMath xmlns:m="http://schemas.openxmlformats.org/officeDocument/2006/math">
                    <m:r>
                      <a:rPr lang="en-US" altLang="zh-CN" sz="1600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𝑇</m:t>
                    </m:r>
                  </m:oMath>
                </a14:m>
                <a:endPara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3B968A10-53A2-4CB7-A346-28262E67A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141" y="1407198"/>
                <a:ext cx="926536" cy="338554"/>
              </a:xfrm>
              <a:prstGeom prst="rect">
                <a:avLst/>
              </a:prstGeom>
              <a:blipFill>
                <a:blip r:embed="rId10"/>
                <a:stretch>
                  <a:fillRect l="-3947" t="-7273" b="-218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流程图: 接点 51">
            <a:extLst>
              <a:ext uri="{FF2B5EF4-FFF2-40B4-BE49-F238E27FC236}">
                <a16:creationId xmlns:a16="http://schemas.microsoft.com/office/drawing/2014/main" id="{8BDE72D4-A257-487D-A47C-2E16FBAAC392}"/>
              </a:ext>
            </a:extLst>
          </p:cNvPr>
          <p:cNvSpPr/>
          <p:nvPr/>
        </p:nvSpPr>
        <p:spPr>
          <a:xfrm>
            <a:off x="1049701" y="2986822"/>
            <a:ext cx="1008000" cy="1008000"/>
          </a:xfrm>
          <a:prstGeom prst="flowChartConnector">
            <a:avLst/>
          </a:prstGeom>
          <a:solidFill>
            <a:srgbClr val="F9E6EC"/>
          </a:solidFill>
          <a:ln>
            <a:solidFill>
              <a:srgbClr val="D14A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35272A72-8FD2-4F37-BF98-4C6C17A1A0E2}"/>
                  </a:ext>
                </a:extLst>
              </p:cNvPr>
              <p:cNvSpPr txBox="1"/>
              <p:nvPr/>
            </p:nvSpPr>
            <p:spPr>
              <a:xfrm>
                <a:off x="1196146" y="3268312"/>
                <a:ext cx="87709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𝑀𝑆𝐸</m:t>
                          </m:r>
                        </m:sub>
                      </m:sSub>
                    </m:oMath>
                  </m:oMathPara>
                </a14:m>
                <a:endParaRPr lang="zh-CN" altLang="en-US" sz="20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35272A72-8FD2-4F37-BF98-4C6C17A1A0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6146" y="3268312"/>
                <a:ext cx="877099" cy="400110"/>
              </a:xfrm>
              <a:prstGeom prst="rect">
                <a:avLst/>
              </a:prstGeom>
              <a:blipFill>
                <a:blip r:embed="rId11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F5C0FE84-EED7-45EC-B7E8-E0789FBC884A}"/>
              </a:ext>
            </a:extLst>
          </p:cNvPr>
          <p:cNvCxnSpPr>
            <a:cxnSpLocks/>
            <a:stCxn id="51" idx="2"/>
            <a:endCxn id="52" idx="0"/>
          </p:cNvCxnSpPr>
          <p:nvPr/>
        </p:nvCxnSpPr>
        <p:spPr>
          <a:xfrm flipH="1">
            <a:off x="1553701" y="1745752"/>
            <a:ext cx="6708" cy="1241070"/>
          </a:xfrm>
          <a:prstGeom prst="straightConnector1">
            <a:avLst/>
          </a:prstGeom>
          <a:ln w="12700">
            <a:solidFill>
              <a:srgbClr val="D1507D"/>
            </a:solidFill>
            <a:prstDash val="dash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16E5F46E-AB44-425D-9CA9-298BC3440D90}"/>
              </a:ext>
            </a:extLst>
          </p:cNvPr>
          <p:cNvSpPr txBox="1"/>
          <p:nvPr/>
        </p:nvSpPr>
        <p:spPr>
          <a:xfrm>
            <a:off x="424106" y="2408416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自监督信号</a:t>
            </a:r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13BDC432-BBEE-403B-8549-9593D250561B}"/>
              </a:ext>
            </a:extLst>
          </p:cNvPr>
          <p:cNvCxnSpPr>
            <a:cxnSpLocks/>
            <a:stCxn id="43" idx="1"/>
            <a:endCxn id="52" idx="6"/>
          </p:cNvCxnSpPr>
          <p:nvPr/>
        </p:nvCxnSpPr>
        <p:spPr>
          <a:xfrm flipH="1" flipV="1">
            <a:off x="2057701" y="3490822"/>
            <a:ext cx="1879690" cy="3310"/>
          </a:xfrm>
          <a:prstGeom prst="straightConnector1">
            <a:avLst/>
          </a:prstGeom>
          <a:ln w="12700">
            <a:solidFill>
              <a:srgbClr val="D1507D"/>
            </a:solidFill>
            <a:prstDash val="dash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67336675-411F-4073-91D9-58E26DEC160F}"/>
              </a:ext>
            </a:extLst>
          </p:cNvPr>
          <p:cNvCxnSpPr>
            <a:cxnSpLocks/>
          </p:cNvCxnSpPr>
          <p:nvPr/>
        </p:nvCxnSpPr>
        <p:spPr>
          <a:xfrm>
            <a:off x="8991870" y="978670"/>
            <a:ext cx="637708" cy="0"/>
          </a:xfrm>
          <a:prstGeom prst="straightConnector1">
            <a:avLst/>
          </a:prstGeom>
          <a:ln w="12700"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BD833AB2-1E29-4F91-A0EB-0E091A6CB722}"/>
              </a:ext>
            </a:extLst>
          </p:cNvPr>
          <p:cNvSpPr txBox="1"/>
          <p:nvPr/>
        </p:nvSpPr>
        <p:spPr>
          <a:xfrm>
            <a:off x="8920308" y="643526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特征提取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F54A9D29-B575-4FE2-BE23-AE7E5AFF9A48}"/>
                  </a:ext>
                </a:extLst>
              </p:cNvPr>
              <p:cNvSpPr txBox="1"/>
              <p:nvPr/>
            </p:nvSpPr>
            <p:spPr>
              <a:xfrm>
                <a:off x="8906437" y="985488"/>
                <a:ext cx="111601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隐藏表示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zh-CN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Ζ</m:t>
                    </m:r>
                  </m:oMath>
                </a14:m>
                <a:endPara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F54A9D29-B575-4FE2-BE23-AE7E5AFF9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6437" y="985488"/>
                <a:ext cx="1116011" cy="338554"/>
              </a:xfrm>
              <a:prstGeom prst="rect">
                <a:avLst/>
              </a:prstGeom>
              <a:blipFill>
                <a:blip r:embed="rId12"/>
                <a:stretch>
                  <a:fillRect l="-2732" t="-7273" b="-218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0E04D1E8-606A-4E3E-8B7B-95047AC628FD}"/>
                  </a:ext>
                </a:extLst>
              </p:cNvPr>
              <p:cNvSpPr txBox="1"/>
              <p:nvPr/>
            </p:nvSpPr>
            <p:spPr>
              <a:xfrm>
                <a:off x="3949936" y="1149638"/>
                <a:ext cx="2270365" cy="348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𝐻</m:t>
                          </m:r>
                        </m:e>
                        <m:sup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(0)</m:t>
                          </m:r>
                        </m:sup>
                      </m:sSup>
                      <m:r>
                        <a:rPr lang="en-US" altLang="zh-CN" sz="1600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𝑣𝑖𝑠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𝐸</m:t>
                          </m:r>
                        </m:sub>
                      </m:sSub>
                      <m:r>
                        <a:rPr lang="en-US" altLang="zh-CN" sz="1600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+</m:t>
                      </m:r>
                      <m:r>
                        <a:rPr lang="en-US" altLang="zh-CN" sz="1600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𝑃</m:t>
                      </m:r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𝐸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𝑣𝑖𝑠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0E04D1E8-606A-4E3E-8B7B-95047AC62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9936" y="1149638"/>
                <a:ext cx="2270365" cy="34881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560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174</TotalTime>
  <Words>78</Words>
  <Application>Microsoft Office PowerPoint</Application>
  <PresentationFormat>自定义</PresentationFormat>
  <Paragraphs>35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宋体</vt:lpstr>
      <vt:lpstr>Arial</vt:lpstr>
      <vt:lpstr>Calibri</vt:lpstr>
      <vt:lpstr>Calibri Light</vt:lpstr>
      <vt:lpstr>Cambria Math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羲 王</dc:creator>
  <cp:lastModifiedBy>羲 王</cp:lastModifiedBy>
  <cp:revision>13</cp:revision>
  <dcterms:created xsi:type="dcterms:W3CDTF">2026-03-12T09:00:47Z</dcterms:created>
  <dcterms:modified xsi:type="dcterms:W3CDTF">2026-03-19T05:53:19Z</dcterms:modified>
</cp:coreProperties>
</file>