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4"/>
  </p:notesMasterIdLst>
  <p:sldIdLst>
    <p:sldId id="256" r:id="rId2"/>
    <p:sldId id="257" r:id="rId3"/>
  </p:sldIdLst>
  <p:sldSz cx="9180513" cy="4895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3E4"/>
    <a:srgbClr val="9C6CAA"/>
    <a:srgbClr val="5CC5C0"/>
    <a:srgbClr val="C09090"/>
    <a:srgbClr val="C0BFBE"/>
    <a:srgbClr val="75989F"/>
    <a:srgbClr val="D9EAD9"/>
    <a:srgbClr val="AEC1D9"/>
    <a:srgbClr val="F2F5FB"/>
    <a:srgbClr val="8F9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6" d="100"/>
          <a:sy n="166" d="100"/>
        </p:scale>
        <p:origin x="32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3D8E1-4345-4971-A742-21BAF41183C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34988" y="1143000"/>
            <a:ext cx="5788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F69D4-D1D2-4DB8-B052-059E6649EE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57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1pPr>
    <a:lvl2pPr marL="477953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2pPr>
    <a:lvl3pPr marL="955904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3pPr>
    <a:lvl4pPr marL="1433857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4pPr>
    <a:lvl5pPr marL="1911810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5pPr>
    <a:lvl6pPr marL="2389761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6pPr>
    <a:lvl7pPr marL="2867714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7pPr>
    <a:lvl8pPr marL="3345665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8pPr>
    <a:lvl9pPr marL="3823618" algn="l" defTabSz="955904" rtl="0" eaLnBrk="1" latinLnBrk="0" hangingPunct="1">
      <a:defRPr sz="1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7564" y="801243"/>
            <a:ext cx="6885385" cy="1704481"/>
          </a:xfrm>
        </p:spPr>
        <p:txBody>
          <a:bodyPr anchor="b"/>
          <a:lstStyle>
            <a:lvl1pPr algn="ctr">
              <a:defRPr sz="4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564" y="2571455"/>
            <a:ext cx="6885385" cy="1182030"/>
          </a:xfrm>
        </p:spPr>
        <p:txBody>
          <a:bodyPr/>
          <a:lstStyle>
            <a:lvl1pPr marL="0" indent="0" algn="ctr">
              <a:buNone/>
              <a:defRPr sz="1713"/>
            </a:lvl1pPr>
            <a:lvl2pPr marL="326395" indent="0" algn="ctr">
              <a:buNone/>
              <a:defRPr sz="1428"/>
            </a:lvl2pPr>
            <a:lvl3pPr marL="652790" indent="0" algn="ctr">
              <a:buNone/>
              <a:defRPr sz="1285"/>
            </a:lvl3pPr>
            <a:lvl4pPr marL="979185" indent="0" algn="ctr">
              <a:buNone/>
              <a:defRPr sz="1142"/>
            </a:lvl4pPr>
            <a:lvl5pPr marL="1305580" indent="0" algn="ctr">
              <a:buNone/>
              <a:defRPr sz="1142"/>
            </a:lvl5pPr>
            <a:lvl6pPr marL="1631975" indent="0" algn="ctr">
              <a:buNone/>
              <a:defRPr sz="1142"/>
            </a:lvl6pPr>
            <a:lvl7pPr marL="1958370" indent="0" algn="ctr">
              <a:buNone/>
              <a:defRPr sz="1142"/>
            </a:lvl7pPr>
            <a:lvl8pPr marL="2284766" indent="0" algn="ctr">
              <a:buNone/>
              <a:defRPr sz="1142"/>
            </a:lvl8pPr>
            <a:lvl9pPr marL="2611161" indent="0" algn="ctr">
              <a:buNone/>
              <a:defRPr sz="114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83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80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79" y="1220563"/>
            <a:ext cx="7918192" cy="2036537"/>
          </a:xfrm>
        </p:spPr>
        <p:txBody>
          <a:bodyPr anchor="b"/>
          <a:lstStyle>
            <a:lvl1pPr>
              <a:defRPr sz="4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379" y="3276367"/>
            <a:ext cx="7918192" cy="1070967"/>
          </a:xfrm>
        </p:spPr>
        <p:txBody>
          <a:bodyPr/>
          <a:lstStyle>
            <a:lvl1pPr marL="0" indent="0">
              <a:buNone/>
              <a:defRPr sz="1713">
                <a:solidFill>
                  <a:schemeClr val="tx1">
                    <a:tint val="75000"/>
                  </a:schemeClr>
                </a:solidFill>
              </a:defRPr>
            </a:lvl1pPr>
            <a:lvl2pPr marL="326395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2pPr>
            <a:lvl3pPr marL="652790" indent="0">
              <a:buNone/>
              <a:defRPr sz="1285">
                <a:solidFill>
                  <a:schemeClr val="tx1">
                    <a:tint val="75000"/>
                  </a:schemeClr>
                </a:solidFill>
              </a:defRPr>
            </a:lvl3pPr>
            <a:lvl4pPr marL="979185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4pPr>
            <a:lvl5pPr marL="1305580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5pPr>
            <a:lvl6pPr marL="1631975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6pPr>
            <a:lvl7pPr marL="1958370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7pPr>
            <a:lvl8pPr marL="2284766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8pPr>
            <a:lvl9pPr marL="2611161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7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1160" y="1303293"/>
            <a:ext cx="3901718" cy="3106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635" y="1303293"/>
            <a:ext cx="3901718" cy="3106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09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260659"/>
            <a:ext cx="7918192" cy="946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56" y="1200163"/>
            <a:ext cx="3883787" cy="588182"/>
          </a:xfrm>
        </p:spPr>
        <p:txBody>
          <a:bodyPr anchor="b"/>
          <a:lstStyle>
            <a:lvl1pPr marL="0" indent="0">
              <a:buNone/>
              <a:defRPr sz="1713" b="1"/>
            </a:lvl1pPr>
            <a:lvl2pPr marL="326395" indent="0">
              <a:buNone/>
              <a:defRPr sz="1428" b="1"/>
            </a:lvl2pPr>
            <a:lvl3pPr marL="652790" indent="0">
              <a:buNone/>
              <a:defRPr sz="1285" b="1"/>
            </a:lvl3pPr>
            <a:lvl4pPr marL="979185" indent="0">
              <a:buNone/>
              <a:defRPr sz="1142" b="1"/>
            </a:lvl4pPr>
            <a:lvl5pPr marL="1305580" indent="0">
              <a:buNone/>
              <a:defRPr sz="1142" b="1"/>
            </a:lvl5pPr>
            <a:lvl6pPr marL="1631975" indent="0">
              <a:buNone/>
              <a:defRPr sz="1142" b="1"/>
            </a:lvl6pPr>
            <a:lvl7pPr marL="1958370" indent="0">
              <a:buNone/>
              <a:defRPr sz="1142" b="1"/>
            </a:lvl7pPr>
            <a:lvl8pPr marL="2284766" indent="0">
              <a:buNone/>
              <a:defRPr sz="1142" b="1"/>
            </a:lvl8pPr>
            <a:lvl9pPr marL="2611161" indent="0">
              <a:buNone/>
              <a:defRPr sz="114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56" y="1788345"/>
            <a:ext cx="3883787" cy="26303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635" y="1200163"/>
            <a:ext cx="3902914" cy="588182"/>
          </a:xfrm>
        </p:spPr>
        <p:txBody>
          <a:bodyPr anchor="b"/>
          <a:lstStyle>
            <a:lvl1pPr marL="0" indent="0">
              <a:buNone/>
              <a:defRPr sz="1713" b="1"/>
            </a:lvl1pPr>
            <a:lvl2pPr marL="326395" indent="0">
              <a:buNone/>
              <a:defRPr sz="1428" b="1"/>
            </a:lvl2pPr>
            <a:lvl3pPr marL="652790" indent="0">
              <a:buNone/>
              <a:defRPr sz="1285" b="1"/>
            </a:lvl3pPr>
            <a:lvl4pPr marL="979185" indent="0">
              <a:buNone/>
              <a:defRPr sz="1142" b="1"/>
            </a:lvl4pPr>
            <a:lvl5pPr marL="1305580" indent="0">
              <a:buNone/>
              <a:defRPr sz="1142" b="1"/>
            </a:lvl5pPr>
            <a:lvl6pPr marL="1631975" indent="0">
              <a:buNone/>
              <a:defRPr sz="1142" b="1"/>
            </a:lvl6pPr>
            <a:lvl7pPr marL="1958370" indent="0">
              <a:buNone/>
              <a:defRPr sz="1142" b="1"/>
            </a:lvl7pPr>
            <a:lvl8pPr marL="2284766" indent="0">
              <a:buNone/>
              <a:defRPr sz="1142" b="1"/>
            </a:lvl8pPr>
            <a:lvl9pPr marL="2611161" indent="0">
              <a:buNone/>
              <a:defRPr sz="114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7635" y="1788345"/>
            <a:ext cx="3902914" cy="26303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7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3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326390"/>
            <a:ext cx="2960954" cy="1142365"/>
          </a:xfrm>
        </p:spPr>
        <p:txBody>
          <a:bodyPr anchor="b"/>
          <a:lstStyle>
            <a:lvl1pPr>
              <a:defRPr sz="22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2914" y="704912"/>
            <a:ext cx="4647635" cy="3479227"/>
          </a:xfrm>
        </p:spPr>
        <p:txBody>
          <a:bodyPr/>
          <a:lstStyle>
            <a:lvl1pPr>
              <a:defRPr sz="2284"/>
            </a:lvl1pPr>
            <a:lvl2pPr>
              <a:defRPr sz="1999"/>
            </a:lvl2pPr>
            <a:lvl3pPr>
              <a:defRPr sz="1713"/>
            </a:lvl3pPr>
            <a:lvl4pPr>
              <a:defRPr sz="1428"/>
            </a:lvl4pPr>
            <a:lvl5pPr>
              <a:defRPr sz="1428"/>
            </a:lvl5pPr>
            <a:lvl6pPr>
              <a:defRPr sz="1428"/>
            </a:lvl6pPr>
            <a:lvl7pPr>
              <a:defRPr sz="1428"/>
            </a:lvl7pPr>
            <a:lvl8pPr>
              <a:defRPr sz="1428"/>
            </a:lvl8pPr>
            <a:lvl9pPr>
              <a:defRPr sz="142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1468755"/>
            <a:ext cx="2960954" cy="2721050"/>
          </a:xfrm>
        </p:spPr>
        <p:txBody>
          <a:bodyPr/>
          <a:lstStyle>
            <a:lvl1pPr marL="0" indent="0">
              <a:buNone/>
              <a:defRPr sz="1142"/>
            </a:lvl1pPr>
            <a:lvl2pPr marL="326395" indent="0">
              <a:buNone/>
              <a:defRPr sz="999"/>
            </a:lvl2pPr>
            <a:lvl3pPr marL="652790" indent="0">
              <a:buNone/>
              <a:defRPr sz="857"/>
            </a:lvl3pPr>
            <a:lvl4pPr marL="979185" indent="0">
              <a:buNone/>
              <a:defRPr sz="714"/>
            </a:lvl4pPr>
            <a:lvl5pPr marL="1305580" indent="0">
              <a:buNone/>
              <a:defRPr sz="714"/>
            </a:lvl5pPr>
            <a:lvl6pPr marL="1631975" indent="0">
              <a:buNone/>
              <a:defRPr sz="714"/>
            </a:lvl6pPr>
            <a:lvl7pPr marL="1958370" indent="0">
              <a:buNone/>
              <a:defRPr sz="714"/>
            </a:lvl7pPr>
            <a:lvl8pPr marL="2284766" indent="0">
              <a:buNone/>
              <a:defRPr sz="714"/>
            </a:lvl8pPr>
            <a:lvl9pPr marL="2611161" indent="0">
              <a:buNone/>
              <a:defRPr sz="7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19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326390"/>
            <a:ext cx="2960954" cy="1142365"/>
          </a:xfrm>
        </p:spPr>
        <p:txBody>
          <a:bodyPr anchor="b"/>
          <a:lstStyle>
            <a:lvl1pPr>
              <a:defRPr sz="22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02914" y="704912"/>
            <a:ext cx="4647635" cy="3479227"/>
          </a:xfrm>
        </p:spPr>
        <p:txBody>
          <a:bodyPr anchor="t"/>
          <a:lstStyle>
            <a:lvl1pPr marL="0" indent="0">
              <a:buNone/>
              <a:defRPr sz="2284"/>
            </a:lvl1pPr>
            <a:lvl2pPr marL="326395" indent="0">
              <a:buNone/>
              <a:defRPr sz="1999"/>
            </a:lvl2pPr>
            <a:lvl3pPr marL="652790" indent="0">
              <a:buNone/>
              <a:defRPr sz="1713"/>
            </a:lvl3pPr>
            <a:lvl4pPr marL="979185" indent="0">
              <a:buNone/>
              <a:defRPr sz="1428"/>
            </a:lvl4pPr>
            <a:lvl5pPr marL="1305580" indent="0">
              <a:buNone/>
              <a:defRPr sz="1428"/>
            </a:lvl5pPr>
            <a:lvl6pPr marL="1631975" indent="0">
              <a:buNone/>
              <a:defRPr sz="1428"/>
            </a:lvl6pPr>
            <a:lvl7pPr marL="1958370" indent="0">
              <a:buNone/>
              <a:defRPr sz="1428"/>
            </a:lvl7pPr>
            <a:lvl8pPr marL="2284766" indent="0">
              <a:buNone/>
              <a:defRPr sz="1428"/>
            </a:lvl8pPr>
            <a:lvl9pPr marL="2611161" indent="0">
              <a:buNone/>
              <a:defRPr sz="142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1468755"/>
            <a:ext cx="2960954" cy="2721050"/>
          </a:xfrm>
        </p:spPr>
        <p:txBody>
          <a:bodyPr/>
          <a:lstStyle>
            <a:lvl1pPr marL="0" indent="0">
              <a:buNone/>
              <a:defRPr sz="1142"/>
            </a:lvl1pPr>
            <a:lvl2pPr marL="326395" indent="0">
              <a:buNone/>
              <a:defRPr sz="999"/>
            </a:lvl2pPr>
            <a:lvl3pPr marL="652790" indent="0">
              <a:buNone/>
              <a:defRPr sz="857"/>
            </a:lvl3pPr>
            <a:lvl4pPr marL="979185" indent="0">
              <a:buNone/>
              <a:defRPr sz="714"/>
            </a:lvl4pPr>
            <a:lvl5pPr marL="1305580" indent="0">
              <a:buNone/>
              <a:defRPr sz="714"/>
            </a:lvl5pPr>
            <a:lvl6pPr marL="1631975" indent="0">
              <a:buNone/>
              <a:defRPr sz="714"/>
            </a:lvl6pPr>
            <a:lvl7pPr marL="1958370" indent="0">
              <a:buNone/>
              <a:defRPr sz="714"/>
            </a:lvl7pPr>
            <a:lvl8pPr marL="2284766" indent="0">
              <a:buNone/>
              <a:defRPr sz="714"/>
            </a:lvl8pPr>
            <a:lvl9pPr marL="2611161" indent="0">
              <a:buNone/>
              <a:defRPr sz="71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53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37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9805" y="260658"/>
            <a:ext cx="1979548" cy="41490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1160" y="260658"/>
            <a:ext cx="5823888" cy="41490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99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1161" y="260659"/>
            <a:ext cx="7918192" cy="946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161" y="1303293"/>
            <a:ext cx="7918192" cy="3106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1160" y="4537728"/>
            <a:ext cx="2065615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220C-5A5C-478F-B803-C4E547BB9071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1045" y="4537728"/>
            <a:ext cx="3098423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83738" y="4537728"/>
            <a:ext cx="2065615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8D265-8F2B-4576-9A9D-E0E14677F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92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652790" rtl="0" eaLnBrk="1" latinLnBrk="0" hangingPunct="1">
        <a:lnSpc>
          <a:spcPct val="90000"/>
        </a:lnSpc>
        <a:spcBef>
          <a:spcPct val="0"/>
        </a:spcBef>
        <a:buNone/>
        <a:defRPr sz="31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198" indent="-163198" algn="l" defTabSz="65279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8959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713" kern="1200">
          <a:solidFill>
            <a:schemeClr val="tx1"/>
          </a:solidFill>
          <a:latin typeface="+mn-lt"/>
          <a:ea typeface="+mn-ea"/>
          <a:cs typeface="+mn-cs"/>
        </a:defRPr>
      </a:lvl2pPr>
      <a:lvl3pPr marL="81598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14238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46877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17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212156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44796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77435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1pPr>
      <a:lvl2pPr marL="32639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2pPr>
      <a:lvl3pPr marL="65279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3pPr>
      <a:lvl4pPr marL="97918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30558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63197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195837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284766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611161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4" Type="http://schemas.openxmlformats.org/officeDocument/2006/relationships/image" Target="../media/image7.png"/><Relationship Id="rId33" Type="http://schemas.openxmlformats.org/officeDocument/2006/relationships/image" Target="../media/image6.png"/><Relationship Id="rId38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32" Type="http://schemas.openxmlformats.org/officeDocument/2006/relationships/image" Target="../media/image5.png"/><Relationship Id="rId37" Type="http://schemas.openxmlformats.org/officeDocument/2006/relationships/image" Target="../media/image2.png"/><Relationship Id="rId36" Type="http://schemas.openxmlformats.org/officeDocument/2006/relationships/image" Target="../media/image1.png"/><Relationship Id="rId35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C00BF9E-ED03-4347-A321-1630BA59FE4E}"/>
              </a:ext>
            </a:extLst>
          </p:cNvPr>
          <p:cNvSpPr/>
          <p:nvPr/>
        </p:nvSpPr>
        <p:spPr>
          <a:xfrm>
            <a:off x="4337642" y="56601"/>
            <a:ext cx="4814251" cy="1602867"/>
          </a:xfrm>
          <a:prstGeom prst="roundRect">
            <a:avLst/>
          </a:prstGeom>
          <a:solidFill>
            <a:srgbClr val="E7E3E4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0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C00D4A1-7072-469E-A5AB-033B07E11869}"/>
              </a:ext>
            </a:extLst>
          </p:cNvPr>
          <p:cNvGrpSpPr/>
          <p:nvPr/>
        </p:nvGrpSpPr>
        <p:grpSpPr>
          <a:xfrm>
            <a:off x="-15411" y="1243526"/>
            <a:ext cx="1835687" cy="2268429"/>
            <a:chOff x="679401" y="758399"/>
            <a:chExt cx="1751230" cy="2164063"/>
          </a:xfrm>
        </p:grpSpPr>
        <p:sp>
          <p:nvSpPr>
            <p:cNvPr id="8" name="流程图: 磁盘 7">
              <a:extLst>
                <a:ext uri="{FF2B5EF4-FFF2-40B4-BE49-F238E27FC236}">
                  <a16:creationId xmlns:a16="http://schemas.microsoft.com/office/drawing/2014/main" id="{33871DE3-BDE3-4EF8-B3E1-F08AB4E0BF43}"/>
                </a:ext>
              </a:extLst>
            </p:cNvPr>
            <p:cNvSpPr/>
            <p:nvPr/>
          </p:nvSpPr>
          <p:spPr>
            <a:xfrm>
              <a:off x="756275" y="758399"/>
              <a:ext cx="1479550" cy="1925187"/>
            </a:xfrm>
            <a:prstGeom prst="flowChartMagneticDisk">
              <a:avLst/>
            </a:prstGeom>
            <a:solidFill>
              <a:srgbClr val="FDE9A2"/>
            </a:solidFill>
            <a:ln>
              <a:solidFill>
                <a:srgbClr val="B299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4" b="1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5E4BC9D-AAE7-4BAE-8877-1FC360EA3526}"/>
                </a:ext>
              </a:extLst>
            </p:cNvPr>
            <p:cNvSpPr txBox="1"/>
            <p:nvPr/>
          </p:nvSpPr>
          <p:spPr>
            <a:xfrm>
              <a:off x="679401" y="2643646"/>
              <a:ext cx="1751230" cy="278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58" dirty="0">
                  <a:latin typeface="宋体" panose="02010600030101010101" pitchFamily="2" charset="-122"/>
                  <a:ea typeface="宋体" panose="02010600030101010101" pitchFamily="2" charset="-122"/>
                </a:rPr>
                <a:t>原始网络输入与预处理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41EA6C93-341C-44EE-B52C-A22B9796FA90}"/>
                </a:ext>
              </a:extLst>
            </p:cNvPr>
            <p:cNvSpPr/>
            <p:nvPr/>
          </p:nvSpPr>
          <p:spPr>
            <a:xfrm>
              <a:off x="965058" y="1427567"/>
              <a:ext cx="1071349" cy="341194"/>
            </a:xfrm>
            <a:prstGeom prst="roundRect">
              <a:avLst/>
            </a:prstGeom>
            <a:solidFill>
              <a:srgbClr val="D1E4EF"/>
            </a:solidFill>
            <a:ln>
              <a:solidFill>
                <a:srgbClr val="CDBB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5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统计特征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1F2EC578-4D82-4633-A321-52AF9D598EB4}"/>
                </a:ext>
              </a:extLst>
            </p:cNvPr>
            <p:cNvSpPr/>
            <p:nvPr/>
          </p:nvSpPr>
          <p:spPr>
            <a:xfrm>
              <a:off x="965056" y="1833979"/>
              <a:ext cx="1071349" cy="341194"/>
            </a:xfrm>
            <a:prstGeom prst="roundRect">
              <a:avLst/>
            </a:prstGeom>
            <a:solidFill>
              <a:srgbClr val="E1EEC0"/>
            </a:solidFill>
            <a:ln>
              <a:solidFill>
                <a:srgbClr val="CDBB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5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时序特征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AAAB9DD-CACF-443F-8507-040DD4506AAC}"/>
                </a:ext>
              </a:extLst>
            </p:cNvPr>
            <p:cNvSpPr/>
            <p:nvPr/>
          </p:nvSpPr>
          <p:spPr>
            <a:xfrm>
              <a:off x="965056" y="2240392"/>
              <a:ext cx="1071349" cy="341194"/>
            </a:xfrm>
            <a:prstGeom prst="roundRect">
              <a:avLst/>
            </a:prstGeom>
            <a:solidFill>
              <a:srgbClr val="FACD9C"/>
            </a:solidFill>
            <a:ln>
              <a:solidFill>
                <a:srgbClr val="CDBB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5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协议特征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A635131-0B55-40B5-8844-59134B524BF5}"/>
                </a:ext>
              </a:extLst>
            </p:cNvPr>
            <p:cNvSpPr txBox="1"/>
            <p:nvPr/>
          </p:nvSpPr>
          <p:spPr>
            <a:xfrm>
              <a:off x="865108" y="954484"/>
              <a:ext cx="1280623" cy="278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58" dirty="0">
                  <a:latin typeface="宋体" panose="02010600030101010101" pitchFamily="2" charset="-122"/>
                  <a:ea typeface="宋体" panose="02010600030101010101" pitchFamily="2" charset="-122"/>
                </a:rPr>
                <a:t>高维、分布复杂</a:t>
              </a:r>
            </a:p>
          </p:txBody>
        </p:sp>
      </p:grp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FB2E853-981F-49EB-907B-FAA89E17AC06}"/>
              </a:ext>
            </a:extLst>
          </p:cNvPr>
          <p:cNvSpPr/>
          <p:nvPr/>
        </p:nvSpPr>
        <p:spPr>
          <a:xfrm>
            <a:off x="1967255" y="394430"/>
            <a:ext cx="2003432" cy="525218"/>
          </a:xfrm>
          <a:prstGeom prst="roundRect">
            <a:avLst/>
          </a:prstGeom>
          <a:solidFill>
            <a:srgbClr val="DFE6F2"/>
          </a:solidFill>
          <a:ln>
            <a:solidFill>
              <a:srgbClr val="8F9F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4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F050B32-6804-49E5-9A3C-EC2B6D261E24}"/>
              </a:ext>
            </a:extLst>
          </p:cNvPr>
          <p:cNvSpPr txBox="1"/>
          <p:nvPr/>
        </p:nvSpPr>
        <p:spPr>
          <a:xfrm>
            <a:off x="1980579" y="509247"/>
            <a:ext cx="2040943" cy="2859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58" dirty="0">
                <a:latin typeface="宋体" panose="02010600030101010101" pitchFamily="2" charset="-122"/>
                <a:ea typeface="宋体" panose="02010600030101010101" pitchFamily="2" charset="-122"/>
              </a:rPr>
              <a:t>MaskTST</a:t>
            </a:r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流量特征学习模块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1191CE0-57F7-413B-8958-D251FDB3A099}"/>
              </a:ext>
            </a:extLst>
          </p:cNvPr>
          <p:cNvSpPr txBox="1"/>
          <p:nvPr/>
        </p:nvSpPr>
        <p:spPr>
          <a:xfrm>
            <a:off x="6106373" y="1363075"/>
            <a:ext cx="1479892" cy="2859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异常得分判别模块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BA575400-2C8F-4257-AE90-88CF81ED80F7}"/>
              </a:ext>
            </a:extLst>
          </p:cNvPr>
          <p:cNvSpPr/>
          <p:nvPr/>
        </p:nvSpPr>
        <p:spPr>
          <a:xfrm>
            <a:off x="2223341" y="2035283"/>
            <a:ext cx="4284631" cy="2803965"/>
          </a:xfrm>
          <a:prstGeom prst="roundRect">
            <a:avLst/>
          </a:prstGeom>
          <a:solidFill>
            <a:srgbClr val="F2F5FB"/>
          </a:solidFill>
          <a:ln>
            <a:solidFill>
              <a:srgbClr val="AEC1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4" b="1"/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940DBF3A-8244-46C0-A62C-B1BAF7D9BF73}"/>
              </a:ext>
            </a:extLst>
          </p:cNvPr>
          <p:cNvGrpSpPr/>
          <p:nvPr/>
        </p:nvGrpSpPr>
        <p:grpSpPr>
          <a:xfrm>
            <a:off x="2424122" y="2144502"/>
            <a:ext cx="1659344" cy="889553"/>
            <a:chOff x="3396328" y="2320119"/>
            <a:chExt cx="1583001" cy="848627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4E1D7999-291B-428A-91EF-F978913D2405}"/>
                </a:ext>
              </a:extLst>
            </p:cNvPr>
            <p:cNvSpPr/>
            <p:nvPr/>
          </p:nvSpPr>
          <p:spPr>
            <a:xfrm>
              <a:off x="3396328" y="2320119"/>
              <a:ext cx="1583001" cy="848627"/>
            </a:xfrm>
            <a:prstGeom prst="ellipse">
              <a:avLst/>
            </a:prstGeom>
            <a:solidFill>
              <a:srgbClr val="D9E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4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4D51799-6207-4003-B348-02637270E6C7}"/>
                    </a:ext>
                  </a:extLst>
                </p:cNvPr>
                <p:cNvSpPr txBox="1"/>
                <p:nvPr/>
              </p:nvSpPr>
              <p:spPr>
                <a:xfrm>
                  <a:off x="3496821" y="2493736"/>
                  <a:ext cx="1454289" cy="4663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25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聚类中心</a:t>
                  </a:r>
                  <a:endParaRPr lang="en-US" altLang="zh-CN" sz="125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5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𝜀</m:t>
                        </m:r>
                        <m:r>
                          <a:rPr lang="en-US" altLang="zh-CN" sz="125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={</m:t>
                        </m:r>
                        <m:sSub>
                          <m:sSub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5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25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125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}</m:t>
                        </m:r>
                      </m:oMath>
                    </m:oMathPara>
                  </a14:m>
                  <a:endParaRPr lang="zh-CN" altLang="en-US" sz="125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4D51799-6207-4003-B348-02637270E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6821" y="2493736"/>
                  <a:ext cx="1454289" cy="466362"/>
                </a:xfrm>
                <a:prstGeom prst="rect">
                  <a:avLst/>
                </a:prstGeom>
                <a:blipFill>
                  <a:blip r:embed="rId32"/>
                  <a:stretch>
                    <a:fillRect b="-37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84331025-574C-4C25-95C2-B89B2EFD6818}"/>
              </a:ext>
            </a:extLst>
          </p:cNvPr>
          <p:cNvGrpSpPr/>
          <p:nvPr/>
        </p:nvGrpSpPr>
        <p:grpSpPr>
          <a:xfrm>
            <a:off x="4632323" y="3437265"/>
            <a:ext cx="1918176" cy="889553"/>
            <a:chOff x="5272198" y="2320119"/>
            <a:chExt cx="1829924" cy="848627"/>
          </a:xfrm>
        </p:grpSpPr>
        <p:sp>
          <p:nvSpPr>
            <p:cNvPr id="157" name="圆角矩形 4">
              <a:extLst>
                <a:ext uri="{FF2B5EF4-FFF2-40B4-BE49-F238E27FC236}">
                  <a16:creationId xmlns:a16="http://schemas.microsoft.com/office/drawing/2014/main" id="{5814E12C-8415-48A7-8ABA-2522AE9CEC2A}"/>
                </a:ext>
              </a:extLst>
            </p:cNvPr>
            <p:cNvSpPr/>
            <p:nvPr/>
          </p:nvSpPr>
          <p:spPr>
            <a:xfrm>
              <a:off x="5336943" y="2320119"/>
              <a:ext cx="1671181" cy="848627"/>
            </a:xfrm>
            <a:prstGeom prst="roundRect">
              <a:avLst>
                <a:gd name="adj" fmla="val 24586"/>
              </a:avLst>
            </a:prstGeom>
            <a:solidFill>
              <a:srgbClr val="B9C88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4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0E7983B-4DFE-46A1-9E50-1E63EB1A871A}"/>
                    </a:ext>
                  </a:extLst>
                </p:cNvPr>
                <p:cNvSpPr txBox="1"/>
                <p:nvPr/>
              </p:nvSpPr>
              <p:spPr>
                <a:xfrm>
                  <a:off x="5658084" y="2351133"/>
                  <a:ext cx="1242341" cy="287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5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软分配权重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</m:t>
                          </m:r>
                        </m:sub>
                      </m:sSub>
                    </m:oMath>
                  </a14:m>
                  <a:endParaRPr lang="en-US" altLang="zh-CN" sz="125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0E7983B-4DFE-46A1-9E50-1E63EB1A8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084" y="2351133"/>
                  <a:ext cx="1242341" cy="287309"/>
                </a:xfrm>
                <a:prstGeom prst="rect">
                  <a:avLst/>
                </a:prstGeom>
                <a:blipFill>
                  <a:blip r:embed="rId33"/>
                  <a:stretch>
                    <a:fillRect l="-467" t="-4000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D7C977CD-12D7-4AF0-8B4D-8BF354B3C052}"/>
                    </a:ext>
                  </a:extLst>
                </p:cNvPr>
                <p:cNvSpPr txBox="1"/>
                <p:nvPr/>
              </p:nvSpPr>
              <p:spPr>
                <a:xfrm>
                  <a:off x="5272198" y="2631602"/>
                  <a:ext cx="1829924" cy="4999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,</m:t>
                            </m:r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125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𝑒𝑥𝑝</m:t>
                            </m:r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(−</m:t>
                            </m:r>
                            <m:sSub>
                              <m:sSubPr>
                                <m:ctrlP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𝑘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𝑀</m:t>
                                </m:r>
                              </m:sup>
                              <m:e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𝑒𝑥𝑝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(−</m:t>
                                </m:r>
                                <m:sSub>
                                  <m:sSubPr>
                                    <m:ctrlP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)</m:t>
                                </m:r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altLang="zh-CN" sz="125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D7C977CD-12D7-4AF0-8B4D-8BF354B3C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2198" y="2631602"/>
                  <a:ext cx="1829924" cy="499945"/>
                </a:xfrm>
                <a:prstGeom prst="rect">
                  <a:avLst/>
                </a:prstGeom>
                <a:blipFill>
                  <a:blip r:embed="rId34"/>
                  <a:stretch>
                    <a:fillRect t="-10465" b="-779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FCC52FB6-D2CB-448B-B3FC-E1C9964DB802}"/>
              </a:ext>
            </a:extLst>
          </p:cNvPr>
          <p:cNvGrpSpPr/>
          <p:nvPr/>
        </p:nvGrpSpPr>
        <p:grpSpPr>
          <a:xfrm>
            <a:off x="2317427" y="3395638"/>
            <a:ext cx="1659344" cy="982452"/>
            <a:chOff x="4224120" y="3440323"/>
            <a:chExt cx="1583001" cy="1049067"/>
          </a:xfrm>
        </p:grpSpPr>
        <p:sp>
          <p:nvSpPr>
            <p:cNvPr id="162" name="圆角矩形 16">
              <a:extLst>
                <a:ext uri="{FF2B5EF4-FFF2-40B4-BE49-F238E27FC236}">
                  <a16:creationId xmlns:a16="http://schemas.microsoft.com/office/drawing/2014/main" id="{EA50F659-CB91-44C9-AABE-195CFDA2AE3A}"/>
                </a:ext>
              </a:extLst>
            </p:cNvPr>
            <p:cNvSpPr/>
            <p:nvPr/>
          </p:nvSpPr>
          <p:spPr>
            <a:xfrm>
              <a:off x="4224120" y="3440323"/>
              <a:ext cx="1583001" cy="1049067"/>
            </a:xfrm>
            <a:prstGeom prst="roundRect">
              <a:avLst>
                <a:gd name="adj" fmla="val 24586"/>
              </a:avLst>
            </a:prstGeom>
            <a:solidFill>
              <a:srgbClr val="5CC5C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4" b="1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1DBB8920-24D3-49A3-8EC1-E8E20C71F9F5}"/>
                </a:ext>
              </a:extLst>
            </p:cNvPr>
            <p:cNvSpPr txBox="1"/>
            <p:nvPr/>
          </p:nvSpPr>
          <p:spPr>
            <a:xfrm>
              <a:off x="4310209" y="3477765"/>
              <a:ext cx="1437493" cy="312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58" dirty="0">
                  <a:latin typeface="宋体" panose="02010600030101010101" pitchFamily="2" charset="-122"/>
                  <a:ea typeface="宋体" panose="02010600030101010101" pitchFamily="2" charset="-122"/>
                </a:rPr>
                <a:t>聚类中心更新机制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4C85D1E-E9CF-40B8-8FA0-78E9C04C3A26}"/>
                    </a:ext>
                  </a:extLst>
                </p:cNvPr>
                <p:cNvSpPr txBox="1"/>
                <p:nvPr/>
              </p:nvSpPr>
              <p:spPr>
                <a:xfrm>
                  <a:off x="4289258" y="3771053"/>
                  <a:ext cx="1409937" cy="5905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58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1258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1258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f>
                          <m:f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  <a:endParaRPr lang="zh-CN" altLang="en-US" sz="125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4C85D1E-E9CF-40B8-8FA0-78E9C04C3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9258" y="3771053"/>
                  <a:ext cx="1409937" cy="590594"/>
                </a:xfrm>
                <a:prstGeom prst="rect">
                  <a:avLst/>
                </a:prstGeom>
                <a:blipFill>
                  <a:blip r:embed="rId35"/>
                  <a:stretch>
                    <a:fillRect t="-47253" b="-725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9488B65-D937-431A-B7EE-F4140F95833B}"/>
              </a:ext>
            </a:extLst>
          </p:cNvPr>
          <p:cNvSpPr txBox="1"/>
          <p:nvPr/>
        </p:nvSpPr>
        <p:spPr>
          <a:xfrm>
            <a:off x="3613795" y="4483442"/>
            <a:ext cx="1835687" cy="29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多中心无监督聚类机制</a:t>
            </a: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1EDD5CF1-588E-45DD-9124-802BB814ADAE}"/>
              </a:ext>
            </a:extLst>
          </p:cNvPr>
          <p:cNvCxnSpPr>
            <a:cxnSpLocks/>
            <a:stCxn id="114" idx="3"/>
          </p:cNvCxnSpPr>
          <p:nvPr/>
        </p:nvCxnSpPr>
        <p:spPr>
          <a:xfrm>
            <a:off x="4053886" y="2570918"/>
            <a:ext cx="578437" cy="71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542AD8AF-C5AA-48C3-BA05-120ABDA191DC}"/>
              </a:ext>
            </a:extLst>
          </p:cNvPr>
          <p:cNvCxnSpPr>
            <a:cxnSpLocks/>
          </p:cNvCxnSpPr>
          <p:nvPr/>
        </p:nvCxnSpPr>
        <p:spPr>
          <a:xfrm flipH="1" flipV="1">
            <a:off x="3976771" y="3903939"/>
            <a:ext cx="72314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66830963-17F9-475B-9F48-C46CB460E392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2967451" y="919648"/>
            <a:ext cx="1520" cy="1115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C1EDC1DB-F8C4-484D-96B3-4E0CE1338F94}"/>
              </a:ext>
            </a:extLst>
          </p:cNvPr>
          <p:cNvSpPr txBox="1"/>
          <p:nvPr/>
        </p:nvSpPr>
        <p:spPr>
          <a:xfrm>
            <a:off x="3121607" y="1602519"/>
            <a:ext cx="849080" cy="29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隐藏表示</a:t>
            </a:r>
          </a:p>
        </p:txBody>
      </p:sp>
      <p:sp>
        <p:nvSpPr>
          <p:cNvPr id="190" name="圆角矩形 33">
            <a:extLst>
              <a:ext uri="{FF2B5EF4-FFF2-40B4-BE49-F238E27FC236}">
                <a16:creationId xmlns:a16="http://schemas.microsoft.com/office/drawing/2014/main" id="{C47C9C55-043C-4F18-ABC6-16F181458565}"/>
              </a:ext>
            </a:extLst>
          </p:cNvPr>
          <p:cNvSpPr/>
          <p:nvPr/>
        </p:nvSpPr>
        <p:spPr>
          <a:xfrm>
            <a:off x="4425944" y="82720"/>
            <a:ext cx="1806670" cy="1423181"/>
          </a:xfrm>
          <a:prstGeom prst="roundRect">
            <a:avLst>
              <a:gd name="adj" fmla="val 24586"/>
            </a:avLst>
          </a:prstGeom>
          <a:solidFill>
            <a:srgbClr val="E29C9E"/>
          </a:solidFill>
          <a:ln>
            <a:solidFill>
              <a:srgbClr val="C0909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4" b="1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C1B395B1-64AC-455C-BD06-BF2F45E4110E}"/>
              </a:ext>
            </a:extLst>
          </p:cNvPr>
          <p:cNvSpPr txBox="1"/>
          <p:nvPr/>
        </p:nvSpPr>
        <p:spPr>
          <a:xfrm>
            <a:off x="4587254" y="419096"/>
            <a:ext cx="1506818" cy="29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加权异常得分计算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8AAA8ADC-3AE2-4C63-96AE-96516203FFFA}"/>
                  </a:ext>
                </a:extLst>
              </p:cNvPr>
              <p:cNvSpPr txBox="1"/>
              <p:nvPr/>
            </p:nvSpPr>
            <p:spPr>
              <a:xfrm>
                <a:off x="4632323" y="709636"/>
                <a:ext cx="1551263" cy="644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58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58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258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258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258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58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258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58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58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1258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258" dirty="0"/>
              </a:p>
            </p:txBody>
          </p:sp>
        </mc:Choice>
        <mc:Fallback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8AAA8ADC-3AE2-4C63-96AE-96516203F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23" y="709636"/>
                <a:ext cx="1551263" cy="64497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C07BD3C7-BB0E-462F-98A3-2477E9D2E97B}"/>
              </a:ext>
            </a:extLst>
          </p:cNvPr>
          <p:cNvCxnSpPr>
            <a:cxnSpLocks/>
          </p:cNvCxnSpPr>
          <p:nvPr/>
        </p:nvCxnSpPr>
        <p:spPr>
          <a:xfrm>
            <a:off x="3189994" y="3034056"/>
            <a:ext cx="0" cy="37311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圆角矩形 83">
            <a:extLst>
              <a:ext uri="{FF2B5EF4-FFF2-40B4-BE49-F238E27FC236}">
                <a16:creationId xmlns:a16="http://schemas.microsoft.com/office/drawing/2014/main" id="{FC5C2DA5-7B7D-479C-A4E7-CC66FA2E8E55}"/>
              </a:ext>
            </a:extLst>
          </p:cNvPr>
          <p:cNvSpPr/>
          <p:nvPr/>
        </p:nvSpPr>
        <p:spPr>
          <a:xfrm>
            <a:off x="4653167" y="2115414"/>
            <a:ext cx="1659344" cy="981129"/>
          </a:xfrm>
          <a:prstGeom prst="roundRect">
            <a:avLst>
              <a:gd name="adj" fmla="val 24586"/>
            </a:avLst>
          </a:prstGeom>
          <a:solidFill>
            <a:srgbClr val="F3CC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4" b="1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E3C8B1DC-3DFD-4190-AA48-B81944141C03}"/>
              </a:ext>
            </a:extLst>
          </p:cNvPr>
          <p:cNvSpPr txBox="1"/>
          <p:nvPr/>
        </p:nvSpPr>
        <p:spPr>
          <a:xfrm>
            <a:off x="5075558" y="2280475"/>
            <a:ext cx="849080" cy="29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距离向量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文本框 201">
                <a:extLst>
                  <a:ext uri="{FF2B5EF4-FFF2-40B4-BE49-F238E27FC236}">
                    <a16:creationId xmlns:a16="http://schemas.microsoft.com/office/drawing/2014/main" id="{EB64C590-0263-44CF-A4FE-B5F22ADC8240}"/>
                  </a:ext>
                </a:extLst>
              </p:cNvPr>
              <p:cNvSpPr txBox="1"/>
              <p:nvPr/>
            </p:nvSpPr>
            <p:spPr>
              <a:xfrm>
                <a:off x="4670602" y="2639782"/>
                <a:ext cx="1584684" cy="301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𝑚</m:t>
                          </m:r>
                        </m:sub>
                      </m:sSub>
                      <m:r>
                        <a:rPr lang="en-US" altLang="zh-CN" sz="1258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sz="125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25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258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||</m:t>
                          </m:r>
                        </m:e>
                        <m:sub>
                          <m:r>
                            <a:rPr lang="en-US" altLang="zh-CN" sz="1258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58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02" name="文本框 201">
                <a:extLst>
                  <a:ext uri="{FF2B5EF4-FFF2-40B4-BE49-F238E27FC236}">
                    <a16:creationId xmlns:a16="http://schemas.microsoft.com/office/drawing/2014/main" id="{EB64C590-0263-44CF-A4FE-B5F22ADC8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602" y="2639782"/>
                <a:ext cx="1584684" cy="301165"/>
              </a:xfrm>
              <a:prstGeom prst="rect">
                <a:avLst/>
              </a:prstGeom>
              <a:blipFill>
                <a:blip r:embed="rId37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A189B946-CF2C-4CDA-AD3C-39AD352D188C}"/>
              </a:ext>
            </a:extLst>
          </p:cNvPr>
          <p:cNvCxnSpPr>
            <a:cxnSpLocks/>
          </p:cNvCxnSpPr>
          <p:nvPr/>
        </p:nvCxnSpPr>
        <p:spPr>
          <a:xfrm>
            <a:off x="5506766" y="3086076"/>
            <a:ext cx="7679" cy="3584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A662B2DB-64B5-4C0F-8673-87D7C8553652}"/>
              </a:ext>
            </a:extLst>
          </p:cNvPr>
          <p:cNvCxnSpPr>
            <a:cxnSpLocks/>
          </p:cNvCxnSpPr>
          <p:nvPr/>
        </p:nvCxnSpPr>
        <p:spPr>
          <a:xfrm flipV="1">
            <a:off x="5322063" y="1498523"/>
            <a:ext cx="0" cy="5367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连接符: 肘形 218">
            <a:extLst>
              <a:ext uri="{FF2B5EF4-FFF2-40B4-BE49-F238E27FC236}">
                <a16:creationId xmlns:a16="http://schemas.microsoft.com/office/drawing/2014/main" id="{553CB0B8-95CD-4500-8F84-F52F8E0E7DC8}"/>
              </a:ext>
            </a:extLst>
          </p:cNvPr>
          <p:cNvCxnSpPr>
            <a:cxnSpLocks/>
            <a:stCxn id="8" idx="1"/>
            <a:endCxn id="26" idx="1"/>
          </p:cNvCxnSpPr>
          <p:nvPr/>
        </p:nvCxnSpPr>
        <p:spPr>
          <a:xfrm rot="5400000" flipH="1" flipV="1">
            <a:off x="1110696" y="386967"/>
            <a:ext cx="586487" cy="112663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BE95F5BB-C78F-42CF-BB39-CB945FCCA8BC}"/>
              </a:ext>
            </a:extLst>
          </p:cNvPr>
          <p:cNvCxnSpPr>
            <a:cxnSpLocks/>
          </p:cNvCxnSpPr>
          <p:nvPr/>
        </p:nvCxnSpPr>
        <p:spPr>
          <a:xfrm flipV="1">
            <a:off x="1625887" y="2578110"/>
            <a:ext cx="597454" cy="42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696F245A-3A2F-419A-B8DA-6601042CF310}"/>
              </a:ext>
            </a:extLst>
          </p:cNvPr>
          <p:cNvCxnSpPr>
            <a:cxnSpLocks/>
          </p:cNvCxnSpPr>
          <p:nvPr/>
        </p:nvCxnSpPr>
        <p:spPr>
          <a:xfrm>
            <a:off x="6237651" y="805857"/>
            <a:ext cx="7829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7440683A-377F-42C4-9544-F2E711FF90D0}"/>
              </a:ext>
            </a:extLst>
          </p:cNvPr>
          <p:cNvGrpSpPr/>
          <p:nvPr/>
        </p:nvGrpSpPr>
        <p:grpSpPr>
          <a:xfrm>
            <a:off x="7020561" y="315293"/>
            <a:ext cx="2129386" cy="981129"/>
            <a:chOff x="7161560" y="1347682"/>
            <a:chExt cx="2031417" cy="935990"/>
          </a:xfrm>
        </p:grpSpPr>
        <p:sp>
          <p:nvSpPr>
            <p:cNvPr id="230" name="圆角矩形 77">
              <a:extLst>
                <a:ext uri="{FF2B5EF4-FFF2-40B4-BE49-F238E27FC236}">
                  <a16:creationId xmlns:a16="http://schemas.microsoft.com/office/drawing/2014/main" id="{38A8B244-08CE-43B9-9009-86CF92B27AD3}"/>
                </a:ext>
              </a:extLst>
            </p:cNvPr>
            <p:cNvSpPr/>
            <p:nvPr/>
          </p:nvSpPr>
          <p:spPr>
            <a:xfrm>
              <a:off x="7161560" y="1347682"/>
              <a:ext cx="2013045" cy="935990"/>
            </a:xfrm>
            <a:prstGeom prst="roundRect">
              <a:avLst>
                <a:gd name="adj" fmla="val 24586"/>
              </a:avLst>
            </a:prstGeom>
            <a:solidFill>
              <a:srgbClr val="D3E8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94" b="1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0357E31D-4194-4F03-817F-2AEE675740EC}"/>
                </a:ext>
              </a:extLst>
            </p:cNvPr>
            <p:cNvSpPr txBox="1"/>
            <p:nvPr/>
          </p:nvSpPr>
          <p:spPr>
            <a:xfrm>
              <a:off x="7586677" y="1453201"/>
              <a:ext cx="1123754" cy="278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58" dirty="0">
                  <a:latin typeface="宋体" panose="02010600030101010101" pitchFamily="2" charset="-122"/>
                  <a:ea typeface="宋体" panose="02010600030101010101" pitchFamily="2" charset="-122"/>
                </a:rPr>
                <a:t>异常判别模块</a:t>
              </a:r>
              <a:endParaRPr lang="en-US" altLang="zh-CN" sz="1258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1121D48C-7396-4F16-8A25-2B095CFDB28A}"/>
                    </a:ext>
                  </a:extLst>
                </p:cNvPr>
                <p:cNvSpPr txBox="1"/>
                <p:nvPr/>
              </p:nvSpPr>
              <p:spPr>
                <a:xfrm>
                  <a:off x="7211418" y="1711944"/>
                  <a:ext cx="1981559" cy="5097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258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258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𝐴𝑏𝑛𝑜𝑟𝑚𝑎𝑙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1258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&gt;</m:t>
                                </m:r>
                                <m:r>
                                  <a:rPr lang="zh-CN" altLang="en-US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𝜏</m:t>
                                </m:r>
                              </m:e>
                              <m:e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𝑁𝑜𝑟𝑚𝑎𝑙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, </m:t>
                                </m:r>
                                <m:r>
                                  <a:rPr lang="en-US" altLang="zh-CN" sz="1258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𝑜𝑡h𝑒𝑟𝑤𝑖𝑠𝑒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CN" sz="125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1121D48C-7396-4F16-8A25-2B095CFDB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1418" y="1711944"/>
                  <a:ext cx="1981559" cy="509714"/>
                </a:xfrm>
                <a:prstGeom prst="rect">
                  <a:avLst/>
                </a:prstGeom>
                <a:blipFill>
                  <a:blip r:embed="rId38"/>
                  <a:stretch>
                    <a:fillRect l="-16129" t="-170455" b="-247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6" name="连接符: 肘形 235">
            <a:extLst>
              <a:ext uri="{FF2B5EF4-FFF2-40B4-BE49-F238E27FC236}">
                <a16:creationId xmlns:a16="http://schemas.microsoft.com/office/drawing/2014/main" id="{DB03D69B-52F0-401F-9350-9649F3646C5D}"/>
              </a:ext>
            </a:extLst>
          </p:cNvPr>
          <p:cNvCxnSpPr>
            <a:cxnSpLocks/>
            <a:stCxn id="230" idx="2"/>
            <a:endCxn id="112" idx="3"/>
          </p:cNvCxnSpPr>
          <p:nvPr/>
        </p:nvCxnSpPr>
        <p:spPr>
          <a:xfrm rot="5400000">
            <a:off x="6221377" y="1583017"/>
            <a:ext cx="2140844" cy="1567655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文本框 241">
            <a:extLst>
              <a:ext uri="{FF2B5EF4-FFF2-40B4-BE49-F238E27FC236}">
                <a16:creationId xmlns:a16="http://schemas.microsoft.com/office/drawing/2014/main" id="{A3B12B65-0AFD-470D-B7DE-D0900A050E02}"/>
              </a:ext>
            </a:extLst>
          </p:cNvPr>
          <p:cNvSpPr txBox="1"/>
          <p:nvPr/>
        </p:nvSpPr>
        <p:spPr>
          <a:xfrm>
            <a:off x="6744768" y="3474075"/>
            <a:ext cx="1177950" cy="29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异常抑制反馈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EB4D32B3-D733-470D-BC33-B4D23727A4E4}"/>
              </a:ext>
            </a:extLst>
          </p:cNvPr>
          <p:cNvSpPr txBox="1"/>
          <p:nvPr/>
        </p:nvSpPr>
        <p:spPr>
          <a:xfrm>
            <a:off x="6207183" y="831890"/>
            <a:ext cx="849080" cy="29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8" dirty="0">
                <a:latin typeface="宋体" panose="02010600030101010101" pitchFamily="2" charset="-122"/>
                <a:ea typeface="宋体" panose="02010600030101010101" pitchFamily="2" charset="-122"/>
              </a:rPr>
              <a:t>异常分类</a:t>
            </a:r>
          </a:p>
        </p:txBody>
      </p:sp>
    </p:spTree>
    <p:extLst>
      <p:ext uri="{BB962C8B-B14F-4D97-AF65-F5344CB8AC3E}">
        <p14:creationId xmlns:p14="http://schemas.microsoft.com/office/powerpoint/2010/main" val="141700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94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78</Words>
  <Application>Microsoft Office PowerPoint</Application>
  <PresentationFormat>自定义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17</cp:revision>
  <dcterms:created xsi:type="dcterms:W3CDTF">2026-02-03T07:15:35Z</dcterms:created>
  <dcterms:modified xsi:type="dcterms:W3CDTF">2026-03-12T07:28:56Z</dcterms:modified>
</cp:coreProperties>
</file>