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"/>
  </p:notesMasterIdLst>
  <p:sldIdLst>
    <p:sldId id="256" r:id="rId2"/>
  </p:sldIdLst>
  <p:sldSz cx="9180513" cy="4895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D9E1"/>
    <a:srgbClr val="F2D2D3"/>
    <a:srgbClr val="DEE5C9"/>
    <a:srgbClr val="DBCAE0"/>
    <a:srgbClr val="9C6CAA"/>
    <a:srgbClr val="B5E5E3"/>
    <a:srgbClr val="E3F5F4"/>
    <a:srgbClr val="FFFFFF"/>
    <a:srgbClr val="ECFFEB"/>
    <a:srgbClr val="D3E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6" d="100"/>
          <a:sy n="166" d="100"/>
        </p:scale>
        <p:origin x="3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A3D8E1-4345-4971-A742-21BAF41183C9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534988" y="1143000"/>
            <a:ext cx="5788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0F69D4-D1D2-4DB8-B052-059E6649EE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2574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1pPr>
    <a:lvl2pPr marL="477953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2pPr>
    <a:lvl3pPr marL="955904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3pPr>
    <a:lvl4pPr marL="1433857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4pPr>
    <a:lvl5pPr marL="1911810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5pPr>
    <a:lvl6pPr marL="2389761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6pPr>
    <a:lvl7pPr marL="2867714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7pPr>
    <a:lvl8pPr marL="3345665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8pPr>
    <a:lvl9pPr marL="3823618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7564" y="801243"/>
            <a:ext cx="6885385" cy="1704481"/>
          </a:xfrm>
        </p:spPr>
        <p:txBody>
          <a:bodyPr anchor="b"/>
          <a:lstStyle>
            <a:lvl1pPr algn="ctr">
              <a:defRPr sz="428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7564" y="2571455"/>
            <a:ext cx="6885385" cy="1182030"/>
          </a:xfrm>
        </p:spPr>
        <p:txBody>
          <a:bodyPr/>
          <a:lstStyle>
            <a:lvl1pPr marL="0" indent="0" algn="ctr">
              <a:buNone/>
              <a:defRPr sz="1713"/>
            </a:lvl1pPr>
            <a:lvl2pPr marL="326395" indent="0" algn="ctr">
              <a:buNone/>
              <a:defRPr sz="1428"/>
            </a:lvl2pPr>
            <a:lvl3pPr marL="652790" indent="0" algn="ctr">
              <a:buNone/>
              <a:defRPr sz="1285"/>
            </a:lvl3pPr>
            <a:lvl4pPr marL="979185" indent="0" algn="ctr">
              <a:buNone/>
              <a:defRPr sz="1142"/>
            </a:lvl4pPr>
            <a:lvl5pPr marL="1305580" indent="0" algn="ctr">
              <a:buNone/>
              <a:defRPr sz="1142"/>
            </a:lvl5pPr>
            <a:lvl6pPr marL="1631975" indent="0" algn="ctr">
              <a:buNone/>
              <a:defRPr sz="1142"/>
            </a:lvl6pPr>
            <a:lvl7pPr marL="1958370" indent="0" algn="ctr">
              <a:buNone/>
              <a:defRPr sz="1142"/>
            </a:lvl7pPr>
            <a:lvl8pPr marL="2284766" indent="0" algn="ctr">
              <a:buNone/>
              <a:defRPr sz="1142"/>
            </a:lvl8pPr>
            <a:lvl9pPr marL="2611161" indent="0" algn="ctr">
              <a:buNone/>
              <a:defRPr sz="114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831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7801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6379" y="1220563"/>
            <a:ext cx="7918192" cy="2036537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6379" y="3276367"/>
            <a:ext cx="7918192" cy="1070967"/>
          </a:xfrm>
        </p:spPr>
        <p:txBody>
          <a:bodyPr/>
          <a:lstStyle>
            <a:lvl1pPr marL="0" indent="0">
              <a:buNone/>
              <a:defRPr sz="1713">
                <a:solidFill>
                  <a:schemeClr val="tx1">
                    <a:tint val="75000"/>
                  </a:schemeClr>
                </a:solidFill>
              </a:defRPr>
            </a:lvl1pPr>
            <a:lvl2pPr marL="326395" indent="0">
              <a:buNone/>
              <a:defRPr sz="1428">
                <a:solidFill>
                  <a:schemeClr val="tx1">
                    <a:tint val="75000"/>
                  </a:schemeClr>
                </a:solidFill>
              </a:defRPr>
            </a:lvl2pPr>
            <a:lvl3pPr marL="652790" indent="0">
              <a:buNone/>
              <a:defRPr sz="1285">
                <a:solidFill>
                  <a:schemeClr val="tx1">
                    <a:tint val="75000"/>
                  </a:schemeClr>
                </a:solidFill>
              </a:defRPr>
            </a:lvl3pPr>
            <a:lvl4pPr marL="979185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4pPr>
            <a:lvl5pPr marL="1305580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5pPr>
            <a:lvl6pPr marL="1631975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6pPr>
            <a:lvl7pPr marL="1958370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7pPr>
            <a:lvl8pPr marL="2284766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8pPr>
            <a:lvl9pPr marL="2611161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7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1160" y="1303293"/>
            <a:ext cx="3901718" cy="3106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7635" y="1303293"/>
            <a:ext cx="3901718" cy="3106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709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260659"/>
            <a:ext cx="7918192" cy="94630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56" y="1200163"/>
            <a:ext cx="3883787" cy="588182"/>
          </a:xfrm>
        </p:spPr>
        <p:txBody>
          <a:bodyPr anchor="b"/>
          <a:lstStyle>
            <a:lvl1pPr marL="0" indent="0">
              <a:buNone/>
              <a:defRPr sz="1713" b="1"/>
            </a:lvl1pPr>
            <a:lvl2pPr marL="326395" indent="0">
              <a:buNone/>
              <a:defRPr sz="1428" b="1"/>
            </a:lvl2pPr>
            <a:lvl3pPr marL="652790" indent="0">
              <a:buNone/>
              <a:defRPr sz="1285" b="1"/>
            </a:lvl3pPr>
            <a:lvl4pPr marL="979185" indent="0">
              <a:buNone/>
              <a:defRPr sz="1142" b="1"/>
            </a:lvl4pPr>
            <a:lvl5pPr marL="1305580" indent="0">
              <a:buNone/>
              <a:defRPr sz="1142" b="1"/>
            </a:lvl5pPr>
            <a:lvl6pPr marL="1631975" indent="0">
              <a:buNone/>
              <a:defRPr sz="1142" b="1"/>
            </a:lvl6pPr>
            <a:lvl7pPr marL="1958370" indent="0">
              <a:buNone/>
              <a:defRPr sz="1142" b="1"/>
            </a:lvl7pPr>
            <a:lvl8pPr marL="2284766" indent="0">
              <a:buNone/>
              <a:defRPr sz="1142" b="1"/>
            </a:lvl8pPr>
            <a:lvl9pPr marL="2611161" indent="0">
              <a:buNone/>
              <a:defRPr sz="114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56" y="1788345"/>
            <a:ext cx="3883787" cy="26303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7635" y="1200163"/>
            <a:ext cx="3902914" cy="588182"/>
          </a:xfrm>
        </p:spPr>
        <p:txBody>
          <a:bodyPr anchor="b"/>
          <a:lstStyle>
            <a:lvl1pPr marL="0" indent="0">
              <a:buNone/>
              <a:defRPr sz="1713" b="1"/>
            </a:lvl1pPr>
            <a:lvl2pPr marL="326395" indent="0">
              <a:buNone/>
              <a:defRPr sz="1428" b="1"/>
            </a:lvl2pPr>
            <a:lvl3pPr marL="652790" indent="0">
              <a:buNone/>
              <a:defRPr sz="1285" b="1"/>
            </a:lvl3pPr>
            <a:lvl4pPr marL="979185" indent="0">
              <a:buNone/>
              <a:defRPr sz="1142" b="1"/>
            </a:lvl4pPr>
            <a:lvl5pPr marL="1305580" indent="0">
              <a:buNone/>
              <a:defRPr sz="1142" b="1"/>
            </a:lvl5pPr>
            <a:lvl6pPr marL="1631975" indent="0">
              <a:buNone/>
              <a:defRPr sz="1142" b="1"/>
            </a:lvl6pPr>
            <a:lvl7pPr marL="1958370" indent="0">
              <a:buNone/>
              <a:defRPr sz="1142" b="1"/>
            </a:lvl7pPr>
            <a:lvl8pPr marL="2284766" indent="0">
              <a:buNone/>
              <a:defRPr sz="1142" b="1"/>
            </a:lvl8pPr>
            <a:lvl9pPr marL="2611161" indent="0">
              <a:buNone/>
              <a:defRPr sz="114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7635" y="1788345"/>
            <a:ext cx="3902914" cy="26303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42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4377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939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326390"/>
            <a:ext cx="2960954" cy="1142365"/>
          </a:xfrm>
        </p:spPr>
        <p:txBody>
          <a:bodyPr anchor="b"/>
          <a:lstStyle>
            <a:lvl1pPr>
              <a:defRPr sz="228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2914" y="704912"/>
            <a:ext cx="4647635" cy="3479227"/>
          </a:xfrm>
        </p:spPr>
        <p:txBody>
          <a:bodyPr/>
          <a:lstStyle>
            <a:lvl1pPr>
              <a:defRPr sz="2284"/>
            </a:lvl1pPr>
            <a:lvl2pPr>
              <a:defRPr sz="1999"/>
            </a:lvl2pPr>
            <a:lvl3pPr>
              <a:defRPr sz="1713"/>
            </a:lvl3pPr>
            <a:lvl4pPr>
              <a:defRPr sz="1428"/>
            </a:lvl4pPr>
            <a:lvl5pPr>
              <a:defRPr sz="1428"/>
            </a:lvl5pPr>
            <a:lvl6pPr>
              <a:defRPr sz="1428"/>
            </a:lvl6pPr>
            <a:lvl7pPr>
              <a:defRPr sz="1428"/>
            </a:lvl7pPr>
            <a:lvl8pPr>
              <a:defRPr sz="1428"/>
            </a:lvl8pPr>
            <a:lvl9pPr>
              <a:defRPr sz="142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2356" y="1468755"/>
            <a:ext cx="2960954" cy="2721050"/>
          </a:xfrm>
        </p:spPr>
        <p:txBody>
          <a:bodyPr/>
          <a:lstStyle>
            <a:lvl1pPr marL="0" indent="0">
              <a:buNone/>
              <a:defRPr sz="1142"/>
            </a:lvl1pPr>
            <a:lvl2pPr marL="326395" indent="0">
              <a:buNone/>
              <a:defRPr sz="999"/>
            </a:lvl2pPr>
            <a:lvl3pPr marL="652790" indent="0">
              <a:buNone/>
              <a:defRPr sz="857"/>
            </a:lvl3pPr>
            <a:lvl4pPr marL="979185" indent="0">
              <a:buNone/>
              <a:defRPr sz="714"/>
            </a:lvl4pPr>
            <a:lvl5pPr marL="1305580" indent="0">
              <a:buNone/>
              <a:defRPr sz="714"/>
            </a:lvl5pPr>
            <a:lvl6pPr marL="1631975" indent="0">
              <a:buNone/>
              <a:defRPr sz="714"/>
            </a:lvl6pPr>
            <a:lvl7pPr marL="1958370" indent="0">
              <a:buNone/>
              <a:defRPr sz="714"/>
            </a:lvl7pPr>
            <a:lvl8pPr marL="2284766" indent="0">
              <a:buNone/>
              <a:defRPr sz="714"/>
            </a:lvl8pPr>
            <a:lvl9pPr marL="2611161" indent="0">
              <a:buNone/>
              <a:defRPr sz="7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197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326390"/>
            <a:ext cx="2960954" cy="1142365"/>
          </a:xfrm>
        </p:spPr>
        <p:txBody>
          <a:bodyPr anchor="b"/>
          <a:lstStyle>
            <a:lvl1pPr>
              <a:defRPr sz="228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02914" y="704912"/>
            <a:ext cx="4647635" cy="3479227"/>
          </a:xfrm>
        </p:spPr>
        <p:txBody>
          <a:bodyPr anchor="t"/>
          <a:lstStyle>
            <a:lvl1pPr marL="0" indent="0">
              <a:buNone/>
              <a:defRPr sz="2284"/>
            </a:lvl1pPr>
            <a:lvl2pPr marL="326395" indent="0">
              <a:buNone/>
              <a:defRPr sz="1999"/>
            </a:lvl2pPr>
            <a:lvl3pPr marL="652790" indent="0">
              <a:buNone/>
              <a:defRPr sz="1713"/>
            </a:lvl3pPr>
            <a:lvl4pPr marL="979185" indent="0">
              <a:buNone/>
              <a:defRPr sz="1428"/>
            </a:lvl4pPr>
            <a:lvl5pPr marL="1305580" indent="0">
              <a:buNone/>
              <a:defRPr sz="1428"/>
            </a:lvl5pPr>
            <a:lvl6pPr marL="1631975" indent="0">
              <a:buNone/>
              <a:defRPr sz="1428"/>
            </a:lvl6pPr>
            <a:lvl7pPr marL="1958370" indent="0">
              <a:buNone/>
              <a:defRPr sz="1428"/>
            </a:lvl7pPr>
            <a:lvl8pPr marL="2284766" indent="0">
              <a:buNone/>
              <a:defRPr sz="1428"/>
            </a:lvl8pPr>
            <a:lvl9pPr marL="2611161" indent="0">
              <a:buNone/>
              <a:defRPr sz="142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2356" y="1468755"/>
            <a:ext cx="2960954" cy="2721050"/>
          </a:xfrm>
        </p:spPr>
        <p:txBody>
          <a:bodyPr/>
          <a:lstStyle>
            <a:lvl1pPr marL="0" indent="0">
              <a:buNone/>
              <a:defRPr sz="1142"/>
            </a:lvl1pPr>
            <a:lvl2pPr marL="326395" indent="0">
              <a:buNone/>
              <a:defRPr sz="999"/>
            </a:lvl2pPr>
            <a:lvl3pPr marL="652790" indent="0">
              <a:buNone/>
              <a:defRPr sz="857"/>
            </a:lvl3pPr>
            <a:lvl4pPr marL="979185" indent="0">
              <a:buNone/>
              <a:defRPr sz="714"/>
            </a:lvl4pPr>
            <a:lvl5pPr marL="1305580" indent="0">
              <a:buNone/>
              <a:defRPr sz="714"/>
            </a:lvl5pPr>
            <a:lvl6pPr marL="1631975" indent="0">
              <a:buNone/>
              <a:defRPr sz="714"/>
            </a:lvl6pPr>
            <a:lvl7pPr marL="1958370" indent="0">
              <a:buNone/>
              <a:defRPr sz="714"/>
            </a:lvl7pPr>
            <a:lvl8pPr marL="2284766" indent="0">
              <a:buNone/>
              <a:defRPr sz="714"/>
            </a:lvl8pPr>
            <a:lvl9pPr marL="2611161" indent="0">
              <a:buNone/>
              <a:defRPr sz="7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5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8376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9805" y="260658"/>
            <a:ext cx="1979548" cy="41490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1160" y="260658"/>
            <a:ext cx="5823888" cy="41490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998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1161" y="260659"/>
            <a:ext cx="7918192" cy="946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161" y="1303293"/>
            <a:ext cx="7918192" cy="31063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1160" y="4537728"/>
            <a:ext cx="206561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8220C-5A5C-478F-B803-C4E547BB9071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41045" y="4537728"/>
            <a:ext cx="3098423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83738" y="4537728"/>
            <a:ext cx="206561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928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txStyles>
    <p:titleStyle>
      <a:lvl1pPr algn="l" defTabSz="652790" rtl="0" eaLnBrk="1" latinLnBrk="0" hangingPunct="1">
        <a:lnSpc>
          <a:spcPct val="90000"/>
        </a:lnSpc>
        <a:spcBef>
          <a:spcPct val="0"/>
        </a:spcBef>
        <a:buNone/>
        <a:defRPr sz="314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3198" indent="-163198" algn="l" defTabSz="652790" rtl="0" eaLnBrk="1" latinLnBrk="0" hangingPunct="1">
        <a:lnSpc>
          <a:spcPct val="90000"/>
        </a:lnSpc>
        <a:spcBef>
          <a:spcPts val="714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48959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713" kern="1200">
          <a:solidFill>
            <a:schemeClr val="tx1"/>
          </a:solidFill>
          <a:latin typeface="+mn-lt"/>
          <a:ea typeface="+mn-ea"/>
          <a:cs typeface="+mn-cs"/>
        </a:defRPr>
      </a:lvl2pPr>
      <a:lvl3pPr marL="81598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14238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4pPr>
      <a:lvl5pPr marL="146877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5pPr>
      <a:lvl6pPr marL="179517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6pPr>
      <a:lvl7pPr marL="212156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7pPr>
      <a:lvl8pPr marL="244796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8pPr>
      <a:lvl9pPr marL="277435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1pPr>
      <a:lvl2pPr marL="32639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2pPr>
      <a:lvl3pPr marL="65279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3pPr>
      <a:lvl4pPr marL="97918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4pPr>
      <a:lvl5pPr marL="130558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5pPr>
      <a:lvl6pPr marL="163197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6pPr>
      <a:lvl7pPr marL="195837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7pPr>
      <a:lvl8pPr marL="2284766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8pPr>
      <a:lvl9pPr marL="2611161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00BF9E-ED03-4347-A321-1630BA59FE4E}"/>
              </a:ext>
            </a:extLst>
          </p:cNvPr>
          <p:cNvSpPr/>
          <p:nvPr/>
        </p:nvSpPr>
        <p:spPr>
          <a:xfrm>
            <a:off x="4271992" y="217229"/>
            <a:ext cx="4814251" cy="1541928"/>
          </a:xfrm>
          <a:prstGeom prst="roundRect">
            <a:avLst>
              <a:gd name="adj" fmla="val 4380"/>
            </a:avLst>
          </a:prstGeom>
          <a:solidFill>
            <a:srgbClr val="E7E3E4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FB2E853-981F-49EB-907B-FAA89E17AC06}"/>
              </a:ext>
            </a:extLst>
          </p:cNvPr>
          <p:cNvSpPr/>
          <p:nvPr/>
        </p:nvSpPr>
        <p:spPr>
          <a:xfrm>
            <a:off x="1901605" y="555057"/>
            <a:ext cx="2178508" cy="525218"/>
          </a:xfrm>
          <a:prstGeom prst="roundRect">
            <a:avLst/>
          </a:prstGeom>
          <a:solidFill>
            <a:srgbClr val="E7E3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F050B32-6804-49E5-9A3C-EC2B6D261E24}"/>
              </a:ext>
            </a:extLst>
          </p:cNvPr>
          <p:cNvSpPr txBox="1"/>
          <p:nvPr/>
        </p:nvSpPr>
        <p:spPr>
          <a:xfrm>
            <a:off x="1745636" y="679174"/>
            <a:ext cx="2468133" cy="285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b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MaskTST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流量特征学习模块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C1191CE0-57F7-413B-8958-D251FDB3A099}"/>
              </a:ext>
            </a:extLst>
          </p:cNvPr>
          <p:cNvSpPr txBox="1"/>
          <p:nvPr/>
        </p:nvSpPr>
        <p:spPr>
          <a:xfrm>
            <a:off x="5690469" y="1757574"/>
            <a:ext cx="2204450" cy="285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d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ASDM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异常得分判别模块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BA575400-2C8F-4257-AE90-88CF81ED80F7}"/>
              </a:ext>
            </a:extLst>
          </p:cNvPr>
          <p:cNvSpPr/>
          <p:nvPr/>
        </p:nvSpPr>
        <p:spPr>
          <a:xfrm>
            <a:off x="2157691" y="2195910"/>
            <a:ext cx="4284631" cy="2405749"/>
          </a:xfrm>
          <a:prstGeom prst="roundRect">
            <a:avLst>
              <a:gd name="adj" fmla="val 615"/>
            </a:avLst>
          </a:prstGeom>
          <a:solidFill>
            <a:srgbClr val="D3E8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57" name="圆角矩形 4">
            <a:extLst>
              <a:ext uri="{FF2B5EF4-FFF2-40B4-BE49-F238E27FC236}">
                <a16:creationId xmlns:a16="http://schemas.microsoft.com/office/drawing/2014/main" id="{5814E12C-8415-48A7-8ABA-2522AE9CEC2A}"/>
              </a:ext>
            </a:extLst>
          </p:cNvPr>
          <p:cNvSpPr/>
          <p:nvPr/>
        </p:nvSpPr>
        <p:spPr>
          <a:xfrm>
            <a:off x="4634540" y="3597892"/>
            <a:ext cx="1751777" cy="889553"/>
          </a:xfrm>
          <a:prstGeom prst="roundRect">
            <a:avLst>
              <a:gd name="adj" fmla="val 5082"/>
            </a:avLst>
          </a:prstGeom>
          <a:solidFill>
            <a:srgbClr val="DEE5C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80E7983B-4DFE-46A1-9E50-1E63EB1A871A}"/>
                  </a:ext>
                </a:extLst>
              </p:cNvPr>
              <p:cNvSpPr txBox="1"/>
              <p:nvPr/>
            </p:nvSpPr>
            <p:spPr>
              <a:xfrm>
                <a:off x="4971169" y="3630402"/>
                <a:ext cx="1302256" cy="301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软分配权重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𝛼</m:t>
                        </m:r>
                      </m:e>
                      <m: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</m:t>
                        </m:r>
                      </m:sub>
                    </m:sSub>
                  </m:oMath>
                </a14:m>
                <a:endParaRPr lang="en-US" altLang="zh-CN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80E7983B-4DFE-46A1-9E50-1E63EB1A8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169" y="3630402"/>
                <a:ext cx="1302256" cy="301165"/>
              </a:xfrm>
              <a:prstGeom prst="rect">
                <a:avLst/>
              </a:prstGeom>
              <a:blipFill>
                <a:blip r:embed="rId2"/>
                <a:stretch>
                  <a:fillRect l="-467" t="-4082" b="-81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D7C977CD-12D7-4AF0-8B4D-8BF354B3C052}"/>
                  </a:ext>
                </a:extLst>
              </p:cNvPr>
              <p:cNvSpPr txBox="1"/>
              <p:nvPr/>
            </p:nvSpPr>
            <p:spPr>
              <a:xfrm>
                <a:off x="4566673" y="3924397"/>
                <a:ext cx="1918176" cy="524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,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fPr>
                        <m:num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𝑒𝑥𝑝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(−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𝑘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𝑀</m:t>
                              </m:r>
                            </m:sup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𝑒𝑥𝑝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(−</m:t>
                              </m:r>
                              <m:sSub>
                                <m:sSubPr>
                                  <m:ctrlP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𝑖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,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altLang="zh-CN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D7C977CD-12D7-4AF0-8B4D-8BF354B3C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6673" y="3924397"/>
                <a:ext cx="1918176" cy="524055"/>
              </a:xfrm>
              <a:prstGeom prst="rect">
                <a:avLst/>
              </a:prstGeom>
              <a:blipFill>
                <a:blip r:embed="rId3"/>
                <a:stretch>
                  <a:fillRect t="-10465" b="-779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圆角矩形 16">
            <a:extLst>
              <a:ext uri="{FF2B5EF4-FFF2-40B4-BE49-F238E27FC236}">
                <a16:creationId xmlns:a16="http://schemas.microsoft.com/office/drawing/2014/main" id="{EA50F659-CB91-44C9-AABE-195CFDA2AE3A}"/>
              </a:ext>
            </a:extLst>
          </p:cNvPr>
          <p:cNvSpPr/>
          <p:nvPr/>
        </p:nvSpPr>
        <p:spPr>
          <a:xfrm>
            <a:off x="2251777" y="3556265"/>
            <a:ext cx="1659344" cy="982452"/>
          </a:xfrm>
          <a:prstGeom prst="roundRect">
            <a:avLst>
              <a:gd name="adj" fmla="val 5971"/>
            </a:avLst>
          </a:prstGeom>
          <a:solidFill>
            <a:srgbClr val="B5E5E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1DBB8920-24D3-49A3-8EC1-E8E20C71F9F5}"/>
              </a:ext>
            </a:extLst>
          </p:cNvPr>
          <p:cNvSpPr txBox="1"/>
          <p:nvPr/>
        </p:nvSpPr>
        <p:spPr>
          <a:xfrm>
            <a:off x="2342018" y="3591329"/>
            <a:ext cx="1506819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聚类中心更新机制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94C85D1E-E9CF-40B8-8FA0-78E9C04C3A26}"/>
                  </a:ext>
                </a:extLst>
              </p:cNvPr>
              <p:cNvSpPr txBox="1"/>
              <p:nvPr/>
            </p:nvSpPr>
            <p:spPr>
              <a:xfrm>
                <a:off x="2320056" y="3865994"/>
                <a:ext cx="1477934" cy="553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f>
                        <m:f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94C85D1E-E9CF-40B8-8FA0-78E9C04C3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56" y="3865994"/>
                <a:ext cx="1477934" cy="553092"/>
              </a:xfrm>
              <a:prstGeom prst="rect">
                <a:avLst/>
              </a:prstGeom>
              <a:blipFill>
                <a:blip r:embed="rId4"/>
                <a:stretch>
                  <a:fillRect t="-47253" b="-725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文本框 165">
            <a:extLst>
              <a:ext uri="{FF2B5EF4-FFF2-40B4-BE49-F238E27FC236}">
                <a16:creationId xmlns:a16="http://schemas.microsoft.com/office/drawing/2014/main" id="{99488B65-D937-431A-B7EE-F4140F95833B}"/>
              </a:ext>
            </a:extLst>
          </p:cNvPr>
          <p:cNvSpPr txBox="1"/>
          <p:nvPr/>
        </p:nvSpPr>
        <p:spPr>
          <a:xfrm>
            <a:off x="3007864" y="4609938"/>
            <a:ext cx="2528256" cy="285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（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c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MCUC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多中心无监督聚类机制</a:t>
            </a:r>
          </a:p>
        </p:txBody>
      </p: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1EDD5CF1-588E-45DD-9124-802BB814ADAE}"/>
              </a:ext>
            </a:extLst>
          </p:cNvPr>
          <p:cNvCxnSpPr>
            <a:cxnSpLocks/>
            <a:stCxn id="114" idx="3"/>
          </p:cNvCxnSpPr>
          <p:nvPr/>
        </p:nvCxnSpPr>
        <p:spPr>
          <a:xfrm>
            <a:off x="3988236" y="2731545"/>
            <a:ext cx="578437" cy="71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542AD8AF-C5AA-48C3-BA05-120ABDA191DC}"/>
              </a:ext>
            </a:extLst>
          </p:cNvPr>
          <p:cNvCxnSpPr>
            <a:cxnSpLocks/>
          </p:cNvCxnSpPr>
          <p:nvPr/>
        </p:nvCxnSpPr>
        <p:spPr>
          <a:xfrm flipH="1" flipV="1">
            <a:off x="3911121" y="4064566"/>
            <a:ext cx="7231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66830963-17F9-475B-9F48-C46CB460E392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990859" y="1080275"/>
            <a:ext cx="8160" cy="11156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C1EDC1DB-F8C4-484D-96B3-4E0CE1338F94}"/>
                  </a:ext>
                </a:extLst>
              </p:cNvPr>
              <p:cNvSpPr txBox="1"/>
              <p:nvPr/>
            </p:nvSpPr>
            <p:spPr>
              <a:xfrm>
                <a:off x="2919096" y="1763203"/>
                <a:ext cx="918841" cy="285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隐藏表示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1258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Ζ</m:t>
                    </m:r>
                  </m:oMath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C1EDC1DB-F8C4-484D-96B3-4E0CE1338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96" y="1763203"/>
                <a:ext cx="918841" cy="285912"/>
              </a:xfrm>
              <a:prstGeom prst="rect">
                <a:avLst/>
              </a:prstGeom>
              <a:blipFill>
                <a:blip r:embed="rId5"/>
                <a:stretch>
                  <a:fillRect l="-662" t="-2128" b="-170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圆角矩形 33">
            <a:extLst>
              <a:ext uri="{FF2B5EF4-FFF2-40B4-BE49-F238E27FC236}">
                <a16:creationId xmlns:a16="http://schemas.microsoft.com/office/drawing/2014/main" id="{C47C9C55-043C-4F18-ABC6-16F181458565}"/>
              </a:ext>
            </a:extLst>
          </p:cNvPr>
          <p:cNvSpPr/>
          <p:nvPr/>
        </p:nvSpPr>
        <p:spPr>
          <a:xfrm>
            <a:off x="4360294" y="243347"/>
            <a:ext cx="1806670" cy="1423181"/>
          </a:xfrm>
          <a:prstGeom prst="roundRect">
            <a:avLst>
              <a:gd name="adj" fmla="val 6135"/>
            </a:avLst>
          </a:prstGeom>
          <a:solidFill>
            <a:srgbClr val="F2D2D3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C1B395B1-64AC-455C-BD06-BF2F45E4110E}"/>
              </a:ext>
            </a:extLst>
          </p:cNvPr>
          <p:cNvSpPr txBox="1"/>
          <p:nvPr/>
        </p:nvSpPr>
        <p:spPr>
          <a:xfrm>
            <a:off x="4521604" y="579723"/>
            <a:ext cx="1506818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加权异常得分计算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8AAA8ADC-3AE2-4C63-96AE-96516203FFFA}"/>
                  </a:ext>
                </a:extLst>
              </p:cNvPr>
              <p:cNvSpPr txBox="1"/>
              <p:nvPr/>
            </p:nvSpPr>
            <p:spPr>
              <a:xfrm>
                <a:off x="4566673" y="870263"/>
                <a:ext cx="1551263" cy="644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258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1258" dirty="0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8AAA8ADC-3AE2-4C63-96AE-96516203F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6673" y="870263"/>
                <a:ext cx="1551263" cy="6449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C07BD3C7-BB0E-462F-98A3-2477E9D2E97B}"/>
              </a:ext>
            </a:extLst>
          </p:cNvPr>
          <p:cNvCxnSpPr>
            <a:cxnSpLocks/>
          </p:cNvCxnSpPr>
          <p:nvPr/>
        </p:nvCxnSpPr>
        <p:spPr>
          <a:xfrm>
            <a:off x="3124344" y="3194683"/>
            <a:ext cx="0" cy="373114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圆角矩形 83">
            <a:extLst>
              <a:ext uri="{FF2B5EF4-FFF2-40B4-BE49-F238E27FC236}">
                <a16:creationId xmlns:a16="http://schemas.microsoft.com/office/drawing/2014/main" id="{FC5C2DA5-7B7D-479C-A4E7-CC66FA2E8E55}"/>
              </a:ext>
            </a:extLst>
          </p:cNvPr>
          <p:cNvSpPr/>
          <p:nvPr/>
        </p:nvSpPr>
        <p:spPr>
          <a:xfrm>
            <a:off x="4587517" y="2276041"/>
            <a:ext cx="1659344" cy="981129"/>
          </a:xfrm>
          <a:prstGeom prst="roundRect">
            <a:avLst>
              <a:gd name="adj" fmla="val 6902"/>
            </a:avLst>
          </a:prstGeom>
          <a:solidFill>
            <a:srgbClr val="DBCAE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3C8B1DC-3DFD-4190-AA48-B81944141C03}"/>
              </a:ext>
            </a:extLst>
          </p:cNvPr>
          <p:cNvSpPr txBox="1"/>
          <p:nvPr/>
        </p:nvSpPr>
        <p:spPr>
          <a:xfrm>
            <a:off x="5009908" y="2441102"/>
            <a:ext cx="84908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距离向量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EB64C590-0263-44CF-A4FE-B5F22ADC8240}"/>
                  </a:ext>
                </a:extLst>
              </p:cNvPr>
              <p:cNvSpPr txBox="1"/>
              <p:nvPr/>
            </p:nvSpPr>
            <p:spPr>
              <a:xfrm>
                <a:off x="4604952" y="2800409"/>
                <a:ext cx="1584684" cy="301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,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||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EB64C590-0263-44CF-A4FE-B5F22ADC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4952" y="2800409"/>
                <a:ext cx="1584684" cy="3011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A189B946-CF2C-4CDA-AD3C-39AD352D188C}"/>
              </a:ext>
            </a:extLst>
          </p:cNvPr>
          <p:cNvCxnSpPr>
            <a:cxnSpLocks/>
          </p:cNvCxnSpPr>
          <p:nvPr/>
        </p:nvCxnSpPr>
        <p:spPr>
          <a:xfrm>
            <a:off x="5441116" y="3246703"/>
            <a:ext cx="7679" cy="3584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A662B2DB-64B5-4C0F-8673-87D7C8553652}"/>
              </a:ext>
            </a:extLst>
          </p:cNvPr>
          <p:cNvCxnSpPr>
            <a:cxnSpLocks/>
          </p:cNvCxnSpPr>
          <p:nvPr/>
        </p:nvCxnSpPr>
        <p:spPr>
          <a:xfrm flipV="1">
            <a:off x="5256413" y="1659150"/>
            <a:ext cx="0" cy="5367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553CB0B8-95CD-4500-8F84-F52F8E0E7DC8}"/>
              </a:ext>
            </a:extLst>
          </p:cNvPr>
          <p:cNvCxnSpPr>
            <a:cxnSpLocks/>
            <a:stCxn id="3" idx="0"/>
            <a:endCxn id="26" idx="1"/>
          </p:cNvCxnSpPr>
          <p:nvPr/>
        </p:nvCxnSpPr>
        <p:spPr>
          <a:xfrm rot="5400000" flipH="1" flipV="1">
            <a:off x="1113194" y="736008"/>
            <a:ext cx="706753" cy="87007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箭头连接符 231">
            <a:extLst>
              <a:ext uri="{FF2B5EF4-FFF2-40B4-BE49-F238E27FC236}">
                <a16:creationId xmlns:a16="http://schemas.microsoft.com/office/drawing/2014/main" id="{696F245A-3A2F-419A-B8DA-6601042CF310}"/>
              </a:ext>
            </a:extLst>
          </p:cNvPr>
          <p:cNvCxnSpPr>
            <a:cxnSpLocks/>
          </p:cNvCxnSpPr>
          <p:nvPr/>
        </p:nvCxnSpPr>
        <p:spPr>
          <a:xfrm>
            <a:off x="6172001" y="966484"/>
            <a:ext cx="716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圆角矩形 77">
            <a:extLst>
              <a:ext uri="{FF2B5EF4-FFF2-40B4-BE49-F238E27FC236}">
                <a16:creationId xmlns:a16="http://schemas.microsoft.com/office/drawing/2014/main" id="{38A8B244-08CE-43B9-9009-86CF92B27AD3}"/>
              </a:ext>
            </a:extLst>
          </p:cNvPr>
          <p:cNvSpPr/>
          <p:nvPr/>
        </p:nvSpPr>
        <p:spPr>
          <a:xfrm>
            <a:off x="6888480" y="464372"/>
            <a:ext cx="2110128" cy="981129"/>
          </a:xfrm>
          <a:prstGeom prst="roundRect">
            <a:avLst>
              <a:gd name="adj" fmla="val 5468"/>
            </a:avLst>
          </a:prstGeom>
          <a:solidFill>
            <a:srgbClr val="B5D9E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0357E31D-4194-4F03-817F-2AEE675740EC}"/>
              </a:ext>
            </a:extLst>
          </p:cNvPr>
          <p:cNvSpPr txBox="1"/>
          <p:nvPr/>
        </p:nvSpPr>
        <p:spPr>
          <a:xfrm>
            <a:off x="7310048" y="579723"/>
            <a:ext cx="1177949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异常判别模块</a:t>
            </a:r>
            <a:endParaRPr lang="en-US" altLang="zh-CN" sz="1258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1121D48C-7396-4F16-8A25-2B095CFDB28A}"/>
                  </a:ext>
                </a:extLst>
              </p:cNvPr>
              <p:cNvSpPr txBox="1"/>
              <p:nvPr/>
            </p:nvSpPr>
            <p:spPr>
              <a:xfrm>
                <a:off x="6916691" y="850944"/>
                <a:ext cx="2077124" cy="5342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acc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eqArr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𝐴𝑏𝑛𝑜𝑟𝑚𝑎𝑙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CN" sz="125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&gt;</m:t>
                              </m:r>
                              <m:r>
                                <a:rPr lang="zh-CN" altLang="en-US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𝑁𝑜𝑟𝑚𝑎𝑙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 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𝑜𝑡h𝑒𝑟𝑤𝑖𝑠𝑒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1121D48C-7396-4F16-8A25-2B095CFDB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691" y="850944"/>
                <a:ext cx="2077124" cy="534295"/>
              </a:xfrm>
              <a:prstGeom prst="rect">
                <a:avLst/>
              </a:prstGeom>
              <a:blipFill>
                <a:blip r:embed="rId8"/>
                <a:stretch>
                  <a:fillRect l="-16176" t="-172414" b="-2517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6" name="连接符: 肘形 235">
            <a:extLst>
              <a:ext uri="{FF2B5EF4-FFF2-40B4-BE49-F238E27FC236}">
                <a16:creationId xmlns:a16="http://schemas.microsoft.com/office/drawing/2014/main" id="{DB03D69B-52F0-401F-9350-9649F3646C5D}"/>
              </a:ext>
            </a:extLst>
          </p:cNvPr>
          <p:cNvCxnSpPr>
            <a:cxnSpLocks/>
            <a:stCxn id="230" idx="2"/>
            <a:endCxn id="112" idx="3"/>
          </p:cNvCxnSpPr>
          <p:nvPr/>
        </p:nvCxnSpPr>
        <p:spPr>
          <a:xfrm rot="5400000">
            <a:off x="6216291" y="1671532"/>
            <a:ext cx="1953284" cy="1501222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3B12B65-0AFD-470D-B7DE-D0900A050E02}"/>
              </a:ext>
            </a:extLst>
          </p:cNvPr>
          <p:cNvSpPr txBox="1"/>
          <p:nvPr/>
        </p:nvSpPr>
        <p:spPr>
          <a:xfrm>
            <a:off x="6679118" y="3634702"/>
            <a:ext cx="117795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异常抑制反馈</a:t>
            </a: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EB4D32B3-D733-470D-BC33-B4D23727A4E4}"/>
              </a:ext>
            </a:extLst>
          </p:cNvPr>
          <p:cNvSpPr txBox="1"/>
          <p:nvPr/>
        </p:nvSpPr>
        <p:spPr>
          <a:xfrm>
            <a:off x="6102795" y="997203"/>
            <a:ext cx="84908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异常分类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F614933-75F9-4226-8D34-BF4501CA1CD3}"/>
                  </a:ext>
                </a:extLst>
              </p:cNvPr>
              <p:cNvSpPr txBox="1"/>
              <p:nvPr/>
            </p:nvSpPr>
            <p:spPr>
              <a:xfrm>
                <a:off x="520711" y="694124"/>
                <a:ext cx="4369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𝜒</m:t>
                      </m:r>
                    </m:oMath>
                  </m:oMathPara>
                </a14:m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F614933-75F9-4226-8D34-BF4501CA1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711" y="694124"/>
                <a:ext cx="436978" cy="369332"/>
              </a:xfrm>
              <a:prstGeom prst="rect">
                <a:avLst/>
              </a:prstGeom>
              <a:blipFill>
                <a:blip r:embed="rId9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圆角矩形 83">
            <a:extLst>
              <a:ext uri="{FF2B5EF4-FFF2-40B4-BE49-F238E27FC236}">
                <a16:creationId xmlns:a16="http://schemas.microsoft.com/office/drawing/2014/main" id="{1261B703-7A16-4B90-AF20-58719FB23C7E}"/>
              </a:ext>
            </a:extLst>
          </p:cNvPr>
          <p:cNvSpPr/>
          <p:nvPr/>
        </p:nvSpPr>
        <p:spPr>
          <a:xfrm>
            <a:off x="2437598" y="2321343"/>
            <a:ext cx="1547429" cy="875729"/>
          </a:xfrm>
          <a:prstGeom prst="roundRect">
            <a:avLst>
              <a:gd name="adj" fmla="val 6902"/>
            </a:avLst>
          </a:prstGeom>
          <a:solidFill>
            <a:srgbClr val="ECFFEB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 dirty="0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7578A96-14F0-4638-9E26-1A5AD2AA445D}"/>
              </a:ext>
            </a:extLst>
          </p:cNvPr>
          <p:cNvGrpSpPr/>
          <p:nvPr/>
        </p:nvGrpSpPr>
        <p:grpSpPr>
          <a:xfrm>
            <a:off x="-79321" y="1524419"/>
            <a:ext cx="2068992" cy="1849700"/>
            <a:chOff x="-73002" y="1298005"/>
            <a:chExt cx="2068992" cy="1849700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5E4BC9D-AAE7-4BAE-8877-1FC360EA3526}"/>
                </a:ext>
              </a:extLst>
            </p:cNvPr>
            <p:cNvSpPr txBox="1"/>
            <p:nvPr/>
          </p:nvSpPr>
          <p:spPr>
            <a:xfrm>
              <a:off x="-73002" y="2861793"/>
              <a:ext cx="2045753" cy="28591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（</a:t>
              </a:r>
              <a:r>
                <a:rPr lang="en-US" altLang="zh-CN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a</a:t>
              </a:r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）</a:t>
              </a:r>
              <a:r>
                <a:rPr lang="zh-CN" altLang="en-US" sz="1258">
                  <a:latin typeface="宋体" panose="02010600030101010101" pitchFamily="2" charset="-122"/>
                  <a:ea typeface="宋体" panose="02010600030101010101" pitchFamily="2" charset="-122"/>
                </a:rPr>
                <a:t>网络流量数据预处理</a:t>
              </a:r>
              <a:endPara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50" name="图片 49">
              <a:extLst>
                <a:ext uri="{FF2B5EF4-FFF2-40B4-BE49-F238E27FC236}">
                  <a16:creationId xmlns:a16="http://schemas.microsoft.com/office/drawing/2014/main" id="{E36A7447-4E8A-4F96-AD96-DB29797B52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750" t="17917" r="17166" b="10675"/>
            <a:stretch/>
          </p:blipFill>
          <p:spPr>
            <a:xfrm>
              <a:off x="161391" y="2469203"/>
              <a:ext cx="1752925" cy="312299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552B4AAE-DE5D-4B8C-A88C-74B971338B85}"/>
                </a:ext>
              </a:extLst>
            </p:cNvPr>
            <p:cNvSpPr/>
            <p:nvPr/>
          </p:nvSpPr>
          <p:spPr>
            <a:xfrm>
              <a:off x="79718" y="1298005"/>
              <a:ext cx="1916272" cy="15390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3" name="图片 52">
              <a:extLst>
                <a:ext uri="{FF2B5EF4-FFF2-40B4-BE49-F238E27FC236}">
                  <a16:creationId xmlns:a16="http://schemas.microsoft.com/office/drawing/2014/main" id="{8A0CB60A-2804-4412-9522-B64FC8412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750" t="17917" r="17166" b="10675"/>
            <a:stretch/>
          </p:blipFill>
          <p:spPr>
            <a:xfrm>
              <a:off x="165398" y="2095481"/>
              <a:ext cx="1752925" cy="312299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</p:pic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0ED97F87-3200-4602-951D-43D051E05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750" t="17917" r="17166" b="10675"/>
            <a:stretch/>
          </p:blipFill>
          <p:spPr>
            <a:xfrm>
              <a:off x="169405" y="1721759"/>
              <a:ext cx="1752925" cy="312299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</p:pic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144CE1AF-8DA1-4B54-9B3C-4FE665D0F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750" t="17917" r="17166" b="10675"/>
            <a:stretch/>
          </p:blipFill>
          <p:spPr>
            <a:xfrm>
              <a:off x="161934" y="1353539"/>
              <a:ext cx="1752925" cy="312299"/>
            </a:xfrm>
            <a:prstGeom prst="rect">
              <a:avLst/>
            </a:prstGeom>
            <a:ln w="19050">
              <a:solidFill>
                <a:schemeClr val="tx1"/>
              </a:solidFill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14D51799-6207-4003-B348-02637270E6C7}"/>
                  </a:ext>
                </a:extLst>
              </p:cNvPr>
              <p:cNvSpPr txBox="1"/>
              <p:nvPr/>
            </p:nvSpPr>
            <p:spPr>
              <a:xfrm>
                <a:off x="2463810" y="2487119"/>
                <a:ext cx="1524425" cy="48885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聚类中心</a:t>
                </a:r>
                <a:endParaRPr lang="en-US" altLang="zh-CN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𝜀</m:t>
                      </m:r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={</m:t>
                      </m:r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𝑒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𝑒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,…,</m:t>
                      </m:r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𝑒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}</m:t>
                      </m:r>
                    </m:oMath>
                  </m:oMathPara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14D51799-6207-4003-B348-02637270E6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810" y="2487119"/>
                <a:ext cx="1524425" cy="488853"/>
              </a:xfrm>
              <a:prstGeom prst="rect">
                <a:avLst/>
              </a:prstGeom>
              <a:blipFill>
                <a:blip r:embed="rId11"/>
                <a:stretch>
                  <a:fillRect b="-3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007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308</TotalTime>
  <Words>83</Words>
  <Application>Microsoft Office PowerPoint</Application>
  <PresentationFormat>自定义</PresentationFormat>
  <Paragraphs>20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26</cp:revision>
  <dcterms:created xsi:type="dcterms:W3CDTF">2026-02-03T07:15:35Z</dcterms:created>
  <dcterms:modified xsi:type="dcterms:W3CDTF">2026-03-19T11:04:46Z</dcterms:modified>
</cp:coreProperties>
</file>