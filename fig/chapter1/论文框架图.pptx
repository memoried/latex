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9144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A799"/>
    <a:srgbClr val="F8F3ED"/>
    <a:srgbClr val="658872"/>
    <a:srgbClr val="ECFFEB"/>
    <a:srgbClr val="D9C2A2"/>
    <a:srgbClr val="AAEBC1"/>
    <a:srgbClr val="FCF0E4"/>
    <a:srgbClr val="4D4D8D"/>
    <a:srgbClr val="D3E8ED"/>
    <a:srgbClr val="7FB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5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122CD-7235-4C74-830E-1A10A953F79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62138" y="1143000"/>
            <a:ext cx="3133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8EE1F-7060-42F8-A743-6C412F3B13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15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36611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1pPr>
    <a:lvl2pPr marL="518305" algn="l" defTabSz="1036611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2pPr>
    <a:lvl3pPr marL="1036611" algn="l" defTabSz="1036611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3pPr>
    <a:lvl4pPr marL="1554914" algn="l" defTabSz="1036611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4pPr>
    <a:lvl5pPr marL="2073219" algn="l" defTabSz="1036611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5pPr>
    <a:lvl6pPr marL="2591524" algn="l" defTabSz="1036611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6pPr>
    <a:lvl7pPr marL="3109829" algn="l" defTabSz="1036611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7pPr>
    <a:lvl8pPr marL="3628135" algn="l" defTabSz="1036611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8pPr>
    <a:lvl9pPr marL="4146438" algn="l" defTabSz="1036611" rtl="0" eaLnBrk="1" latinLnBrk="0" hangingPunct="1">
      <a:defRPr sz="136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72842"/>
            <a:ext cx="7772400" cy="313317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726842"/>
            <a:ext cx="6858000" cy="217280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66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23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43638"/>
            <a:ext cx="7886700" cy="374355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022610"/>
            <a:ext cx="7886700" cy="196864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04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395710"/>
            <a:ext cx="3886200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395710"/>
            <a:ext cx="3886200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654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9144"/>
            <a:ext cx="7886700" cy="1739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06137"/>
            <a:ext cx="3868340" cy="1081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287331"/>
            <a:ext cx="3868340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06137"/>
            <a:ext cx="3887391" cy="1081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287331"/>
            <a:ext cx="3887391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80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14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00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99969"/>
            <a:ext cx="2949178" cy="20998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295769"/>
            <a:ext cx="4629150" cy="63955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699862"/>
            <a:ext cx="2949178" cy="500182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78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99969"/>
            <a:ext cx="2949178" cy="20998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95769"/>
            <a:ext cx="4629150" cy="639550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699862"/>
            <a:ext cx="2949178" cy="500182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2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147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79142"/>
            <a:ext cx="1971675" cy="762669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79142"/>
            <a:ext cx="5800725" cy="762669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05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79144"/>
            <a:ext cx="788670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395710"/>
            <a:ext cx="788670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341240"/>
            <a:ext cx="20574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F388C-B51F-41E4-A743-B6B536218E4C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341240"/>
            <a:ext cx="30861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341240"/>
            <a:ext cx="20574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8461E-7662-42E9-A845-0714C03D7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55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3B7AD538-5BF5-4648-9098-0842273C5781}"/>
              </a:ext>
            </a:extLst>
          </p:cNvPr>
          <p:cNvGrpSpPr/>
          <p:nvPr/>
        </p:nvGrpSpPr>
        <p:grpSpPr>
          <a:xfrm>
            <a:off x="243063" y="156292"/>
            <a:ext cx="8663741" cy="8527528"/>
            <a:chOff x="-1328464" y="114590"/>
            <a:chExt cx="9010657" cy="886899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8089F2E-D711-4F76-A553-A10FDDECF9A3}"/>
                </a:ext>
              </a:extLst>
            </p:cNvPr>
            <p:cNvSpPr/>
            <p:nvPr/>
          </p:nvSpPr>
          <p:spPr>
            <a:xfrm>
              <a:off x="-1313503" y="118068"/>
              <a:ext cx="8994462" cy="1540335"/>
            </a:xfrm>
            <a:prstGeom prst="roundRect">
              <a:avLst>
                <a:gd name="adj" fmla="val 722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54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DA8476A-573B-430B-868D-4C718913C9C8}"/>
                </a:ext>
              </a:extLst>
            </p:cNvPr>
            <p:cNvSpPr txBox="1"/>
            <p:nvPr/>
          </p:nvSpPr>
          <p:spPr>
            <a:xfrm>
              <a:off x="2584804" y="114590"/>
              <a:ext cx="1320749" cy="342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38" dirty="0">
                  <a:latin typeface="宋体" panose="02010600030101010101" pitchFamily="2" charset="-122"/>
                  <a:ea typeface="宋体" panose="02010600030101010101" pitchFamily="2" charset="-122"/>
                </a:rPr>
                <a:t>第一章 绪论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77777E0A-606B-4262-BEC3-D621ED318726}"/>
                </a:ext>
              </a:extLst>
            </p:cNvPr>
            <p:cNvSpPr/>
            <p:nvPr/>
          </p:nvSpPr>
          <p:spPr>
            <a:xfrm>
              <a:off x="-1215248" y="541270"/>
              <a:ext cx="2375410" cy="1044309"/>
            </a:xfrm>
            <a:prstGeom prst="roundRect">
              <a:avLst>
                <a:gd name="adj" fmla="val 722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54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984FD81F-20E0-48E7-9490-1B7BB3E5B421}"/>
                </a:ext>
              </a:extLst>
            </p:cNvPr>
            <p:cNvCxnSpPr>
              <a:cxnSpLocks/>
            </p:cNvCxnSpPr>
            <p:nvPr/>
          </p:nvCxnSpPr>
          <p:spPr>
            <a:xfrm>
              <a:off x="-1257931" y="447582"/>
              <a:ext cx="8832210" cy="5562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81ED880-F62A-4125-87DE-A2D7E7E677A6}"/>
                </a:ext>
              </a:extLst>
            </p:cNvPr>
            <p:cNvSpPr txBox="1"/>
            <p:nvPr/>
          </p:nvSpPr>
          <p:spPr>
            <a:xfrm>
              <a:off x="-960903" y="535709"/>
              <a:ext cx="1627512" cy="342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38" dirty="0">
                  <a:latin typeface="宋体" panose="02010600030101010101" pitchFamily="2" charset="-122"/>
                  <a:ea typeface="宋体" panose="02010600030101010101" pitchFamily="2" charset="-122"/>
                </a:rPr>
                <a:t>研究背景与意义</a:t>
              </a: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C0804A6-D9A2-425C-8EFD-D6B3E3B3B31F}"/>
                </a:ext>
              </a:extLst>
            </p:cNvPr>
            <p:cNvCxnSpPr>
              <a:cxnSpLocks/>
            </p:cNvCxnSpPr>
            <p:nvPr/>
          </p:nvCxnSpPr>
          <p:spPr>
            <a:xfrm>
              <a:off x="-1145947" y="874263"/>
              <a:ext cx="1979516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07769EE-6287-4468-9179-0C57DCDEA71A}"/>
                </a:ext>
              </a:extLst>
            </p:cNvPr>
            <p:cNvSpPr txBox="1"/>
            <p:nvPr/>
          </p:nvSpPr>
          <p:spPr>
            <a:xfrm>
              <a:off x="-1257931" y="868702"/>
              <a:ext cx="2448106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74749" indent="-274749">
                <a:buFont typeface="Arial" panose="020B0604020202020204" pitchFamily="34" charset="0"/>
                <a:buChar char="•"/>
              </a:pP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网络异常流量检测重要性</a:t>
              </a:r>
              <a:endParaRPr lang="en-US" altLang="zh-CN" sz="1346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274749" indent="-274749">
                <a:buFont typeface="Arial" panose="020B0604020202020204" pitchFamily="34" charset="0"/>
                <a:buChar char="•"/>
              </a:pP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长尾分布和多中心流量</a:t>
              </a:r>
              <a:endParaRPr lang="en-US" altLang="zh-CN" sz="1346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274749" indent="-274749">
                <a:buFont typeface="Arial" panose="020B0604020202020204" pitchFamily="34" charset="0"/>
                <a:buChar char="•"/>
              </a:pP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现有方法存在的局限性</a:t>
              </a: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CE280905-004A-4AB7-9137-62811F6D0269}"/>
                </a:ext>
              </a:extLst>
            </p:cNvPr>
            <p:cNvGrpSpPr/>
            <p:nvPr/>
          </p:nvGrpSpPr>
          <p:grpSpPr>
            <a:xfrm>
              <a:off x="1333677" y="530080"/>
              <a:ext cx="2172331" cy="1049870"/>
              <a:chOff x="1143486" y="530148"/>
              <a:chExt cx="2172331" cy="1049870"/>
            </a:xfrm>
          </p:grpSpPr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A34F65A0-B484-43A4-A284-48D4578DBB3B}"/>
                  </a:ext>
                </a:extLst>
              </p:cNvPr>
              <p:cNvSpPr/>
              <p:nvPr/>
            </p:nvSpPr>
            <p:spPr>
              <a:xfrm>
                <a:off x="1186169" y="535709"/>
                <a:ext cx="2129648" cy="1044309"/>
              </a:xfrm>
              <a:prstGeom prst="roundRect">
                <a:avLst>
                  <a:gd name="adj" fmla="val 7229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54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443B2C5-C934-48E3-BE20-6D3F00085C11}"/>
                  </a:ext>
                </a:extLst>
              </p:cNvPr>
              <p:cNvSpPr txBox="1"/>
              <p:nvPr/>
            </p:nvSpPr>
            <p:spPr>
              <a:xfrm>
                <a:off x="1440514" y="530148"/>
                <a:ext cx="1627512" cy="342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538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国内外研究现状</a:t>
                </a:r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9B7BD79-A4C7-4F35-9074-785CCE9E37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5470" y="868702"/>
                <a:ext cx="1979516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88F8AF7-6A6F-44DE-A33D-AE3D72F97E71}"/>
                  </a:ext>
                </a:extLst>
              </p:cNvPr>
              <p:cNvSpPr txBox="1"/>
              <p:nvPr/>
            </p:nvSpPr>
            <p:spPr>
              <a:xfrm>
                <a:off x="1143486" y="863141"/>
                <a:ext cx="208903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74749" indent="-274749">
                  <a:buFont typeface="Arial" panose="020B0604020202020204" pitchFamily="34" charset="0"/>
                  <a:buChar char="•"/>
                </a:pPr>
                <a:r>
                  <a: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基于机器学习的方法</a:t>
                </a:r>
                <a:endPara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74749" indent="-274749">
                  <a:buFont typeface="Arial" panose="020B0604020202020204" pitchFamily="34" charset="0"/>
                  <a:buChar char="•"/>
                </a:pPr>
                <a:r>
                  <a: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基于深度学习的方法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D874394-6A33-4A14-A33E-12E2E80A0343}"/>
                </a:ext>
              </a:extLst>
            </p:cNvPr>
            <p:cNvGrpSpPr/>
            <p:nvPr/>
          </p:nvGrpSpPr>
          <p:grpSpPr>
            <a:xfrm>
              <a:off x="3925286" y="533931"/>
              <a:ext cx="3756907" cy="1066160"/>
              <a:chOff x="1820895" y="1926390"/>
              <a:chExt cx="2330090" cy="106616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B2EC8047-4EDA-4276-9868-D2BB2F16A4C5}"/>
                  </a:ext>
                </a:extLst>
              </p:cNvPr>
              <p:cNvSpPr/>
              <p:nvPr/>
            </p:nvSpPr>
            <p:spPr>
              <a:xfrm>
                <a:off x="1820895" y="1931951"/>
                <a:ext cx="2297810" cy="1044309"/>
              </a:xfrm>
              <a:prstGeom prst="roundRect">
                <a:avLst>
                  <a:gd name="adj" fmla="val 7229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54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DA7FD3A-8136-43F7-82A0-5CD2A9D6DA00}"/>
                  </a:ext>
                </a:extLst>
              </p:cNvPr>
              <p:cNvSpPr txBox="1"/>
              <p:nvPr/>
            </p:nvSpPr>
            <p:spPr>
              <a:xfrm>
                <a:off x="2253836" y="1926390"/>
                <a:ext cx="1263776" cy="342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538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本文主要工作与贡献</a:t>
                </a:r>
              </a:p>
            </p:txBody>
          </p: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7429142F-2936-4220-823A-FE730213A4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0196" y="2264944"/>
                <a:ext cx="1979516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FA3FF1E-4D07-477A-A171-D3E28BE8F543}"/>
                  </a:ext>
                </a:extLst>
              </p:cNvPr>
              <p:cNvSpPr txBox="1"/>
              <p:nvPr/>
            </p:nvSpPr>
            <p:spPr>
              <a:xfrm>
                <a:off x="1853175" y="2253886"/>
                <a:ext cx="2297810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74749" indent="-274749">
                  <a:buFont typeface="Arial" panose="020B0604020202020204" pitchFamily="34" charset="0"/>
                  <a:buChar char="•"/>
                </a:pPr>
                <a:r>
                  <a: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基于多样性加权的无监督超球体检测方法</a:t>
                </a:r>
                <a:endPara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74749" indent="-274749">
                  <a:buFont typeface="Arial" panose="020B0604020202020204" pitchFamily="34" charset="0"/>
                  <a:buChar char="•"/>
                </a:pPr>
                <a:r>
                  <a: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基于多中心聚类的无监督检测方法</a:t>
                </a:r>
                <a:endPara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74749" indent="-274749">
                  <a:buFont typeface="Arial" panose="020B0604020202020204" pitchFamily="34" charset="0"/>
                  <a:buChar char="•"/>
                </a:pPr>
                <a:r>
                  <a:rPr lang="zh-CN" altLang="en-US" sz="1346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设计并实现异常流量检测系统</a:t>
                </a:r>
              </a:p>
            </p:txBody>
          </p:sp>
        </p:grp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D9AD82FB-D184-456A-BD28-AA758C65A8FB}"/>
                </a:ext>
              </a:extLst>
            </p:cNvPr>
            <p:cNvGrpSpPr/>
            <p:nvPr/>
          </p:nvGrpSpPr>
          <p:grpSpPr>
            <a:xfrm>
              <a:off x="-1313504" y="1869525"/>
              <a:ext cx="8994463" cy="1550976"/>
              <a:chOff x="-1313504" y="1869525"/>
              <a:chExt cx="8994463" cy="1550976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33D1860E-1A40-45FE-B577-50870AD0A29B}"/>
                  </a:ext>
                </a:extLst>
              </p:cNvPr>
              <p:cNvSpPr/>
              <p:nvPr/>
            </p:nvSpPr>
            <p:spPr>
              <a:xfrm>
                <a:off x="-1313504" y="1880166"/>
                <a:ext cx="8994463" cy="1540335"/>
              </a:xfrm>
              <a:prstGeom prst="roundRect">
                <a:avLst>
                  <a:gd name="adj" fmla="val 7229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54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C4D4BA0-EE0C-4C72-A003-6D5377DD7EC6}"/>
                  </a:ext>
                </a:extLst>
              </p:cNvPr>
              <p:cNvSpPr txBox="1"/>
              <p:nvPr/>
            </p:nvSpPr>
            <p:spPr>
              <a:xfrm>
                <a:off x="2086068" y="1869525"/>
                <a:ext cx="2346071" cy="342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538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第二章 相关技术与理论</a:t>
                </a:r>
              </a:p>
            </p:txBody>
          </p: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A49981FC-03FF-4C04-B222-E4CDE05961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1257931" y="2208079"/>
                <a:ext cx="8832210" cy="1601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9C230472-DDD5-4303-B9A4-2C8B855C007B}"/>
                  </a:ext>
                </a:extLst>
              </p:cNvPr>
              <p:cNvGrpSpPr/>
              <p:nvPr/>
            </p:nvGrpSpPr>
            <p:grpSpPr>
              <a:xfrm>
                <a:off x="-992491" y="2278908"/>
                <a:ext cx="2172331" cy="1077218"/>
                <a:chOff x="-1257931" y="2292246"/>
                <a:chExt cx="2172331" cy="1077218"/>
              </a:xfrm>
            </p:grpSpPr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4988A03F-8CD0-416A-A43B-99F90CD5A7C7}"/>
                    </a:ext>
                  </a:extLst>
                </p:cNvPr>
                <p:cNvSpPr/>
                <p:nvPr/>
              </p:nvSpPr>
              <p:spPr>
                <a:xfrm>
                  <a:off x="-1215248" y="2303368"/>
                  <a:ext cx="2129648" cy="1044309"/>
                </a:xfrm>
                <a:prstGeom prst="roundRect">
                  <a:avLst>
                    <a:gd name="adj" fmla="val 7229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54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90980BA8-C785-496C-8737-48CF4BC128B0}"/>
                    </a:ext>
                  </a:extLst>
                </p:cNvPr>
                <p:cNvSpPr txBox="1"/>
                <p:nvPr/>
              </p:nvSpPr>
              <p:spPr>
                <a:xfrm>
                  <a:off x="-814237" y="2292246"/>
                  <a:ext cx="1422447" cy="3421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538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网络攻击类型</a:t>
                  </a:r>
                </a:p>
              </p:txBody>
            </p: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422A153B-4AB0-46A0-A3EC-71DF72D781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-1145947" y="2636361"/>
                  <a:ext cx="1979516" cy="0"/>
                </a:xfrm>
                <a:prstGeom prst="line">
                  <a:avLst/>
                </a:prstGeom>
                <a:ln w="952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F9E2FBD-25C0-42D6-85F5-F426942D96E9}"/>
                    </a:ext>
                  </a:extLst>
                </p:cNvPr>
                <p:cNvSpPr txBox="1"/>
                <p:nvPr/>
              </p:nvSpPr>
              <p:spPr>
                <a:xfrm>
                  <a:off x="-1257931" y="2630800"/>
                  <a:ext cx="15504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74749" indent="-274749">
                    <a:buFont typeface="Arial" panose="020B0604020202020204" pitchFamily="34" charset="0"/>
                    <a:buChar char="•"/>
                  </a:pPr>
                  <a:r>
                    <a: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拒绝服务</a:t>
                  </a:r>
                  <a:r>
                    <a: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DOS</a:t>
                  </a:r>
                </a:p>
                <a:p>
                  <a:pPr marL="274749" indent="-274749">
                    <a:buFont typeface="Arial" panose="020B0604020202020204" pitchFamily="34" charset="0"/>
                    <a:buChar char="•"/>
                  </a:pPr>
                  <a:r>
                    <a: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Web</a:t>
                  </a:r>
                  <a:r>
                    <a: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攻击</a:t>
                  </a:r>
                  <a:endPara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marL="274749" indent="-274749">
                    <a:buFont typeface="Arial" panose="020B0604020202020204" pitchFamily="34" charset="0"/>
                    <a:buChar char="•"/>
                  </a:pPr>
                  <a:r>
                    <a: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远程访问攻击</a:t>
                  </a: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5854FD14-A2CA-4429-9DBF-09C5AE716AC1}"/>
                  </a:ext>
                </a:extLst>
              </p:cNvPr>
              <p:cNvGrpSpPr/>
              <p:nvPr/>
            </p:nvGrpSpPr>
            <p:grpSpPr>
              <a:xfrm>
                <a:off x="4225751" y="2270273"/>
                <a:ext cx="3439890" cy="1049870"/>
                <a:chOff x="1144226" y="2292246"/>
                <a:chExt cx="2623203" cy="1049870"/>
              </a:xfrm>
            </p:grpSpPr>
            <p:sp>
              <p:nvSpPr>
                <p:cNvPr id="47" name="矩形: 圆角 46">
                  <a:extLst>
                    <a:ext uri="{FF2B5EF4-FFF2-40B4-BE49-F238E27FC236}">
                      <a16:creationId xmlns:a16="http://schemas.microsoft.com/office/drawing/2014/main" id="{FE8D5384-2414-42FE-BDE4-DFE60209412B}"/>
                    </a:ext>
                  </a:extLst>
                </p:cNvPr>
                <p:cNvSpPr/>
                <p:nvPr/>
              </p:nvSpPr>
              <p:spPr>
                <a:xfrm>
                  <a:off x="1160754" y="2297807"/>
                  <a:ext cx="2537004" cy="1044309"/>
                </a:xfrm>
                <a:prstGeom prst="roundRect">
                  <a:avLst>
                    <a:gd name="adj" fmla="val 7229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54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F0678E1A-6C39-47BE-9778-F6E0B04B19C8}"/>
                    </a:ext>
                  </a:extLst>
                </p:cNvPr>
                <p:cNvSpPr txBox="1"/>
                <p:nvPr/>
              </p:nvSpPr>
              <p:spPr>
                <a:xfrm>
                  <a:off x="1630436" y="2292246"/>
                  <a:ext cx="1241114" cy="3421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538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无监督检测方法</a:t>
                  </a:r>
                </a:p>
              </p:txBody>
            </p: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E4204288-167A-4FDA-A3FE-5F383BC381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5470" y="2630800"/>
                  <a:ext cx="1979516" cy="0"/>
                </a:xfrm>
                <a:prstGeom prst="line">
                  <a:avLst/>
                </a:prstGeom>
                <a:ln w="952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3A41F0FA-52E5-43D1-AB41-7437C4E939F7}"/>
                    </a:ext>
                  </a:extLst>
                </p:cNvPr>
                <p:cNvSpPr txBox="1"/>
                <p:nvPr/>
              </p:nvSpPr>
              <p:spPr>
                <a:xfrm>
                  <a:off x="1144226" y="2621730"/>
                  <a:ext cx="1386184" cy="526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74749" indent="-274749">
                    <a:buFont typeface="Arial" panose="020B0604020202020204" pitchFamily="34" charset="0"/>
                    <a:buChar char="•"/>
                  </a:pPr>
                  <a:r>
                    <a: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基于聚类的方法</a:t>
                  </a:r>
                  <a:endPara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marL="274749" indent="-274749">
                    <a:buFont typeface="Arial" panose="020B0604020202020204" pitchFamily="34" charset="0"/>
                    <a:buChar char="•"/>
                  </a:pPr>
                  <a:r>
                    <a: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基于边界的方法</a:t>
                  </a:r>
                  <a:endPara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9DE3E978-9938-491A-8EE2-6CFD5F6B3888}"/>
                    </a:ext>
                  </a:extLst>
                </p:cNvPr>
                <p:cNvSpPr txBox="1"/>
                <p:nvPr/>
              </p:nvSpPr>
              <p:spPr>
                <a:xfrm>
                  <a:off x="2367419" y="2621730"/>
                  <a:ext cx="1400010" cy="526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74749" indent="-274749">
                    <a:buFont typeface="Arial" panose="020B0604020202020204" pitchFamily="34" charset="0"/>
                    <a:buChar char="•"/>
                  </a:pPr>
                  <a:r>
                    <a: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基于距离的方法</a:t>
                  </a:r>
                  <a:endPara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marL="274749" indent="-274749">
                    <a:buFont typeface="Arial" panose="020B0604020202020204" pitchFamily="34" charset="0"/>
                    <a:buChar char="•"/>
                  </a:pPr>
                  <a:r>
                    <a: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基于重构的方法</a:t>
                  </a:r>
                  <a:endPara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27EBCFB9-CEBD-4A5A-A55A-C7F4416BCA1D}"/>
                  </a:ext>
                </a:extLst>
              </p:cNvPr>
              <p:cNvGrpSpPr/>
              <p:nvPr/>
            </p:nvGrpSpPr>
            <p:grpSpPr>
              <a:xfrm>
                <a:off x="1694793" y="2286685"/>
                <a:ext cx="2172331" cy="1055431"/>
                <a:chOff x="-1257931" y="2292246"/>
                <a:chExt cx="2172331" cy="1055431"/>
              </a:xfrm>
            </p:grpSpPr>
            <p:sp>
              <p:nvSpPr>
                <p:cNvPr id="57" name="矩形: 圆角 56">
                  <a:extLst>
                    <a:ext uri="{FF2B5EF4-FFF2-40B4-BE49-F238E27FC236}">
                      <a16:creationId xmlns:a16="http://schemas.microsoft.com/office/drawing/2014/main" id="{1F9A58F1-0661-4B05-9118-2AC32EB09AFB}"/>
                    </a:ext>
                  </a:extLst>
                </p:cNvPr>
                <p:cNvSpPr/>
                <p:nvPr/>
              </p:nvSpPr>
              <p:spPr>
                <a:xfrm>
                  <a:off x="-1215248" y="2303368"/>
                  <a:ext cx="2129648" cy="1044309"/>
                </a:xfrm>
                <a:prstGeom prst="roundRect">
                  <a:avLst>
                    <a:gd name="adj" fmla="val 7229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154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57A7D381-52DE-494F-8DA9-36B8AC5C348A}"/>
                    </a:ext>
                  </a:extLst>
                </p:cNvPr>
                <p:cNvSpPr txBox="1"/>
                <p:nvPr/>
              </p:nvSpPr>
              <p:spPr>
                <a:xfrm>
                  <a:off x="-814237" y="2292246"/>
                  <a:ext cx="1422447" cy="3421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538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原始网络流量</a:t>
                  </a:r>
                </a:p>
              </p:txBody>
            </p:sp>
            <p:cxnSp>
              <p:nvCxnSpPr>
                <p:cNvPr id="59" name="直接连接符 58">
                  <a:extLst>
                    <a:ext uri="{FF2B5EF4-FFF2-40B4-BE49-F238E27FC236}">
                      <a16:creationId xmlns:a16="http://schemas.microsoft.com/office/drawing/2014/main" id="{BF9D3FCD-694A-4613-A822-16B6BE50F9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-1145947" y="2636361"/>
                  <a:ext cx="1979516" cy="0"/>
                </a:xfrm>
                <a:prstGeom prst="line">
                  <a:avLst/>
                </a:prstGeom>
                <a:ln w="952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EA90CBCA-5DCC-4E95-80FA-BA6A652C8446}"/>
                    </a:ext>
                  </a:extLst>
                </p:cNvPr>
                <p:cNvSpPr txBox="1"/>
                <p:nvPr/>
              </p:nvSpPr>
              <p:spPr>
                <a:xfrm>
                  <a:off x="-1257931" y="2630800"/>
                  <a:ext cx="128112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74749" indent="-274749">
                    <a:buFont typeface="Arial" panose="020B0604020202020204" pitchFamily="34" charset="0"/>
                    <a:buChar char="•"/>
                  </a:pPr>
                  <a:r>
                    <a: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PCAP</a:t>
                  </a:r>
                  <a:r>
                    <a: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包</a:t>
                  </a:r>
                  <a:endPara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marL="274749" indent="-274749">
                    <a:buFont typeface="Arial" panose="020B0604020202020204" pitchFamily="34" charset="0"/>
                    <a:buChar char="•"/>
                  </a:pPr>
                  <a:r>
                    <a:rPr lang="en-US" altLang="zh-CN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NetFlow</a:t>
                  </a:r>
                  <a:r>
                    <a:rPr lang="zh-CN" altLang="en-US" sz="1346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流</a:t>
                  </a:r>
                  <a:endParaRPr lang="en-US" altLang="zh-CN" sz="1346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259E7B7A-2865-46E8-9CED-23BA55429A80}"/>
                </a:ext>
              </a:extLst>
            </p:cNvPr>
            <p:cNvSpPr/>
            <p:nvPr/>
          </p:nvSpPr>
          <p:spPr>
            <a:xfrm>
              <a:off x="-1328464" y="3599002"/>
              <a:ext cx="3135241" cy="3662858"/>
            </a:xfrm>
            <a:prstGeom prst="roundRect">
              <a:avLst>
                <a:gd name="adj" fmla="val 272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54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AD5C642-C181-42BC-A27E-C45951E49832}"/>
                </a:ext>
              </a:extLst>
            </p:cNvPr>
            <p:cNvSpPr txBox="1"/>
            <p:nvPr/>
          </p:nvSpPr>
          <p:spPr>
            <a:xfrm>
              <a:off x="-1215248" y="3687357"/>
              <a:ext cx="27266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38" dirty="0">
                  <a:latin typeface="宋体" panose="02010600030101010101" pitchFamily="2" charset="-122"/>
                  <a:ea typeface="宋体" panose="02010600030101010101" pitchFamily="2" charset="-122"/>
                </a:rPr>
                <a:t>第三章 基于多样性加权的无监督超球体检测方法</a:t>
              </a: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0D773F77-F7CE-443C-BF6D-0079DA545E34}"/>
                </a:ext>
              </a:extLst>
            </p:cNvPr>
            <p:cNvCxnSpPr>
              <a:cxnSpLocks/>
            </p:cNvCxnSpPr>
            <p:nvPr/>
          </p:nvCxnSpPr>
          <p:spPr>
            <a:xfrm>
              <a:off x="-1257931" y="4292812"/>
              <a:ext cx="298269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836C0202-7929-4727-A3EA-CB8E03512A3B}"/>
                </a:ext>
              </a:extLst>
            </p:cNvPr>
            <p:cNvSpPr/>
            <p:nvPr/>
          </p:nvSpPr>
          <p:spPr>
            <a:xfrm>
              <a:off x="-404172" y="4337890"/>
              <a:ext cx="1080923" cy="29491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zh-CN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数据流量</a:t>
              </a:r>
              <a:endParaRPr lang="zh-CN" altLang="zh-CN" sz="1010" dirty="0"/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16D78D8B-E4B6-49B9-9E2C-FEA1C49B6AA4}"/>
                </a:ext>
              </a:extLst>
            </p:cNvPr>
            <p:cNvSpPr/>
            <p:nvPr/>
          </p:nvSpPr>
          <p:spPr>
            <a:xfrm>
              <a:off x="-404173" y="4836807"/>
              <a:ext cx="1080923" cy="2996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小波分块</a:t>
              </a:r>
              <a:endParaRPr lang="zh-CN" altLang="zh-CN" sz="1010" dirty="0"/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906B8A33-0388-4827-AD2D-D6BF11DD5D6A}"/>
                </a:ext>
              </a:extLst>
            </p:cNvPr>
            <p:cNvSpPr/>
            <p:nvPr/>
          </p:nvSpPr>
          <p:spPr>
            <a:xfrm>
              <a:off x="-762097" y="5338102"/>
              <a:ext cx="1785282" cy="31371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Anomaly Attention</a:t>
              </a:r>
              <a:endParaRPr lang="zh-CN" altLang="zh-CN" sz="1010" dirty="0"/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AC3D7B37-04AD-481F-A5E1-C787159BEFB9}"/>
                </a:ext>
              </a:extLst>
            </p:cNvPr>
            <p:cNvSpPr/>
            <p:nvPr/>
          </p:nvSpPr>
          <p:spPr>
            <a:xfrm>
              <a:off x="-1260247" y="5846568"/>
              <a:ext cx="1298347" cy="2996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特征中心更新</a:t>
              </a:r>
              <a:endParaRPr lang="zh-CN" altLang="zh-CN" sz="1010" dirty="0"/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B2FC640B-D547-4CAF-9D62-BE0A43B08553}"/>
                </a:ext>
              </a:extLst>
            </p:cNvPr>
            <p:cNvSpPr/>
            <p:nvPr/>
          </p:nvSpPr>
          <p:spPr>
            <a:xfrm>
              <a:off x="441960" y="5841736"/>
              <a:ext cx="1282799" cy="2996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多样性评估</a:t>
              </a:r>
              <a:endParaRPr lang="en-US" altLang="zh-CN" sz="1346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C3171658-DE16-443E-ABAF-10B446993348}"/>
                </a:ext>
              </a:extLst>
            </p:cNvPr>
            <p:cNvSpPr/>
            <p:nvPr/>
          </p:nvSpPr>
          <p:spPr>
            <a:xfrm>
              <a:off x="-392516" y="6357111"/>
              <a:ext cx="1126414" cy="2996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损失与权重</a:t>
              </a:r>
              <a:endParaRPr lang="zh-CN" altLang="zh-CN" sz="1010" dirty="0"/>
            </a:p>
          </p:txBody>
        </p:sp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DDDDCE9C-2004-4178-875F-C5BDED26F6C3}"/>
                </a:ext>
              </a:extLst>
            </p:cNvPr>
            <p:cNvSpPr/>
            <p:nvPr/>
          </p:nvSpPr>
          <p:spPr>
            <a:xfrm>
              <a:off x="-386202" y="6825157"/>
              <a:ext cx="1110914" cy="2996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异常分类</a:t>
              </a:r>
              <a:endParaRPr lang="zh-CN" altLang="zh-CN" sz="1010" dirty="0"/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D369B0A9-391E-4856-A862-3BD8E3D29731}"/>
                </a:ext>
              </a:extLst>
            </p:cNvPr>
            <p:cNvCxnSpPr>
              <a:stCxn id="67" idx="2"/>
              <a:endCxn id="68" idx="0"/>
            </p:cNvCxnSpPr>
            <p:nvPr/>
          </p:nvCxnSpPr>
          <p:spPr>
            <a:xfrm flipH="1">
              <a:off x="136289" y="4632804"/>
              <a:ext cx="1" cy="2040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F30789AE-254D-4440-8649-B51FB41B9E3F}"/>
                </a:ext>
              </a:extLst>
            </p:cNvPr>
            <p:cNvCxnSpPr>
              <a:cxnSpLocks/>
              <a:stCxn id="68" idx="2"/>
              <a:endCxn id="69" idx="0"/>
            </p:cNvCxnSpPr>
            <p:nvPr/>
          </p:nvCxnSpPr>
          <p:spPr>
            <a:xfrm flipH="1">
              <a:off x="130544" y="5136438"/>
              <a:ext cx="5745" cy="2016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B945B57D-F35E-4671-8192-DB55DCD8A9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611074" y="5645943"/>
              <a:ext cx="5745" cy="2016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7604E10B-F9A7-44FC-9193-6177DAC88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8494" y="5645943"/>
              <a:ext cx="5745" cy="2016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连接符: 肘形 86">
              <a:extLst>
                <a:ext uri="{FF2B5EF4-FFF2-40B4-BE49-F238E27FC236}">
                  <a16:creationId xmlns:a16="http://schemas.microsoft.com/office/drawing/2014/main" id="{F025CE00-8969-43FC-AD84-488E17F525C5}"/>
                </a:ext>
              </a:extLst>
            </p:cNvPr>
            <p:cNvCxnSpPr>
              <a:cxnSpLocks/>
              <a:stCxn id="71" idx="2"/>
              <a:endCxn id="77" idx="0"/>
            </p:cNvCxnSpPr>
            <p:nvPr/>
          </p:nvCxnSpPr>
          <p:spPr>
            <a:xfrm rot="16200000" flipH="1">
              <a:off x="-325648" y="5860773"/>
              <a:ext cx="210912" cy="78176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连接符: 肘形 87">
              <a:extLst>
                <a:ext uri="{FF2B5EF4-FFF2-40B4-BE49-F238E27FC236}">
                  <a16:creationId xmlns:a16="http://schemas.microsoft.com/office/drawing/2014/main" id="{D8C76584-58DC-4CAD-9CDD-1939233E32D0}"/>
                </a:ext>
              </a:extLst>
            </p:cNvPr>
            <p:cNvCxnSpPr>
              <a:cxnSpLocks/>
              <a:stCxn id="72" idx="2"/>
              <a:endCxn id="77" idx="0"/>
            </p:cNvCxnSpPr>
            <p:nvPr/>
          </p:nvCxnSpPr>
          <p:spPr>
            <a:xfrm rot="5400000">
              <a:off x="519153" y="5792905"/>
              <a:ext cx="215744" cy="91266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9FA158AD-1A7D-4CB2-BC74-3589079B7113}"/>
                </a:ext>
              </a:extLst>
            </p:cNvPr>
            <p:cNvCxnSpPr>
              <a:cxnSpLocks/>
              <a:stCxn id="77" idx="2"/>
            </p:cNvCxnSpPr>
            <p:nvPr/>
          </p:nvCxnSpPr>
          <p:spPr>
            <a:xfrm flipH="1">
              <a:off x="161026" y="6656742"/>
              <a:ext cx="9664" cy="1684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C0D16830-A530-4DDC-B8ED-162AA185B858}"/>
                </a:ext>
              </a:extLst>
            </p:cNvPr>
            <p:cNvGrpSpPr/>
            <p:nvPr/>
          </p:nvGrpSpPr>
          <p:grpSpPr>
            <a:xfrm>
              <a:off x="1907914" y="3599002"/>
              <a:ext cx="2924513" cy="3662858"/>
              <a:chOff x="2028487" y="3608984"/>
              <a:chExt cx="2924513" cy="3662858"/>
            </a:xfrm>
          </p:grpSpPr>
          <p:sp>
            <p:nvSpPr>
              <p:cNvPr id="96" name="矩形: 圆角 95">
                <a:extLst>
                  <a:ext uri="{FF2B5EF4-FFF2-40B4-BE49-F238E27FC236}">
                    <a16:creationId xmlns:a16="http://schemas.microsoft.com/office/drawing/2014/main" id="{3C4B156E-B902-4522-86C7-5164751CE45C}"/>
                  </a:ext>
                </a:extLst>
              </p:cNvPr>
              <p:cNvSpPr/>
              <p:nvPr/>
            </p:nvSpPr>
            <p:spPr>
              <a:xfrm>
                <a:off x="2064951" y="3608984"/>
                <a:ext cx="2888049" cy="3662858"/>
              </a:xfrm>
              <a:prstGeom prst="roundRect">
                <a:avLst>
                  <a:gd name="adj" fmla="val 3909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54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CA8BE84B-CBD3-47B2-B102-E8CEFF551AD7}"/>
                  </a:ext>
                </a:extLst>
              </p:cNvPr>
              <p:cNvSpPr txBox="1"/>
              <p:nvPr/>
            </p:nvSpPr>
            <p:spPr>
              <a:xfrm>
                <a:off x="2028487" y="3697339"/>
                <a:ext cx="27266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538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第四章 基于多中心聚类的无监督检测方法</a:t>
                </a:r>
              </a:p>
            </p:txBody>
          </p:sp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CD076A62-8CC2-4AAA-A779-BFB44D8BF6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8488" y="4292812"/>
                <a:ext cx="2728124" cy="15322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9" name="矩形: 圆角 98">
                <a:extLst>
                  <a:ext uri="{FF2B5EF4-FFF2-40B4-BE49-F238E27FC236}">
                    <a16:creationId xmlns:a16="http://schemas.microsoft.com/office/drawing/2014/main" id="{8CB77E3E-A773-46FB-AFFE-88BB15CCCC2C}"/>
                  </a:ext>
                </a:extLst>
              </p:cNvPr>
              <p:cNvSpPr/>
              <p:nvPr/>
            </p:nvSpPr>
            <p:spPr>
              <a:xfrm>
                <a:off x="2953863" y="4347872"/>
                <a:ext cx="1080923" cy="29491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zh-CN" sz="1346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数据流量</a:t>
                </a:r>
                <a:endParaRPr lang="zh-CN" altLang="zh-CN" sz="1010" dirty="0"/>
              </a:p>
            </p:txBody>
          </p:sp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1737B92D-3C52-49B8-972D-7D9E0414C70B}"/>
                  </a:ext>
                </a:extLst>
              </p:cNvPr>
              <p:cNvSpPr/>
              <p:nvPr/>
            </p:nvSpPr>
            <p:spPr>
              <a:xfrm>
                <a:off x="2525482" y="4996604"/>
                <a:ext cx="1934085" cy="31371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346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MaskTST</a:t>
                </a:r>
                <a:r>
                  <a:rPr lang="zh-CN" altLang="en-US" sz="1346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编码重构数据</a:t>
                </a:r>
                <a:endParaRPr lang="zh-CN" altLang="zh-CN" sz="1010" dirty="0"/>
              </a:p>
            </p:txBody>
          </p:sp>
          <p:sp>
            <p:nvSpPr>
              <p:cNvPr id="102" name="矩形: 圆角 101">
                <a:extLst>
                  <a:ext uri="{FF2B5EF4-FFF2-40B4-BE49-F238E27FC236}">
                    <a16:creationId xmlns:a16="http://schemas.microsoft.com/office/drawing/2014/main" id="{616ACDFD-C5ED-42B7-8A5D-91E18CD0020C}"/>
                  </a:ext>
                </a:extLst>
              </p:cNvPr>
              <p:cNvSpPr/>
              <p:nvPr/>
            </p:nvSpPr>
            <p:spPr>
              <a:xfrm>
                <a:off x="2139024" y="5696814"/>
                <a:ext cx="1328452" cy="2996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346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特征中心更新</a:t>
                </a:r>
                <a:endParaRPr lang="zh-CN" altLang="zh-CN" sz="1010" dirty="0"/>
              </a:p>
            </p:txBody>
          </p:sp>
          <p:sp>
            <p:nvSpPr>
              <p:cNvPr id="103" name="矩形: 圆角 102">
                <a:extLst>
                  <a:ext uri="{FF2B5EF4-FFF2-40B4-BE49-F238E27FC236}">
                    <a16:creationId xmlns:a16="http://schemas.microsoft.com/office/drawing/2014/main" id="{869B4D01-9F7D-41B6-9A6D-D03EDEBD02CC}"/>
                  </a:ext>
                </a:extLst>
              </p:cNvPr>
              <p:cNvSpPr/>
              <p:nvPr/>
            </p:nvSpPr>
            <p:spPr>
              <a:xfrm>
                <a:off x="3587499" y="5699564"/>
                <a:ext cx="1307833" cy="2996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346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距离向量权重</a:t>
                </a:r>
                <a:endParaRPr lang="en-US" altLang="zh-CN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95B06566-44CB-4DC0-B557-498E32A7DEC3}"/>
                  </a:ext>
                </a:extLst>
              </p:cNvPr>
              <p:cNvSpPr/>
              <p:nvPr/>
            </p:nvSpPr>
            <p:spPr>
              <a:xfrm>
                <a:off x="2965519" y="6367093"/>
                <a:ext cx="1200144" cy="2996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346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损失与权重</a:t>
                </a:r>
                <a:endParaRPr lang="zh-CN" altLang="zh-CN" sz="1010" dirty="0"/>
              </a:p>
            </p:txBody>
          </p:sp>
          <p:sp>
            <p:nvSpPr>
              <p:cNvPr id="105" name="矩形: 圆角 104">
                <a:extLst>
                  <a:ext uri="{FF2B5EF4-FFF2-40B4-BE49-F238E27FC236}">
                    <a16:creationId xmlns:a16="http://schemas.microsoft.com/office/drawing/2014/main" id="{480AC361-79AD-460A-BF77-6738C5225A77}"/>
                  </a:ext>
                </a:extLst>
              </p:cNvPr>
              <p:cNvSpPr/>
              <p:nvPr/>
            </p:nvSpPr>
            <p:spPr>
              <a:xfrm>
                <a:off x="3019077" y="6835139"/>
                <a:ext cx="1110914" cy="2996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346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异常分类</a:t>
                </a:r>
                <a:endParaRPr lang="zh-CN" altLang="zh-CN" sz="1010" dirty="0"/>
              </a:p>
            </p:txBody>
          </p:sp>
          <p:cxnSp>
            <p:nvCxnSpPr>
              <p:cNvPr id="107" name="直接箭头连接符 106">
                <a:extLst>
                  <a:ext uri="{FF2B5EF4-FFF2-40B4-BE49-F238E27FC236}">
                    <a16:creationId xmlns:a16="http://schemas.microsoft.com/office/drawing/2014/main" id="{E4471B94-FA58-4AE3-97F2-C3BA4B6689A6}"/>
                  </a:ext>
                </a:extLst>
              </p:cNvPr>
              <p:cNvCxnSpPr>
                <a:cxnSpLocks/>
                <a:stCxn id="99" idx="2"/>
                <a:endCxn id="101" idx="0"/>
              </p:cNvCxnSpPr>
              <p:nvPr/>
            </p:nvCxnSpPr>
            <p:spPr>
              <a:xfrm flipH="1">
                <a:off x="3492525" y="4642786"/>
                <a:ext cx="1800" cy="3538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连接符: 肘形 109">
                <a:extLst>
                  <a:ext uri="{FF2B5EF4-FFF2-40B4-BE49-F238E27FC236}">
                    <a16:creationId xmlns:a16="http://schemas.microsoft.com/office/drawing/2014/main" id="{979BB925-8D49-48A8-8A75-17F730C4CCF1}"/>
                  </a:ext>
                </a:extLst>
              </p:cNvPr>
              <p:cNvCxnSpPr>
                <a:cxnSpLocks/>
                <a:stCxn id="102" idx="2"/>
                <a:endCxn id="104" idx="0"/>
              </p:cNvCxnSpPr>
              <p:nvPr/>
            </p:nvCxnSpPr>
            <p:spPr>
              <a:xfrm rot="16200000" flipH="1">
                <a:off x="2999096" y="5800597"/>
                <a:ext cx="370648" cy="762342"/>
              </a:xfrm>
              <a:prstGeom prst="bentConnector3">
                <a:avLst>
                  <a:gd name="adj1" fmla="val 5213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连接符: 肘形 110">
                <a:extLst>
                  <a:ext uri="{FF2B5EF4-FFF2-40B4-BE49-F238E27FC236}">
                    <a16:creationId xmlns:a16="http://schemas.microsoft.com/office/drawing/2014/main" id="{11AB1783-9E07-4DE2-A673-496DCF92E5BF}"/>
                  </a:ext>
                </a:extLst>
              </p:cNvPr>
              <p:cNvCxnSpPr>
                <a:cxnSpLocks/>
                <a:stCxn id="103" idx="2"/>
                <a:endCxn id="104" idx="0"/>
              </p:cNvCxnSpPr>
              <p:nvPr/>
            </p:nvCxnSpPr>
            <p:spPr>
              <a:xfrm rot="5400000">
                <a:off x="3719555" y="5845232"/>
                <a:ext cx="367897" cy="675824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>
                <a:extLst>
                  <a:ext uri="{FF2B5EF4-FFF2-40B4-BE49-F238E27FC236}">
                    <a16:creationId xmlns:a16="http://schemas.microsoft.com/office/drawing/2014/main" id="{5EAF97E6-3538-4A9C-AEE7-DD54EBFE6D8C}"/>
                  </a:ext>
                </a:extLst>
              </p:cNvPr>
              <p:cNvCxnSpPr>
                <a:cxnSpLocks/>
                <a:stCxn id="104" idx="2"/>
                <a:endCxn id="105" idx="0"/>
              </p:cNvCxnSpPr>
              <p:nvPr/>
            </p:nvCxnSpPr>
            <p:spPr>
              <a:xfrm>
                <a:off x="3565592" y="6666724"/>
                <a:ext cx="8943" cy="1684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连接符: 肘形 123">
                <a:extLst>
                  <a:ext uri="{FF2B5EF4-FFF2-40B4-BE49-F238E27FC236}">
                    <a16:creationId xmlns:a16="http://schemas.microsoft.com/office/drawing/2014/main" id="{88512453-91EA-4068-A1F1-CEAE99FC20D2}"/>
                  </a:ext>
                </a:extLst>
              </p:cNvPr>
              <p:cNvCxnSpPr>
                <a:cxnSpLocks/>
                <a:stCxn id="101" idx="2"/>
                <a:endCxn id="102" idx="0"/>
              </p:cNvCxnSpPr>
              <p:nvPr/>
            </p:nvCxnSpPr>
            <p:spPr>
              <a:xfrm rot="5400000">
                <a:off x="2954639" y="5158928"/>
                <a:ext cx="386498" cy="689275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连接符: 肘形 126">
                <a:extLst>
                  <a:ext uri="{FF2B5EF4-FFF2-40B4-BE49-F238E27FC236}">
                    <a16:creationId xmlns:a16="http://schemas.microsoft.com/office/drawing/2014/main" id="{0C1294A7-09DB-49B5-8321-E56F60E82976}"/>
                  </a:ext>
                </a:extLst>
              </p:cNvPr>
              <p:cNvCxnSpPr>
                <a:cxnSpLocks/>
                <a:stCxn id="101" idx="2"/>
                <a:endCxn id="103" idx="0"/>
              </p:cNvCxnSpPr>
              <p:nvPr/>
            </p:nvCxnSpPr>
            <p:spPr>
              <a:xfrm rot="16200000" flipH="1">
                <a:off x="3672346" y="5130494"/>
                <a:ext cx="389249" cy="748891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0FE52E42-95D3-4031-B9B6-CAE782158190}"/>
                </a:ext>
              </a:extLst>
            </p:cNvPr>
            <p:cNvSpPr/>
            <p:nvPr/>
          </p:nvSpPr>
          <p:spPr>
            <a:xfrm>
              <a:off x="4931135" y="3599002"/>
              <a:ext cx="2749823" cy="3662858"/>
            </a:xfrm>
            <a:prstGeom prst="roundRect">
              <a:avLst>
                <a:gd name="adj" fmla="val 390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54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5592EC94-4DBE-4389-A646-99978C055434}"/>
                </a:ext>
              </a:extLst>
            </p:cNvPr>
            <p:cNvSpPr txBox="1"/>
            <p:nvPr/>
          </p:nvSpPr>
          <p:spPr>
            <a:xfrm>
              <a:off x="5028026" y="3687357"/>
              <a:ext cx="23334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38" dirty="0">
                  <a:latin typeface="宋体" panose="02010600030101010101" pitchFamily="2" charset="-122"/>
                  <a:ea typeface="宋体" panose="02010600030101010101" pitchFamily="2" charset="-122"/>
                </a:rPr>
                <a:t>第五章 设计并实现异常流量检测系统</a:t>
              </a:r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9EF481F8-5FE8-4D8D-A844-013D2C559A54}"/>
                </a:ext>
              </a:extLst>
            </p:cNvPr>
            <p:cNvCxnSpPr>
              <a:cxnSpLocks/>
            </p:cNvCxnSpPr>
            <p:nvPr/>
          </p:nvCxnSpPr>
          <p:spPr>
            <a:xfrm>
              <a:off x="4991497" y="4292812"/>
              <a:ext cx="2650418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7" name="矩形: 圆角 136">
              <a:extLst>
                <a:ext uri="{FF2B5EF4-FFF2-40B4-BE49-F238E27FC236}">
                  <a16:creationId xmlns:a16="http://schemas.microsoft.com/office/drawing/2014/main" id="{02FCF5B4-E8E5-4E97-B1E3-221BE6108030}"/>
                </a:ext>
              </a:extLst>
            </p:cNvPr>
            <p:cNvSpPr/>
            <p:nvPr/>
          </p:nvSpPr>
          <p:spPr>
            <a:xfrm>
              <a:off x="5272466" y="4408335"/>
              <a:ext cx="925059" cy="29491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应用层</a:t>
              </a:r>
              <a:endParaRPr lang="zh-CN" altLang="zh-CN" sz="1010" dirty="0"/>
            </a:p>
          </p:txBody>
        </p: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C1C16C2F-22ED-40B4-BE46-C29FDC98435E}"/>
                </a:ext>
              </a:extLst>
            </p:cNvPr>
            <p:cNvSpPr/>
            <p:nvPr/>
          </p:nvSpPr>
          <p:spPr>
            <a:xfrm>
              <a:off x="5270235" y="4904667"/>
              <a:ext cx="925059" cy="31371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业务层</a:t>
              </a:r>
              <a:endParaRPr lang="zh-CN" altLang="zh-CN" sz="1010" dirty="0"/>
            </a:p>
          </p:txBody>
        </p:sp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997B265C-F389-4A2E-A5E4-113E18A823C0}"/>
                </a:ext>
              </a:extLst>
            </p:cNvPr>
            <p:cNvSpPr/>
            <p:nvPr/>
          </p:nvSpPr>
          <p:spPr>
            <a:xfrm>
              <a:off x="5096812" y="5447144"/>
              <a:ext cx="1270734" cy="2996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分析检测层</a:t>
              </a:r>
              <a:endParaRPr lang="zh-CN" altLang="zh-CN" sz="1010" dirty="0"/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0AE0762C-448B-477C-BCD5-60B6893BA8E5}"/>
                </a:ext>
              </a:extLst>
            </p:cNvPr>
            <p:cNvSpPr/>
            <p:nvPr/>
          </p:nvSpPr>
          <p:spPr>
            <a:xfrm>
              <a:off x="5256816" y="6021557"/>
              <a:ext cx="950725" cy="2996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数据层</a:t>
              </a:r>
              <a:endParaRPr lang="zh-CN" altLang="zh-CN" sz="1010" dirty="0"/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330EA661-27F6-44D7-AF4B-BFC983EA0C70}"/>
                </a:ext>
              </a:extLst>
            </p:cNvPr>
            <p:cNvSpPr/>
            <p:nvPr/>
          </p:nvSpPr>
          <p:spPr>
            <a:xfrm>
              <a:off x="5244569" y="6521047"/>
              <a:ext cx="950725" cy="29963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数据库</a:t>
              </a:r>
              <a:endParaRPr lang="zh-CN" altLang="zh-CN" sz="1010" dirty="0"/>
            </a:p>
          </p:txBody>
        </p: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CD45207D-AA68-4916-B311-24336E552C8B}"/>
                </a:ext>
              </a:extLst>
            </p:cNvPr>
            <p:cNvCxnSpPr>
              <a:cxnSpLocks/>
              <a:stCxn id="137" idx="2"/>
              <a:endCxn id="138" idx="0"/>
            </p:cNvCxnSpPr>
            <p:nvPr/>
          </p:nvCxnSpPr>
          <p:spPr>
            <a:xfrm flipH="1">
              <a:off x="5732765" y="4703249"/>
              <a:ext cx="2231" cy="2014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1E031BAF-22FD-4915-B315-131F7BD26AA8}"/>
                </a:ext>
              </a:extLst>
            </p:cNvPr>
            <p:cNvCxnSpPr>
              <a:cxnSpLocks/>
              <a:stCxn id="141" idx="2"/>
              <a:endCxn id="142" idx="0"/>
            </p:cNvCxnSpPr>
            <p:nvPr/>
          </p:nvCxnSpPr>
          <p:spPr>
            <a:xfrm flipH="1">
              <a:off x="5719932" y="6321188"/>
              <a:ext cx="12247" cy="19985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连接符: 肘形 146">
              <a:extLst>
                <a:ext uri="{FF2B5EF4-FFF2-40B4-BE49-F238E27FC236}">
                  <a16:creationId xmlns:a16="http://schemas.microsoft.com/office/drawing/2014/main" id="{0BF38B6A-FB5E-4E2B-8673-EC80D778A24A}"/>
                </a:ext>
              </a:extLst>
            </p:cNvPr>
            <p:cNvCxnSpPr>
              <a:cxnSpLocks/>
              <a:stCxn id="138" idx="2"/>
              <a:endCxn id="139" idx="0"/>
            </p:cNvCxnSpPr>
            <p:nvPr/>
          </p:nvCxnSpPr>
          <p:spPr>
            <a:xfrm rot="5400000">
              <a:off x="5618089" y="5332468"/>
              <a:ext cx="228766" cy="586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C4E5D9CF-82AF-4DC3-8C56-18CAF64AFDFE}"/>
                </a:ext>
              </a:extLst>
            </p:cNvPr>
            <p:cNvCxnSpPr>
              <a:cxnSpLocks/>
              <a:stCxn id="139" idx="2"/>
              <a:endCxn id="141" idx="0"/>
            </p:cNvCxnSpPr>
            <p:nvPr/>
          </p:nvCxnSpPr>
          <p:spPr>
            <a:xfrm>
              <a:off x="5732179" y="5746775"/>
              <a:ext cx="0" cy="2747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13206B64-5A4E-4A64-8BEE-D90E6CE093E9}"/>
                </a:ext>
              </a:extLst>
            </p:cNvPr>
            <p:cNvSpPr/>
            <p:nvPr/>
          </p:nvSpPr>
          <p:spPr>
            <a:xfrm>
              <a:off x="6487569" y="4904667"/>
              <a:ext cx="452440" cy="145244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日志记录</a:t>
              </a:r>
            </a:p>
          </p:txBody>
        </p:sp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248C7CA5-0CEF-4A07-9804-0EDD3990868A}"/>
                </a:ext>
              </a:extLst>
            </p:cNvPr>
            <p:cNvSpPr/>
            <p:nvPr/>
          </p:nvSpPr>
          <p:spPr>
            <a:xfrm>
              <a:off x="7186408" y="4891698"/>
              <a:ext cx="452440" cy="145244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46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权限控制</a:t>
              </a:r>
            </a:p>
          </p:txBody>
        </p: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3D4BCB1A-7317-46F4-9574-22FCA5B9142B}"/>
                </a:ext>
              </a:extLst>
            </p:cNvPr>
            <p:cNvCxnSpPr>
              <a:cxnSpLocks/>
              <a:stCxn id="138" idx="3"/>
            </p:cNvCxnSpPr>
            <p:nvPr/>
          </p:nvCxnSpPr>
          <p:spPr>
            <a:xfrm>
              <a:off x="6195294" y="5061523"/>
              <a:ext cx="292275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2E4E904A-B8B4-4CCE-A491-677854933295}"/>
                </a:ext>
              </a:extLst>
            </p:cNvPr>
            <p:cNvCxnSpPr>
              <a:cxnSpLocks/>
            </p:cNvCxnSpPr>
            <p:nvPr/>
          </p:nvCxnSpPr>
          <p:spPr>
            <a:xfrm>
              <a:off x="6936950" y="5061521"/>
              <a:ext cx="242636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B4DDA23F-6587-4628-9317-66C1117926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36950" y="6141367"/>
              <a:ext cx="249458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2126D9EE-F987-4382-A91D-FF1D655FA748}"/>
                </a:ext>
              </a:extLst>
            </p:cNvPr>
            <p:cNvCxnSpPr>
              <a:cxnSpLocks/>
              <a:endCxn id="141" idx="3"/>
            </p:cNvCxnSpPr>
            <p:nvPr/>
          </p:nvCxnSpPr>
          <p:spPr>
            <a:xfrm flipH="1">
              <a:off x="6207541" y="6167823"/>
              <a:ext cx="280028" cy="3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矩形: 圆角 211">
              <a:extLst>
                <a:ext uri="{FF2B5EF4-FFF2-40B4-BE49-F238E27FC236}">
                  <a16:creationId xmlns:a16="http://schemas.microsoft.com/office/drawing/2014/main" id="{04C457C0-1FF8-498A-9EC9-2D40D50D0765}"/>
                </a:ext>
              </a:extLst>
            </p:cNvPr>
            <p:cNvSpPr/>
            <p:nvPr/>
          </p:nvSpPr>
          <p:spPr>
            <a:xfrm>
              <a:off x="-1313504" y="7443245"/>
              <a:ext cx="8994463" cy="1540335"/>
            </a:xfrm>
            <a:prstGeom prst="roundRect">
              <a:avLst>
                <a:gd name="adj" fmla="val 722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54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5F92066D-1134-4D70-A0B0-F148B0C07FBB}"/>
                </a:ext>
              </a:extLst>
            </p:cNvPr>
            <p:cNvSpPr txBox="1"/>
            <p:nvPr/>
          </p:nvSpPr>
          <p:spPr>
            <a:xfrm>
              <a:off x="2086068" y="7432604"/>
              <a:ext cx="1935942" cy="3421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38" dirty="0">
                  <a:latin typeface="宋体" panose="02010600030101010101" pitchFamily="2" charset="-122"/>
                  <a:ea typeface="宋体" panose="02010600030101010101" pitchFamily="2" charset="-122"/>
                </a:rPr>
                <a:t>第六章 总结与展望</a:t>
              </a:r>
            </a:p>
          </p:txBody>
        </p: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11729AFA-44B8-4056-9B61-1F7168EA66FC}"/>
                </a:ext>
              </a:extLst>
            </p:cNvPr>
            <p:cNvCxnSpPr>
              <a:cxnSpLocks/>
            </p:cNvCxnSpPr>
            <p:nvPr/>
          </p:nvCxnSpPr>
          <p:spPr>
            <a:xfrm>
              <a:off x="-1257931" y="7772759"/>
              <a:ext cx="8832210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15BFB098-E8A0-4B8E-A88E-B3D8FF757993}"/>
                </a:ext>
              </a:extLst>
            </p:cNvPr>
            <p:cNvSpPr txBox="1"/>
            <p:nvPr/>
          </p:nvSpPr>
          <p:spPr>
            <a:xfrm>
              <a:off x="-1164461" y="7862884"/>
              <a:ext cx="1741214" cy="3114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74749" indent="-274749">
                <a:buFont typeface="Arial" panose="020B0604020202020204" pitchFamily="34" charset="0"/>
                <a:buChar char="•"/>
              </a:pP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工作总结与展望</a:t>
              </a:r>
              <a:endParaRPr lang="en-US" altLang="zh-CN" sz="1346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FE862708-02FE-4256-8A35-558CA3E11EDD}"/>
                </a:ext>
              </a:extLst>
            </p:cNvPr>
            <p:cNvSpPr txBox="1"/>
            <p:nvPr/>
          </p:nvSpPr>
          <p:spPr>
            <a:xfrm>
              <a:off x="-1153769" y="8148140"/>
              <a:ext cx="519885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29698" indent="-329698">
                <a:buFont typeface="+mj-lt"/>
                <a:buAutoNum type="arabicPeriod"/>
              </a:pP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提升对加密流量及复杂变种攻击的泛化检测能力。</a:t>
              </a:r>
              <a:endParaRPr lang="en-US" altLang="zh-CN" sz="1346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329698" indent="-329698">
                <a:buFont typeface="+mj-lt"/>
                <a:buAutoNum type="arabicPeriod"/>
              </a:pP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推动检测算法在资源受限的边缘侧设备上实现高效部署。</a:t>
              </a:r>
              <a:endParaRPr lang="en-US" altLang="zh-CN" sz="1346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329698" indent="-329698">
                <a:buFont typeface="+mj-lt"/>
                <a:buAutoNum type="arabicPeriod"/>
              </a:pP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将系统升级为“检测</a:t>
              </a:r>
              <a:r>
                <a: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分析</a:t>
              </a:r>
              <a:r>
                <a:rPr lang="en-US" altLang="zh-CN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zh-CN" altLang="en-US" sz="1346" dirty="0">
                  <a:latin typeface="宋体" panose="02010600030101010101" pitchFamily="2" charset="-122"/>
                  <a:ea typeface="宋体" panose="02010600030101010101" pitchFamily="2" charset="-122"/>
                </a:rPr>
                <a:t>阻断”一体化的主动防御平台。</a:t>
              </a:r>
              <a:endParaRPr lang="en-US" altLang="zh-CN" sz="1346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124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</TotalTime>
  <Words>241</Words>
  <Application>Microsoft Office PowerPoint</Application>
  <PresentationFormat>自定义</PresentationFormat>
  <Paragraphs>53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宋体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17</cp:revision>
  <dcterms:created xsi:type="dcterms:W3CDTF">2026-03-16T13:12:49Z</dcterms:created>
  <dcterms:modified xsi:type="dcterms:W3CDTF">2026-03-19T09:05:14Z</dcterms:modified>
</cp:coreProperties>
</file>