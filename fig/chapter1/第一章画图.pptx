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sldIdLst>
    <p:sldId id="257" r:id="rId2"/>
    <p:sldId id="256" r:id="rId3"/>
  </p:sldIdLst>
  <p:sldSz cx="8280400" cy="5400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1795" y="9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1030" y="883861"/>
            <a:ext cx="7038340" cy="1880235"/>
          </a:xfrm>
        </p:spPr>
        <p:txBody>
          <a:bodyPr anchor="b"/>
          <a:lstStyle>
            <a:lvl1pPr algn="ctr">
              <a:defRPr sz="472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35050" y="2836605"/>
            <a:ext cx="6210300" cy="1303913"/>
          </a:xfrm>
        </p:spPr>
        <p:txBody>
          <a:bodyPr/>
          <a:lstStyle>
            <a:lvl1pPr marL="0" indent="0" algn="ctr">
              <a:buNone/>
              <a:defRPr sz="1890"/>
            </a:lvl1pPr>
            <a:lvl2pPr marL="360045" indent="0" algn="ctr">
              <a:buNone/>
              <a:defRPr sz="1575"/>
            </a:lvl2pPr>
            <a:lvl3pPr marL="720090" indent="0" algn="ctr">
              <a:buNone/>
              <a:defRPr sz="1418"/>
            </a:lvl3pPr>
            <a:lvl4pPr marL="1080135" indent="0" algn="ctr">
              <a:buNone/>
              <a:defRPr sz="1260"/>
            </a:lvl4pPr>
            <a:lvl5pPr marL="1440180" indent="0" algn="ctr">
              <a:buNone/>
              <a:defRPr sz="1260"/>
            </a:lvl5pPr>
            <a:lvl6pPr marL="1800225" indent="0" algn="ctr">
              <a:buNone/>
              <a:defRPr sz="1260"/>
            </a:lvl6pPr>
            <a:lvl7pPr marL="2160270" indent="0" algn="ctr">
              <a:buNone/>
              <a:defRPr sz="1260"/>
            </a:lvl7pPr>
            <a:lvl8pPr marL="2520315" indent="0" algn="ctr">
              <a:buNone/>
              <a:defRPr sz="1260"/>
            </a:lvl8pPr>
            <a:lvl9pPr marL="2880360" indent="0" algn="ctr">
              <a:buNone/>
              <a:defRPr sz="126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A510D-C82B-4A7D-B38F-09107FE314D5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A3E4C-A4AC-40D5-978E-935D7E6007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63113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A510D-C82B-4A7D-B38F-09107FE314D5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A3E4C-A4AC-40D5-978E-935D7E6007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7195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4965" y="1346420"/>
            <a:ext cx="7141845" cy="2246530"/>
          </a:xfrm>
        </p:spPr>
        <p:txBody>
          <a:bodyPr anchor="b"/>
          <a:lstStyle>
            <a:lvl1pPr>
              <a:defRPr sz="472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4965" y="3614203"/>
            <a:ext cx="7141845" cy="1181397"/>
          </a:xfrm>
        </p:spPr>
        <p:txBody>
          <a:bodyPr/>
          <a:lstStyle>
            <a:lvl1pPr marL="0" indent="0">
              <a:buNone/>
              <a:defRPr sz="1890">
                <a:solidFill>
                  <a:schemeClr val="tx1"/>
                </a:solidFill>
              </a:defRPr>
            </a:lvl1pPr>
            <a:lvl2pPr marL="360045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2pPr>
            <a:lvl3pPr marL="720090" indent="0">
              <a:buNone/>
              <a:defRPr sz="1418">
                <a:solidFill>
                  <a:schemeClr val="tx1">
                    <a:tint val="75000"/>
                  </a:schemeClr>
                </a:solidFill>
              </a:defRPr>
            </a:lvl3pPr>
            <a:lvl4pPr marL="108013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44018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180022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16027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52031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288036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A510D-C82B-4A7D-B38F-09107FE314D5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A3E4C-A4AC-40D5-978E-935D7E6007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8641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9278" y="1437680"/>
            <a:ext cx="3519170" cy="342667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91953" y="1437680"/>
            <a:ext cx="3519170" cy="342667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A510D-C82B-4A7D-B38F-09107FE314D5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A3E4C-A4AC-40D5-978E-935D7E6007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3409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0356" y="287537"/>
            <a:ext cx="7141845" cy="104388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0357" y="1323916"/>
            <a:ext cx="3502997" cy="648831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20090" indent="0">
              <a:buNone/>
              <a:defRPr sz="1418" b="1"/>
            </a:lvl3pPr>
            <a:lvl4pPr marL="1080135" indent="0">
              <a:buNone/>
              <a:defRPr sz="1260" b="1"/>
            </a:lvl4pPr>
            <a:lvl5pPr marL="1440180" indent="0">
              <a:buNone/>
              <a:defRPr sz="1260" b="1"/>
            </a:lvl5pPr>
            <a:lvl6pPr marL="1800225" indent="0">
              <a:buNone/>
              <a:defRPr sz="1260" b="1"/>
            </a:lvl6pPr>
            <a:lvl7pPr marL="2160270" indent="0">
              <a:buNone/>
              <a:defRPr sz="1260" b="1"/>
            </a:lvl7pPr>
            <a:lvl8pPr marL="2520315" indent="0">
              <a:buNone/>
              <a:defRPr sz="1260" b="1"/>
            </a:lvl8pPr>
            <a:lvl9pPr marL="2880360" indent="0">
              <a:buNone/>
              <a:defRPr sz="126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70357" y="1972747"/>
            <a:ext cx="3502997" cy="29016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191953" y="1323916"/>
            <a:ext cx="3520249" cy="648831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20090" indent="0">
              <a:buNone/>
              <a:defRPr sz="1418" b="1"/>
            </a:lvl3pPr>
            <a:lvl4pPr marL="1080135" indent="0">
              <a:buNone/>
              <a:defRPr sz="1260" b="1"/>
            </a:lvl4pPr>
            <a:lvl5pPr marL="1440180" indent="0">
              <a:buNone/>
              <a:defRPr sz="1260" b="1"/>
            </a:lvl5pPr>
            <a:lvl6pPr marL="1800225" indent="0">
              <a:buNone/>
              <a:defRPr sz="1260" b="1"/>
            </a:lvl6pPr>
            <a:lvl7pPr marL="2160270" indent="0">
              <a:buNone/>
              <a:defRPr sz="1260" b="1"/>
            </a:lvl7pPr>
            <a:lvl8pPr marL="2520315" indent="0">
              <a:buNone/>
              <a:defRPr sz="1260" b="1"/>
            </a:lvl8pPr>
            <a:lvl9pPr marL="2880360" indent="0">
              <a:buNone/>
              <a:defRPr sz="126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191953" y="1972747"/>
            <a:ext cx="3520249" cy="29016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A510D-C82B-4A7D-B38F-09107FE314D5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A3E4C-A4AC-40D5-978E-935D7E6007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05899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A510D-C82B-4A7D-B38F-09107FE314D5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A3E4C-A4AC-40D5-978E-935D7E6007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47193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A510D-C82B-4A7D-B38F-09107FE314D5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A3E4C-A4AC-40D5-978E-935D7E6007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66600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0356" y="360045"/>
            <a:ext cx="2670645" cy="1260158"/>
          </a:xfrm>
        </p:spPr>
        <p:txBody>
          <a:bodyPr anchor="b"/>
          <a:lstStyle>
            <a:lvl1pPr>
              <a:defRPr sz="252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20248" y="777598"/>
            <a:ext cx="4191953" cy="3837980"/>
          </a:xfrm>
        </p:spPr>
        <p:txBody>
          <a:bodyPr/>
          <a:lstStyle>
            <a:lvl1pPr>
              <a:defRPr sz="2520"/>
            </a:lvl1pPr>
            <a:lvl2pPr>
              <a:defRPr sz="2205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0356" y="1620202"/>
            <a:ext cx="2670645" cy="3001626"/>
          </a:xfrm>
        </p:spPr>
        <p:txBody>
          <a:bodyPr/>
          <a:lstStyle>
            <a:lvl1pPr marL="0" indent="0">
              <a:buNone/>
              <a:defRPr sz="1260"/>
            </a:lvl1pPr>
            <a:lvl2pPr marL="360045" indent="0">
              <a:buNone/>
              <a:defRPr sz="1103"/>
            </a:lvl2pPr>
            <a:lvl3pPr marL="720090" indent="0">
              <a:buNone/>
              <a:defRPr sz="945"/>
            </a:lvl3pPr>
            <a:lvl4pPr marL="1080135" indent="0">
              <a:buNone/>
              <a:defRPr sz="788"/>
            </a:lvl4pPr>
            <a:lvl5pPr marL="1440180" indent="0">
              <a:buNone/>
              <a:defRPr sz="788"/>
            </a:lvl5pPr>
            <a:lvl6pPr marL="1800225" indent="0">
              <a:buNone/>
              <a:defRPr sz="788"/>
            </a:lvl6pPr>
            <a:lvl7pPr marL="2160270" indent="0">
              <a:buNone/>
              <a:defRPr sz="788"/>
            </a:lvl7pPr>
            <a:lvl8pPr marL="2520315" indent="0">
              <a:buNone/>
              <a:defRPr sz="788"/>
            </a:lvl8pPr>
            <a:lvl9pPr marL="2880360" indent="0">
              <a:buNone/>
              <a:defRPr sz="788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A510D-C82B-4A7D-B38F-09107FE314D5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A3E4C-A4AC-40D5-978E-935D7E6007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33070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0356" y="360045"/>
            <a:ext cx="2670645" cy="1260158"/>
          </a:xfrm>
        </p:spPr>
        <p:txBody>
          <a:bodyPr anchor="b"/>
          <a:lstStyle>
            <a:lvl1pPr>
              <a:defRPr sz="252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20248" y="777598"/>
            <a:ext cx="4191953" cy="3837980"/>
          </a:xfrm>
        </p:spPr>
        <p:txBody>
          <a:bodyPr anchor="t"/>
          <a:lstStyle>
            <a:lvl1pPr marL="0" indent="0">
              <a:buNone/>
              <a:defRPr sz="2520"/>
            </a:lvl1pPr>
            <a:lvl2pPr marL="360045" indent="0">
              <a:buNone/>
              <a:defRPr sz="2205"/>
            </a:lvl2pPr>
            <a:lvl3pPr marL="720090" indent="0">
              <a:buNone/>
              <a:defRPr sz="1890"/>
            </a:lvl3pPr>
            <a:lvl4pPr marL="1080135" indent="0">
              <a:buNone/>
              <a:defRPr sz="1575"/>
            </a:lvl4pPr>
            <a:lvl5pPr marL="1440180" indent="0">
              <a:buNone/>
              <a:defRPr sz="1575"/>
            </a:lvl5pPr>
            <a:lvl6pPr marL="1800225" indent="0">
              <a:buNone/>
              <a:defRPr sz="1575"/>
            </a:lvl6pPr>
            <a:lvl7pPr marL="2160270" indent="0">
              <a:buNone/>
              <a:defRPr sz="1575"/>
            </a:lvl7pPr>
            <a:lvl8pPr marL="2520315" indent="0">
              <a:buNone/>
              <a:defRPr sz="1575"/>
            </a:lvl8pPr>
            <a:lvl9pPr marL="2880360" indent="0">
              <a:buNone/>
              <a:defRPr sz="1575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0356" y="1620202"/>
            <a:ext cx="2670645" cy="3001626"/>
          </a:xfrm>
        </p:spPr>
        <p:txBody>
          <a:bodyPr/>
          <a:lstStyle>
            <a:lvl1pPr marL="0" indent="0">
              <a:buNone/>
              <a:defRPr sz="1260"/>
            </a:lvl1pPr>
            <a:lvl2pPr marL="360045" indent="0">
              <a:buNone/>
              <a:defRPr sz="1103"/>
            </a:lvl2pPr>
            <a:lvl3pPr marL="720090" indent="0">
              <a:buNone/>
              <a:defRPr sz="945"/>
            </a:lvl3pPr>
            <a:lvl4pPr marL="1080135" indent="0">
              <a:buNone/>
              <a:defRPr sz="788"/>
            </a:lvl4pPr>
            <a:lvl5pPr marL="1440180" indent="0">
              <a:buNone/>
              <a:defRPr sz="788"/>
            </a:lvl5pPr>
            <a:lvl6pPr marL="1800225" indent="0">
              <a:buNone/>
              <a:defRPr sz="788"/>
            </a:lvl6pPr>
            <a:lvl7pPr marL="2160270" indent="0">
              <a:buNone/>
              <a:defRPr sz="788"/>
            </a:lvl7pPr>
            <a:lvl8pPr marL="2520315" indent="0">
              <a:buNone/>
              <a:defRPr sz="788"/>
            </a:lvl8pPr>
            <a:lvl9pPr marL="2880360" indent="0">
              <a:buNone/>
              <a:defRPr sz="788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A510D-C82B-4A7D-B38F-09107FE314D5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A3E4C-A4AC-40D5-978E-935D7E6007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8575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A510D-C82B-4A7D-B38F-09107FE314D5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A3E4C-A4AC-40D5-978E-935D7E6007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02658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25662" y="287536"/>
            <a:ext cx="1785461" cy="457682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69278" y="287536"/>
            <a:ext cx="5252879" cy="457682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A510D-C82B-4A7D-B38F-09107FE314D5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A3E4C-A4AC-40D5-978E-935D7E6007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964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69278" y="287537"/>
            <a:ext cx="7141845" cy="1043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9278" y="1437680"/>
            <a:ext cx="7141845" cy="34266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9278" y="5005627"/>
            <a:ext cx="1863090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0A510D-C82B-4A7D-B38F-09107FE314D5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42883" y="5005627"/>
            <a:ext cx="2794635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848033" y="5005627"/>
            <a:ext cx="1863090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DA3E4C-A4AC-40D5-978E-935D7E6007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2460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20090" rtl="0" eaLnBrk="1" latinLnBrk="0" hangingPunct="1">
        <a:lnSpc>
          <a:spcPct val="90000"/>
        </a:lnSpc>
        <a:spcBef>
          <a:spcPct val="0"/>
        </a:spcBef>
        <a:buNone/>
        <a:defRPr sz="34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23" indent="-180023" algn="l" defTabSz="720090" rtl="0" eaLnBrk="1" latinLnBrk="0" hangingPunct="1">
        <a:lnSpc>
          <a:spcPct val="90000"/>
        </a:lnSpc>
        <a:spcBef>
          <a:spcPts val="788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1pPr>
      <a:lvl2pPr marL="54006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0011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6015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4pPr>
      <a:lvl5pPr marL="162020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5pPr>
      <a:lvl6pPr marL="198024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6pPr>
      <a:lvl7pPr marL="234029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7pPr>
      <a:lvl8pPr marL="270033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8pPr>
      <a:lvl9pPr marL="306038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2pPr>
      <a:lvl3pPr marL="72009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3pPr>
      <a:lvl4pPr marL="108013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4pPr>
      <a:lvl5pPr marL="144018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5pPr>
      <a:lvl6pPr marL="180022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6pPr>
      <a:lvl7pPr marL="216027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7pPr>
      <a:lvl8pPr marL="252031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8pPr>
      <a:lvl9pPr marL="288036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-1914355" y="151334"/>
            <a:ext cx="11385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研究体系</a:t>
            </a:r>
            <a:endParaRPr lang="en-US" altLang="zh-CN" sz="16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-1583498" y="500088"/>
            <a:ext cx="476796" cy="326565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测井解释与产量预测架构</a:t>
            </a:r>
          </a:p>
        </p:txBody>
      </p:sp>
      <p:sp>
        <p:nvSpPr>
          <p:cNvPr id="10" name="矩形 9"/>
          <p:cNvSpPr/>
          <p:nvPr/>
        </p:nvSpPr>
        <p:spPr>
          <a:xfrm>
            <a:off x="2613949" y="583905"/>
            <a:ext cx="2849956" cy="79983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基于多任务</a:t>
            </a:r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Transformer</a:t>
            </a:r>
            <a:r>
              <a: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endParaRPr lang="en-US" altLang="zh-CN" sz="16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储层参数预测方法</a:t>
            </a:r>
          </a:p>
        </p:txBody>
      </p:sp>
      <p:sp>
        <p:nvSpPr>
          <p:cNvPr id="11" name="矩形 10"/>
          <p:cNvSpPr/>
          <p:nvPr/>
        </p:nvSpPr>
        <p:spPr>
          <a:xfrm>
            <a:off x="5622926" y="521652"/>
            <a:ext cx="3570605" cy="972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ts val="2200"/>
              </a:lnSpc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构建多任务序列同步预测框架</a:t>
            </a:r>
          </a:p>
          <a:p>
            <a:pPr marL="285750" indent="-285750">
              <a:lnSpc>
                <a:spcPts val="2200"/>
              </a:lnSpc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提取深度长程依赖与局部地质特征</a:t>
            </a:r>
          </a:p>
          <a:p>
            <a:pPr marL="285750" indent="-285750">
              <a:lnSpc>
                <a:spcPts val="2200"/>
              </a:lnSpc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设计物理约束损失与动态加权策略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3477645" y="151334"/>
            <a:ext cx="11385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研究内容</a:t>
            </a:r>
            <a:endParaRPr lang="en-US" altLang="zh-CN" sz="16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673854" y="151334"/>
            <a:ext cx="14683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创新点与贡献</a:t>
            </a:r>
            <a:endParaRPr lang="en-US" altLang="zh-CN" sz="16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2613949" y="1874138"/>
            <a:ext cx="2849956" cy="79983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基于</a:t>
            </a:r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DCA</a:t>
            </a:r>
            <a:r>
              <a: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序列分解与互相关</a:t>
            </a:r>
            <a:endParaRPr lang="en-US" altLang="zh-CN" sz="16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机制的气井产量预测架构</a:t>
            </a:r>
          </a:p>
        </p:txBody>
      </p:sp>
      <p:sp>
        <p:nvSpPr>
          <p:cNvPr id="17" name="矩形 16"/>
          <p:cNvSpPr/>
          <p:nvPr/>
        </p:nvSpPr>
        <p:spPr>
          <a:xfrm>
            <a:off x="5622926" y="1801812"/>
            <a:ext cx="3570605" cy="972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ts val="2200"/>
              </a:lnSpc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提出</a:t>
            </a:r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DCA</a:t>
            </a:r>
            <a:r>
              <a: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分解与动静态融合策略</a:t>
            </a:r>
            <a:endParaRPr lang="en-US" altLang="zh-CN" sz="16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ts val="2200"/>
              </a:lnSpc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设计循环移位聚合的互相关机制</a:t>
            </a:r>
          </a:p>
          <a:p>
            <a:pPr marL="285750" indent="-285750">
              <a:lnSpc>
                <a:spcPts val="2200"/>
              </a:lnSpc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引入</a:t>
            </a:r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ECI</a:t>
            </a:r>
            <a:r>
              <a: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不确定性预测与风险评估</a:t>
            </a:r>
          </a:p>
        </p:txBody>
      </p:sp>
      <p:sp>
        <p:nvSpPr>
          <p:cNvPr id="18" name="矩形 17"/>
          <p:cNvSpPr/>
          <p:nvPr/>
        </p:nvSpPr>
        <p:spPr>
          <a:xfrm>
            <a:off x="2620327" y="3140641"/>
            <a:ext cx="2849957" cy="563215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智能产量预测系统</a:t>
            </a:r>
          </a:p>
        </p:txBody>
      </p:sp>
      <p:sp>
        <p:nvSpPr>
          <p:cNvPr id="19" name="矩形 18"/>
          <p:cNvSpPr/>
          <p:nvPr/>
        </p:nvSpPr>
        <p:spPr>
          <a:xfrm>
            <a:off x="5622690" y="3103952"/>
            <a:ext cx="3570666" cy="6116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开发</a:t>
            </a:r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B/S</a:t>
            </a:r>
            <a:r>
              <a: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架构平台并封装底层算法</a:t>
            </a:r>
          </a:p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实现解释、预测与评估全流程闭环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2486391" y="3746153"/>
            <a:ext cx="12008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应用实践</a:t>
            </a:r>
            <a:endParaRPr lang="en-US" altLang="zh-CN" sz="16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2470819" y="2700339"/>
            <a:ext cx="12008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算法构建</a:t>
            </a:r>
            <a:endParaRPr lang="en-US" altLang="zh-CN" sz="16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2483882" y="1409666"/>
            <a:ext cx="11695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算法构建</a:t>
            </a:r>
            <a:endParaRPr lang="en-US" altLang="zh-CN" sz="16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4" name="箭头: 右 23"/>
          <p:cNvSpPr/>
          <p:nvPr/>
        </p:nvSpPr>
        <p:spPr>
          <a:xfrm>
            <a:off x="2198189" y="799692"/>
            <a:ext cx="311817" cy="338554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箭头: 右 24"/>
          <p:cNvSpPr/>
          <p:nvPr/>
        </p:nvSpPr>
        <p:spPr>
          <a:xfrm>
            <a:off x="2216384" y="2106397"/>
            <a:ext cx="311817" cy="338554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箭头: 右 25"/>
          <p:cNvSpPr/>
          <p:nvPr/>
        </p:nvSpPr>
        <p:spPr>
          <a:xfrm>
            <a:off x="2216384" y="3264671"/>
            <a:ext cx="311817" cy="338554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-896939" y="521442"/>
            <a:ext cx="2984498" cy="895055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1.</a:t>
            </a:r>
            <a:r>
              <a: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多参数间内在物理关联被忽视</a:t>
            </a:r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</a:t>
            </a:r>
            <a:r>
              <a: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长程依赖与局部地质特征难以兼顾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39455" y="151334"/>
            <a:ext cx="11385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研究问题</a:t>
            </a:r>
            <a:endParaRPr lang="en-US" altLang="zh-CN" sz="16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-896939" y="1748221"/>
            <a:ext cx="2984498" cy="1023627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1.</a:t>
            </a:r>
            <a:r>
              <a: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早期生产数据波动剧烈</a:t>
            </a:r>
            <a:endParaRPr lang="en-US" altLang="zh-CN" sz="16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</a:t>
            </a:r>
            <a:r>
              <a: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纯数据驱动模型缺乏物理递减规律约束</a:t>
            </a:r>
            <a:endParaRPr lang="en-US" altLang="zh-CN" sz="16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3.</a:t>
            </a:r>
            <a:r>
              <a: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缺乏动态风险评估</a:t>
            </a:r>
          </a:p>
        </p:txBody>
      </p:sp>
      <p:sp>
        <p:nvSpPr>
          <p:cNvPr id="30" name="矩形 29"/>
          <p:cNvSpPr/>
          <p:nvPr/>
        </p:nvSpPr>
        <p:spPr>
          <a:xfrm>
            <a:off x="-896938" y="3190955"/>
            <a:ext cx="2984498" cy="462585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1.</a:t>
            </a:r>
            <a:r>
              <a: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缺少全流程智能化应用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1C99783A-2CC3-452D-9411-2FC34690002A}"/>
              </a:ext>
            </a:extLst>
          </p:cNvPr>
          <p:cNvGrpSpPr/>
          <p:nvPr/>
        </p:nvGrpSpPr>
        <p:grpSpPr>
          <a:xfrm>
            <a:off x="135659" y="65676"/>
            <a:ext cx="8200077" cy="5204457"/>
            <a:chOff x="1561006" y="459378"/>
            <a:chExt cx="8200077" cy="5204457"/>
          </a:xfrm>
        </p:grpSpPr>
        <p:sp>
          <p:nvSpPr>
            <p:cNvPr id="35" name="矩形 34"/>
            <p:cNvSpPr/>
            <p:nvPr/>
          </p:nvSpPr>
          <p:spPr>
            <a:xfrm>
              <a:off x="1848394" y="2328863"/>
              <a:ext cx="7615646" cy="1353773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" name="矩形 1"/>
            <p:cNvSpPr/>
            <p:nvPr/>
          </p:nvSpPr>
          <p:spPr>
            <a:xfrm>
              <a:off x="4643846" y="653143"/>
              <a:ext cx="1920240" cy="50292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第一章  绪论</a:t>
              </a:r>
            </a:p>
          </p:txBody>
        </p:sp>
        <p:sp>
          <p:nvSpPr>
            <p:cNvPr id="5" name="矩形 4"/>
            <p:cNvSpPr/>
            <p:nvPr/>
          </p:nvSpPr>
          <p:spPr>
            <a:xfrm>
              <a:off x="3409406" y="1497874"/>
              <a:ext cx="4395651" cy="50292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第二章  相关技术及理论介绍</a:t>
              </a:r>
            </a:p>
          </p:txBody>
        </p:sp>
        <p:sp>
          <p:nvSpPr>
            <p:cNvPr id="6" name="矩形 5"/>
            <p:cNvSpPr/>
            <p:nvPr/>
          </p:nvSpPr>
          <p:spPr>
            <a:xfrm>
              <a:off x="2188832" y="2425473"/>
              <a:ext cx="2922438" cy="115388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2200"/>
                </a:lnSpc>
              </a:pPr>
              <a:r>
                <a:rPr lang="zh-CN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第三章  </a:t>
              </a:r>
              <a:endPara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ts val="2200"/>
                </a:lnSpc>
              </a:pPr>
              <a:r>
                <a:rPr lang="zh-CN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基于多样性加权的无监督超球体网络流量异常检测方法</a:t>
              </a:r>
            </a:p>
          </p:txBody>
        </p:sp>
        <p:sp>
          <p:nvSpPr>
            <p:cNvPr id="7" name="矩形 6"/>
            <p:cNvSpPr/>
            <p:nvPr/>
          </p:nvSpPr>
          <p:spPr>
            <a:xfrm>
              <a:off x="5987990" y="2425473"/>
              <a:ext cx="3202101" cy="115388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2200"/>
                </a:lnSpc>
              </a:pPr>
              <a:r>
                <a:rPr lang="zh-CN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第四章  </a:t>
              </a:r>
              <a:endPara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ts val="2200"/>
                </a:lnSpc>
              </a:pPr>
              <a:r>
                <a:rPr lang="zh-CN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基于多聚类中心距离加权的无监督网络异常流量检测方法</a:t>
              </a:r>
            </a:p>
          </p:txBody>
        </p:sp>
        <p:sp>
          <p:nvSpPr>
            <p:cNvPr id="8" name="矩形 7"/>
            <p:cNvSpPr/>
            <p:nvPr/>
          </p:nvSpPr>
          <p:spPr>
            <a:xfrm>
              <a:off x="3409406" y="3977368"/>
              <a:ext cx="4395651" cy="5486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2200"/>
                </a:lnSpc>
              </a:pPr>
              <a:r>
                <a:rPr lang="zh-CN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第五章  网络流量异常数据检测系统设计与实现</a:t>
              </a:r>
            </a:p>
          </p:txBody>
        </p:sp>
        <p:sp>
          <p:nvSpPr>
            <p:cNvPr id="9" name="矩形 8"/>
            <p:cNvSpPr/>
            <p:nvPr/>
          </p:nvSpPr>
          <p:spPr>
            <a:xfrm>
              <a:off x="4318904" y="4927962"/>
              <a:ext cx="2570117" cy="50292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第六章  总结与展望</a:t>
              </a:r>
            </a:p>
          </p:txBody>
        </p:sp>
        <p:cxnSp>
          <p:nvCxnSpPr>
            <p:cNvPr id="11" name="直接连接符 10"/>
            <p:cNvCxnSpPr/>
            <p:nvPr/>
          </p:nvCxnSpPr>
          <p:spPr>
            <a:xfrm flipV="1">
              <a:off x="1561010" y="459378"/>
              <a:ext cx="8085909" cy="45720"/>
            </a:xfrm>
            <a:prstGeom prst="line">
              <a:avLst/>
            </a:prstGeom>
            <a:ln w="12700">
              <a:solidFill>
                <a:schemeClr val="tx1"/>
              </a:solidFill>
              <a:prstDash val="lgDashDot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 flipV="1">
              <a:off x="1561009" y="2186940"/>
              <a:ext cx="8085909" cy="45720"/>
            </a:xfrm>
            <a:prstGeom prst="line">
              <a:avLst/>
            </a:prstGeom>
            <a:ln w="12700">
              <a:solidFill>
                <a:schemeClr val="tx1"/>
              </a:solidFill>
              <a:prstDash val="lgDashDot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箭头连接符 14"/>
            <p:cNvCxnSpPr>
              <a:stCxn id="2" idx="2"/>
              <a:endCxn id="5" idx="0"/>
            </p:cNvCxnSpPr>
            <p:nvPr/>
          </p:nvCxnSpPr>
          <p:spPr>
            <a:xfrm>
              <a:off x="5603966" y="1156063"/>
              <a:ext cx="3266" cy="34181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箭头连接符 19"/>
            <p:cNvCxnSpPr/>
            <p:nvPr/>
          </p:nvCxnSpPr>
          <p:spPr>
            <a:xfrm>
              <a:off x="3650051" y="2007325"/>
              <a:ext cx="0" cy="41801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箭头连接符 22"/>
            <p:cNvCxnSpPr/>
            <p:nvPr/>
          </p:nvCxnSpPr>
          <p:spPr>
            <a:xfrm>
              <a:off x="7589041" y="2000794"/>
              <a:ext cx="0" cy="43134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箭头连接符 24"/>
            <p:cNvCxnSpPr/>
            <p:nvPr/>
          </p:nvCxnSpPr>
          <p:spPr>
            <a:xfrm>
              <a:off x="3650051" y="3572418"/>
              <a:ext cx="0" cy="41801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箭头连接符 25"/>
            <p:cNvCxnSpPr/>
            <p:nvPr/>
          </p:nvCxnSpPr>
          <p:spPr>
            <a:xfrm>
              <a:off x="7589041" y="3572691"/>
              <a:ext cx="0" cy="41801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箭头连接符 27"/>
            <p:cNvCxnSpPr>
              <a:stCxn id="8" idx="2"/>
              <a:endCxn id="9" idx="0"/>
            </p:cNvCxnSpPr>
            <p:nvPr/>
          </p:nvCxnSpPr>
          <p:spPr>
            <a:xfrm flipH="1">
              <a:off x="5603963" y="4526008"/>
              <a:ext cx="3269" cy="40195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 flipV="1">
              <a:off x="1561007" y="4713241"/>
              <a:ext cx="8085909" cy="45720"/>
            </a:xfrm>
            <a:prstGeom prst="line">
              <a:avLst/>
            </a:prstGeom>
            <a:ln w="12700">
              <a:solidFill>
                <a:schemeClr val="tx1"/>
              </a:solidFill>
              <a:prstDash val="lgDashDot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/>
          </p:nvCxnSpPr>
          <p:spPr>
            <a:xfrm flipV="1">
              <a:off x="1561006" y="5618115"/>
              <a:ext cx="8085909" cy="45720"/>
            </a:xfrm>
            <a:prstGeom prst="line">
              <a:avLst/>
            </a:prstGeom>
            <a:ln w="12700">
              <a:solidFill>
                <a:schemeClr val="tx1"/>
              </a:solidFill>
              <a:prstDash val="lgDashDot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文本框 31"/>
            <p:cNvSpPr txBox="1"/>
            <p:nvPr/>
          </p:nvSpPr>
          <p:spPr>
            <a:xfrm>
              <a:off x="7900987" y="1556475"/>
              <a:ext cx="186009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b="1" dirty="0"/>
                <a:t>研究背景</a:t>
              </a:r>
              <a:endParaRPr lang="en-US" altLang="zh-CN" sz="1600" b="1" dirty="0"/>
            </a:p>
            <a:p>
              <a:pPr algn="ctr"/>
              <a:r>
                <a:rPr lang="zh-CN" altLang="en-US" sz="1600" b="1" dirty="0"/>
                <a:t>及相关技术理论</a:t>
              </a: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7900987" y="4037056"/>
              <a:ext cx="186009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b="1" dirty="0"/>
                <a:t>关键技术研究</a:t>
              </a:r>
              <a:endParaRPr lang="en-US" altLang="zh-CN" sz="1600" b="1" dirty="0"/>
            </a:p>
            <a:p>
              <a:pPr algn="ctr"/>
              <a:r>
                <a:rPr lang="zh-CN" altLang="en-US" sz="1600" b="1" dirty="0"/>
                <a:t>及系统应用</a:t>
              </a:r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7900987" y="5261605"/>
              <a:ext cx="18600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b="1" dirty="0"/>
                <a:t>未来工作展望</a:t>
              </a:r>
            </a:p>
          </p:txBody>
        </p:sp>
        <p:cxnSp>
          <p:nvCxnSpPr>
            <p:cNvPr id="18" name="直接箭头连接符 17"/>
            <p:cNvCxnSpPr>
              <a:cxnSpLocks/>
              <a:stCxn id="6" idx="3"/>
              <a:endCxn id="7" idx="1"/>
            </p:cNvCxnSpPr>
            <p:nvPr/>
          </p:nvCxnSpPr>
          <p:spPr>
            <a:xfrm>
              <a:off x="5111270" y="3002416"/>
              <a:ext cx="87672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265</TotalTime>
  <Words>231</Words>
  <Application>Microsoft Office PowerPoint</Application>
  <PresentationFormat>自定义</PresentationFormat>
  <Paragraphs>39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9" baseType="lpstr">
      <vt:lpstr>宋体</vt:lpstr>
      <vt:lpstr>Arial</vt:lpstr>
      <vt:lpstr>Calibri</vt:lpstr>
      <vt:lpstr>Calibri Light</vt:lpstr>
      <vt:lpstr>Times New Roman</vt:lpstr>
      <vt:lpstr>Wingdings</vt:lpstr>
      <vt:lpstr>Office 主题​​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超 徐</dc:creator>
  <cp:lastModifiedBy>羲 王</cp:lastModifiedBy>
  <cp:revision>10</cp:revision>
  <dcterms:created xsi:type="dcterms:W3CDTF">2025-12-29T08:39:00Z</dcterms:created>
  <dcterms:modified xsi:type="dcterms:W3CDTF">2026-03-16T12:40:04Z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9E8623272FCC4F4E9F8D9CC5CD33BE89_13</vt:lpwstr>
  </property>
</Properties>
</file>